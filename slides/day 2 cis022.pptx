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6" r:id="rId2"/>
    <p:sldId id="261" r:id="rId3"/>
    <p:sldId id="393" r:id="rId4"/>
    <p:sldId id="394" r:id="rId5"/>
    <p:sldId id="395" r:id="rId6"/>
    <p:sldId id="396" r:id="rId7"/>
    <p:sldId id="398" r:id="rId8"/>
    <p:sldId id="401" r:id="rId9"/>
    <p:sldId id="402" r:id="rId10"/>
    <p:sldId id="403" r:id="rId11"/>
    <p:sldId id="406" r:id="rId12"/>
    <p:sldId id="404" r:id="rId13"/>
    <p:sldId id="407" r:id="rId14"/>
    <p:sldId id="408" r:id="rId15"/>
    <p:sldId id="409" r:id="rId16"/>
    <p:sldId id="410" r:id="rId17"/>
    <p:sldId id="411" r:id="rId18"/>
    <p:sldId id="412" r:id="rId19"/>
    <p:sldId id="413" r:id="rId20"/>
    <p:sldId id="414" r:id="rId21"/>
    <p:sldId id="415" r:id="rId22"/>
    <p:sldId id="416" r:id="rId23"/>
    <p:sldId id="417" r:id="rId24"/>
    <p:sldId id="418" r:id="rId25"/>
    <p:sldId id="419" r:id="rId26"/>
    <p:sldId id="420" r:id="rId27"/>
    <p:sldId id="421" r:id="rId28"/>
    <p:sldId id="422" r:id="rId29"/>
    <p:sldId id="423" r:id="rId30"/>
    <p:sldId id="424" r:id="rId31"/>
    <p:sldId id="425" r:id="rId32"/>
    <p:sldId id="426" r:id="rId33"/>
    <p:sldId id="427" r:id="rId34"/>
    <p:sldId id="428" r:id="rId35"/>
    <p:sldId id="429" r:id="rId36"/>
    <p:sldId id="430" r:id="rId37"/>
    <p:sldId id="431" r:id="rId38"/>
    <p:sldId id="432" r:id="rId39"/>
    <p:sldId id="433" r:id="rId40"/>
    <p:sldId id="434" r:id="rId41"/>
    <p:sldId id="438" r:id="rId42"/>
    <p:sldId id="449" r:id="rId43"/>
    <p:sldId id="450" r:id="rId44"/>
    <p:sldId id="273" r:id="rId45"/>
    <p:sldId id="274" r:id="rId46"/>
    <p:sldId id="275" r:id="rId47"/>
    <p:sldId id="370" r:id="rId48"/>
    <p:sldId id="277" r:id="rId49"/>
    <p:sldId id="371" r:id="rId50"/>
    <p:sldId id="279" r:id="rId51"/>
    <p:sldId id="296" r:id="rId52"/>
    <p:sldId id="331" r:id="rId53"/>
    <p:sldId id="297" r:id="rId54"/>
    <p:sldId id="281" r:id="rId55"/>
    <p:sldId id="349" r:id="rId56"/>
    <p:sldId id="448" r:id="rId57"/>
    <p:sldId id="435" r:id="rId58"/>
    <p:sldId id="436" r:id="rId59"/>
    <p:sldId id="437" r:id="rId60"/>
    <p:sldId id="442" r:id="rId61"/>
    <p:sldId id="405" r:id="rId62"/>
    <p:sldId id="443" r:id="rId63"/>
    <p:sldId id="444" r:id="rId64"/>
    <p:sldId id="439" r:id="rId65"/>
    <p:sldId id="440" r:id="rId66"/>
    <p:sldId id="441" r:id="rId67"/>
    <p:sldId id="445" r:id="rId68"/>
    <p:sldId id="446" r:id="rId69"/>
    <p:sldId id="447" r:id="rId70"/>
    <p:sldId id="452" r:id="rId71"/>
    <p:sldId id="451"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787"/>
    <p:restoredTop sz="95964"/>
  </p:normalViewPr>
  <p:slideViewPr>
    <p:cSldViewPr snapToGrid="0" snapToObjects="1">
      <p:cViewPr varScale="1">
        <p:scale>
          <a:sx n="111" d="100"/>
          <a:sy n="111" d="100"/>
        </p:scale>
        <p:origin x="792"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9D1F43-DD7E-DD42-9182-443A87900AB9}" type="datetimeFigureOut">
              <a:rPr lang="en-US" smtClean="0"/>
              <a:t>8/25/26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CAA2E9-659B-1F41-8B1B-77F1C668FF9D}" type="slidenum">
              <a:rPr lang="en-US" smtClean="0"/>
              <a:t>‹#›</a:t>
            </a:fld>
            <a:endParaRPr lang="en-US"/>
          </a:p>
        </p:txBody>
      </p:sp>
    </p:spTree>
    <p:extLst>
      <p:ext uri="{BB962C8B-B14F-4D97-AF65-F5344CB8AC3E}">
        <p14:creationId xmlns:p14="http://schemas.microsoft.com/office/powerpoint/2010/main" val="689147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3CBD7E4-4266-4D0A-A6B3-D6EA169C3EF3}" type="slidenum">
              <a:rPr lang="en-US" altLang="en-US" smtClean="0"/>
              <a:pPr/>
              <a:t>2</a:t>
            </a:fld>
            <a:endParaRPr lang="en-US" altLang="en-US" dirty="0"/>
          </a:p>
        </p:txBody>
      </p:sp>
    </p:spTree>
    <p:extLst>
      <p:ext uri="{BB962C8B-B14F-4D97-AF65-F5344CB8AC3E}">
        <p14:creationId xmlns:p14="http://schemas.microsoft.com/office/powerpoint/2010/main" val="2063994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0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327F58B0-AC9D-440F-8086-028337089F11}" type="slidenum">
              <a:rPr lang="en-US" altLang="en-US" smtClean="0"/>
              <a:pPr/>
              <a:t>44</a:t>
            </a:fld>
            <a:endParaRPr lang="en-US" altLang="en-US" dirty="0"/>
          </a:p>
        </p:txBody>
      </p:sp>
    </p:spTree>
    <p:extLst>
      <p:ext uri="{BB962C8B-B14F-4D97-AF65-F5344CB8AC3E}">
        <p14:creationId xmlns:p14="http://schemas.microsoft.com/office/powerpoint/2010/main" val="2233647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39EA51D0-FFDD-4728-B4FC-95727BF468DF}" type="slidenum">
              <a:rPr lang="en-US" altLang="en-US" smtClean="0"/>
              <a:pPr/>
              <a:t>45</a:t>
            </a:fld>
            <a:endParaRPr lang="en-US" altLang="en-US" dirty="0"/>
          </a:p>
        </p:txBody>
      </p:sp>
    </p:spTree>
    <p:extLst>
      <p:ext uri="{BB962C8B-B14F-4D97-AF65-F5344CB8AC3E}">
        <p14:creationId xmlns:p14="http://schemas.microsoft.com/office/powerpoint/2010/main" val="2374628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5D433604-425D-41AB-BECC-FFA86AE9C57A}" type="slidenum">
              <a:rPr lang="en-US" altLang="en-US" smtClean="0"/>
              <a:pPr/>
              <a:t>46</a:t>
            </a:fld>
            <a:endParaRPr lang="en-US" altLang="en-US" dirty="0"/>
          </a:p>
        </p:txBody>
      </p:sp>
    </p:spTree>
    <p:extLst>
      <p:ext uri="{BB962C8B-B14F-4D97-AF65-F5344CB8AC3E}">
        <p14:creationId xmlns:p14="http://schemas.microsoft.com/office/powerpoint/2010/main" val="4070124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671E9FC8-FCAC-4EE4-B734-935277BFAA03}" type="slidenum">
              <a:rPr lang="en-US" altLang="en-US" smtClean="0"/>
              <a:pPr/>
              <a:t>47</a:t>
            </a:fld>
            <a:endParaRPr lang="en-US" altLang="en-US" dirty="0"/>
          </a:p>
        </p:txBody>
      </p:sp>
    </p:spTree>
    <p:extLst>
      <p:ext uri="{BB962C8B-B14F-4D97-AF65-F5344CB8AC3E}">
        <p14:creationId xmlns:p14="http://schemas.microsoft.com/office/powerpoint/2010/main" val="2990166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44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3545371B-FC2D-4D2D-AB06-347CD26B7170}" type="slidenum">
              <a:rPr lang="en-US" altLang="en-US" smtClean="0"/>
              <a:pPr/>
              <a:t>48</a:t>
            </a:fld>
            <a:endParaRPr lang="en-US" altLang="en-US" dirty="0"/>
          </a:p>
        </p:txBody>
      </p:sp>
    </p:spTree>
    <p:extLst>
      <p:ext uri="{BB962C8B-B14F-4D97-AF65-F5344CB8AC3E}">
        <p14:creationId xmlns:p14="http://schemas.microsoft.com/office/powerpoint/2010/main" val="2416419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54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9986A3F2-33A0-4F34-B6F3-974F8F6C9E74}" type="slidenum">
              <a:rPr lang="en-US" altLang="en-US" smtClean="0"/>
              <a:pPr/>
              <a:t>49</a:t>
            </a:fld>
            <a:endParaRPr lang="en-US" altLang="en-US" dirty="0"/>
          </a:p>
        </p:txBody>
      </p:sp>
    </p:spTree>
    <p:extLst>
      <p:ext uri="{BB962C8B-B14F-4D97-AF65-F5344CB8AC3E}">
        <p14:creationId xmlns:p14="http://schemas.microsoft.com/office/powerpoint/2010/main" val="15830588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65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7F978AF6-3019-4FF5-B9E5-9DA8C2BE9FD3}" type="slidenum">
              <a:rPr lang="en-US" altLang="en-US" smtClean="0"/>
              <a:pPr/>
              <a:t>50</a:t>
            </a:fld>
            <a:endParaRPr lang="en-US" altLang="en-US" dirty="0"/>
          </a:p>
        </p:txBody>
      </p:sp>
    </p:spTree>
    <p:extLst>
      <p:ext uri="{BB962C8B-B14F-4D97-AF65-F5344CB8AC3E}">
        <p14:creationId xmlns:p14="http://schemas.microsoft.com/office/powerpoint/2010/main" val="754035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75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6BC409A8-3B82-44FC-9D2B-5092C608629F}" type="slidenum">
              <a:rPr lang="en-US" altLang="en-US" smtClean="0"/>
              <a:pPr/>
              <a:t>51</a:t>
            </a:fld>
            <a:endParaRPr lang="en-US" altLang="en-US" dirty="0"/>
          </a:p>
        </p:txBody>
      </p:sp>
    </p:spTree>
    <p:extLst>
      <p:ext uri="{BB962C8B-B14F-4D97-AF65-F5344CB8AC3E}">
        <p14:creationId xmlns:p14="http://schemas.microsoft.com/office/powerpoint/2010/main" val="1234385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85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93F22021-49BF-4B88-9D44-A45D9417A06E}" type="slidenum">
              <a:rPr lang="en-US" altLang="en-US" smtClean="0"/>
              <a:pPr/>
              <a:t>52</a:t>
            </a:fld>
            <a:endParaRPr lang="en-US" altLang="en-US" dirty="0"/>
          </a:p>
        </p:txBody>
      </p:sp>
    </p:spTree>
    <p:extLst>
      <p:ext uri="{BB962C8B-B14F-4D97-AF65-F5344CB8AC3E}">
        <p14:creationId xmlns:p14="http://schemas.microsoft.com/office/powerpoint/2010/main" val="506390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95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FD2FAA3A-41FF-4649-9557-A540977035E7}" type="slidenum">
              <a:rPr lang="en-US" altLang="en-US" smtClean="0"/>
              <a:pPr/>
              <a:t>53</a:t>
            </a:fld>
            <a:endParaRPr lang="en-US" altLang="en-US" dirty="0"/>
          </a:p>
        </p:txBody>
      </p:sp>
    </p:spTree>
    <p:extLst>
      <p:ext uri="{BB962C8B-B14F-4D97-AF65-F5344CB8AC3E}">
        <p14:creationId xmlns:p14="http://schemas.microsoft.com/office/powerpoint/2010/main" val="3282114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a:ln/>
        </p:spPr>
      </p:sp>
      <p:sp>
        <p:nvSpPr>
          <p:cNvPr id="1105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105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386715F8-3523-4083-B66D-6B33FCBD7D16}" type="slidenum">
              <a:rPr lang="en-US" altLang="en-US" smtClean="0"/>
              <a:pPr/>
              <a:t>54</a:t>
            </a:fld>
            <a:endParaRPr lang="en-US" altLang="en-US" dirty="0"/>
          </a:p>
        </p:txBody>
      </p:sp>
    </p:spTree>
    <p:extLst>
      <p:ext uri="{BB962C8B-B14F-4D97-AF65-F5344CB8AC3E}">
        <p14:creationId xmlns:p14="http://schemas.microsoft.com/office/powerpoint/2010/main" val="2398468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a:ln/>
        </p:spPr>
      </p:sp>
      <p:sp>
        <p:nvSpPr>
          <p:cNvPr id="1116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116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B0D1ABAE-53D7-4502-80D1-8B873F5193ED}" type="slidenum">
              <a:rPr lang="en-US" altLang="en-US" smtClean="0"/>
              <a:pPr/>
              <a:t>55</a:t>
            </a:fld>
            <a:endParaRPr lang="en-US" altLang="en-US" dirty="0"/>
          </a:p>
        </p:txBody>
      </p:sp>
    </p:spTree>
    <p:extLst>
      <p:ext uri="{BB962C8B-B14F-4D97-AF65-F5344CB8AC3E}">
        <p14:creationId xmlns:p14="http://schemas.microsoft.com/office/powerpoint/2010/main" val="1842159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89D26-4B5E-E943-8D27-C1D444F0EE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A5CC08-F4A4-9947-86FE-BD7F5E7773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A07B106-3340-F04A-A1F1-F3FB0B4F326B}"/>
              </a:ext>
            </a:extLst>
          </p:cNvPr>
          <p:cNvSpPr>
            <a:spLocks noGrp="1"/>
          </p:cNvSpPr>
          <p:nvPr>
            <p:ph type="dt" sz="half" idx="10"/>
          </p:nvPr>
        </p:nvSpPr>
        <p:spPr/>
        <p:txBody>
          <a:bodyPr/>
          <a:lstStyle/>
          <a:p>
            <a:fld id="{912DAC47-AA90-D244-A374-E603C776B97D}" type="datetimeFigureOut">
              <a:rPr lang="en-US" smtClean="0"/>
              <a:t>8/25/26</a:t>
            </a:fld>
            <a:endParaRPr lang="en-US"/>
          </a:p>
        </p:txBody>
      </p:sp>
      <p:sp>
        <p:nvSpPr>
          <p:cNvPr id="5" name="Footer Placeholder 4">
            <a:extLst>
              <a:ext uri="{FF2B5EF4-FFF2-40B4-BE49-F238E27FC236}">
                <a16:creationId xmlns:a16="http://schemas.microsoft.com/office/drawing/2014/main" id="{37E95FD1-CC76-5B42-A46A-0B92EB2F17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935CE2-0B4B-D043-9D99-CCD433838F88}"/>
              </a:ext>
            </a:extLst>
          </p:cNvPr>
          <p:cNvSpPr>
            <a:spLocks noGrp="1"/>
          </p:cNvSpPr>
          <p:nvPr>
            <p:ph type="sldNum" sz="quarter" idx="12"/>
          </p:nvPr>
        </p:nvSpPr>
        <p:spPr/>
        <p:txBody>
          <a:bodyPr/>
          <a:lstStyle/>
          <a:p>
            <a:fld id="{A809E9A7-6D32-234F-95A9-669060FB58AB}" type="slidenum">
              <a:rPr lang="en-US" smtClean="0"/>
              <a:t>‹#›</a:t>
            </a:fld>
            <a:endParaRPr lang="en-US"/>
          </a:p>
        </p:txBody>
      </p:sp>
    </p:spTree>
    <p:extLst>
      <p:ext uri="{BB962C8B-B14F-4D97-AF65-F5344CB8AC3E}">
        <p14:creationId xmlns:p14="http://schemas.microsoft.com/office/powerpoint/2010/main" val="361320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C8571-B3F9-B244-9D47-071FD25C7496}"/>
              </a:ext>
            </a:extLst>
          </p:cNvPr>
          <p:cNvSpPr>
            <a:spLocks noGrp="1"/>
          </p:cNvSpPr>
          <p:nvPr>
            <p:ph type="title"/>
          </p:nvPr>
        </p:nvSpPr>
        <p:spPr/>
        <p:txBody>
          <a:bodyPr/>
          <a:lstStyle>
            <a:lvl1pPr>
              <a:defRPr>
                <a:solidFill>
                  <a:srgbClr val="FF0000"/>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C5820696-2ADB-4B4C-ADFB-44573734591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151CC9-3506-2D4D-864B-F9D5B722728D}"/>
              </a:ext>
            </a:extLst>
          </p:cNvPr>
          <p:cNvSpPr>
            <a:spLocks noGrp="1"/>
          </p:cNvSpPr>
          <p:nvPr>
            <p:ph type="dt" sz="half" idx="10"/>
          </p:nvPr>
        </p:nvSpPr>
        <p:spPr/>
        <p:txBody>
          <a:bodyPr/>
          <a:lstStyle/>
          <a:p>
            <a:fld id="{912DAC47-AA90-D244-A374-E603C776B97D}" type="datetimeFigureOut">
              <a:rPr lang="en-US" smtClean="0"/>
              <a:t>8/25/26</a:t>
            </a:fld>
            <a:endParaRPr lang="en-US"/>
          </a:p>
        </p:txBody>
      </p:sp>
      <p:sp>
        <p:nvSpPr>
          <p:cNvPr id="5" name="Footer Placeholder 4">
            <a:extLst>
              <a:ext uri="{FF2B5EF4-FFF2-40B4-BE49-F238E27FC236}">
                <a16:creationId xmlns:a16="http://schemas.microsoft.com/office/drawing/2014/main" id="{D40EBCDD-AFB1-C14C-BC15-07A5914574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54F2B9-E663-574E-9546-207B2CA69970}"/>
              </a:ext>
            </a:extLst>
          </p:cNvPr>
          <p:cNvSpPr>
            <a:spLocks noGrp="1"/>
          </p:cNvSpPr>
          <p:nvPr>
            <p:ph type="sldNum" sz="quarter" idx="12"/>
          </p:nvPr>
        </p:nvSpPr>
        <p:spPr/>
        <p:txBody>
          <a:bodyPr/>
          <a:lstStyle/>
          <a:p>
            <a:fld id="{A809E9A7-6D32-234F-95A9-669060FB58AB}" type="slidenum">
              <a:rPr lang="en-US" smtClean="0"/>
              <a:t>‹#›</a:t>
            </a:fld>
            <a:endParaRPr lang="en-US"/>
          </a:p>
        </p:txBody>
      </p:sp>
    </p:spTree>
    <p:extLst>
      <p:ext uri="{BB962C8B-B14F-4D97-AF65-F5344CB8AC3E}">
        <p14:creationId xmlns:p14="http://schemas.microsoft.com/office/powerpoint/2010/main" val="2469371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94A7F-0242-E44F-9238-6694425AA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B999CE-2D82-2749-8748-E42D092765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8C6C112-0720-0543-96B1-27BD857153CB}"/>
              </a:ext>
            </a:extLst>
          </p:cNvPr>
          <p:cNvSpPr>
            <a:spLocks noGrp="1"/>
          </p:cNvSpPr>
          <p:nvPr>
            <p:ph type="dt" sz="half" idx="10"/>
          </p:nvPr>
        </p:nvSpPr>
        <p:spPr/>
        <p:txBody>
          <a:bodyPr/>
          <a:lstStyle/>
          <a:p>
            <a:fld id="{912DAC47-AA90-D244-A374-E603C776B97D}" type="datetimeFigureOut">
              <a:rPr lang="en-US" smtClean="0"/>
              <a:t>8/25/26</a:t>
            </a:fld>
            <a:endParaRPr lang="en-US"/>
          </a:p>
        </p:txBody>
      </p:sp>
      <p:sp>
        <p:nvSpPr>
          <p:cNvPr id="5" name="Footer Placeholder 4">
            <a:extLst>
              <a:ext uri="{FF2B5EF4-FFF2-40B4-BE49-F238E27FC236}">
                <a16:creationId xmlns:a16="http://schemas.microsoft.com/office/drawing/2014/main" id="{6CD833F1-EC7E-0C43-9F32-C2560D9FD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5C6149-96E1-9041-96B4-A9A5E0B1F9C0}"/>
              </a:ext>
            </a:extLst>
          </p:cNvPr>
          <p:cNvSpPr>
            <a:spLocks noGrp="1"/>
          </p:cNvSpPr>
          <p:nvPr>
            <p:ph type="sldNum" sz="quarter" idx="12"/>
          </p:nvPr>
        </p:nvSpPr>
        <p:spPr/>
        <p:txBody>
          <a:bodyPr/>
          <a:lstStyle/>
          <a:p>
            <a:fld id="{A809E9A7-6D32-234F-95A9-669060FB58AB}" type="slidenum">
              <a:rPr lang="en-US" smtClean="0"/>
              <a:t>‹#›</a:t>
            </a:fld>
            <a:endParaRPr lang="en-US"/>
          </a:p>
        </p:txBody>
      </p:sp>
    </p:spTree>
    <p:extLst>
      <p:ext uri="{BB962C8B-B14F-4D97-AF65-F5344CB8AC3E}">
        <p14:creationId xmlns:p14="http://schemas.microsoft.com/office/powerpoint/2010/main" val="2467147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734F0-FCBC-0048-9DC5-9D4D11222C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883BE2-5C16-7E48-B6B8-D9F31455059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0C1990-2BE6-9A42-95F2-950912DD480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F9949A-0562-264C-9226-685B10C9D09C}"/>
              </a:ext>
            </a:extLst>
          </p:cNvPr>
          <p:cNvSpPr>
            <a:spLocks noGrp="1"/>
          </p:cNvSpPr>
          <p:nvPr>
            <p:ph type="dt" sz="half" idx="10"/>
          </p:nvPr>
        </p:nvSpPr>
        <p:spPr/>
        <p:txBody>
          <a:bodyPr/>
          <a:lstStyle/>
          <a:p>
            <a:fld id="{912DAC47-AA90-D244-A374-E603C776B97D}" type="datetimeFigureOut">
              <a:rPr lang="en-US" smtClean="0"/>
              <a:t>8/25/26</a:t>
            </a:fld>
            <a:endParaRPr lang="en-US"/>
          </a:p>
        </p:txBody>
      </p:sp>
      <p:sp>
        <p:nvSpPr>
          <p:cNvPr id="6" name="Footer Placeholder 5">
            <a:extLst>
              <a:ext uri="{FF2B5EF4-FFF2-40B4-BE49-F238E27FC236}">
                <a16:creationId xmlns:a16="http://schemas.microsoft.com/office/drawing/2014/main" id="{C1108F83-246C-3F4B-ABD7-A87B8CDE2D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F900EC-10C2-5440-9289-EAC45080775A}"/>
              </a:ext>
            </a:extLst>
          </p:cNvPr>
          <p:cNvSpPr>
            <a:spLocks noGrp="1"/>
          </p:cNvSpPr>
          <p:nvPr>
            <p:ph type="sldNum" sz="quarter" idx="12"/>
          </p:nvPr>
        </p:nvSpPr>
        <p:spPr/>
        <p:txBody>
          <a:bodyPr/>
          <a:lstStyle/>
          <a:p>
            <a:fld id="{A809E9A7-6D32-234F-95A9-669060FB58AB}" type="slidenum">
              <a:rPr lang="en-US" smtClean="0"/>
              <a:t>‹#›</a:t>
            </a:fld>
            <a:endParaRPr lang="en-US"/>
          </a:p>
        </p:txBody>
      </p:sp>
    </p:spTree>
    <p:extLst>
      <p:ext uri="{BB962C8B-B14F-4D97-AF65-F5344CB8AC3E}">
        <p14:creationId xmlns:p14="http://schemas.microsoft.com/office/powerpoint/2010/main" val="4244785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A9EBB-45D9-3B45-92B3-89E074BCE0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B257FD-AF2C-5C41-AFF6-84E8527449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9F7EA3C-0E47-8B4A-8E66-1E0F777CF69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0DAEBA-14BB-DE44-B5A7-0F0631D6B3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0D4D041-934F-1347-BBBF-DA806C6788A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9424D3-6994-3048-B03E-0E902A79BCC1}"/>
              </a:ext>
            </a:extLst>
          </p:cNvPr>
          <p:cNvSpPr>
            <a:spLocks noGrp="1"/>
          </p:cNvSpPr>
          <p:nvPr>
            <p:ph type="dt" sz="half" idx="10"/>
          </p:nvPr>
        </p:nvSpPr>
        <p:spPr/>
        <p:txBody>
          <a:bodyPr/>
          <a:lstStyle/>
          <a:p>
            <a:fld id="{912DAC47-AA90-D244-A374-E603C776B97D}" type="datetimeFigureOut">
              <a:rPr lang="en-US" smtClean="0"/>
              <a:t>8/25/26</a:t>
            </a:fld>
            <a:endParaRPr lang="en-US"/>
          </a:p>
        </p:txBody>
      </p:sp>
      <p:sp>
        <p:nvSpPr>
          <p:cNvPr id="8" name="Footer Placeholder 7">
            <a:extLst>
              <a:ext uri="{FF2B5EF4-FFF2-40B4-BE49-F238E27FC236}">
                <a16:creationId xmlns:a16="http://schemas.microsoft.com/office/drawing/2014/main" id="{0C849B35-CACC-C74A-9013-B2B1B1F053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656945-A4B3-3445-B54F-B9EFDFEA1DDB}"/>
              </a:ext>
            </a:extLst>
          </p:cNvPr>
          <p:cNvSpPr>
            <a:spLocks noGrp="1"/>
          </p:cNvSpPr>
          <p:nvPr>
            <p:ph type="sldNum" sz="quarter" idx="12"/>
          </p:nvPr>
        </p:nvSpPr>
        <p:spPr/>
        <p:txBody>
          <a:bodyPr/>
          <a:lstStyle/>
          <a:p>
            <a:fld id="{A809E9A7-6D32-234F-95A9-669060FB58AB}" type="slidenum">
              <a:rPr lang="en-US" smtClean="0"/>
              <a:t>‹#›</a:t>
            </a:fld>
            <a:endParaRPr lang="en-US"/>
          </a:p>
        </p:txBody>
      </p:sp>
    </p:spTree>
    <p:extLst>
      <p:ext uri="{BB962C8B-B14F-4D97-AF65-F5344CB8AC3E}">
        <p14:creationId xmlns:p14="http://schemas.microsoft.com/office/powerpoint/2010/main" val="3971128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97B6E-B310-1343-A3D5-46958E6D82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08CCBC-D48F-5447-B4E8-8AC559D72D34}"/>
              </a:ext>
            </a:extLst>
          </p:cNvPr>
          <p:cNvSpPr>
            <a:spLocks noGrp="1"/>
          </p:cNvSpPr>
          <p:nvPr>
            <p:ph type="dt" sz="half" idx="10"/>
          </p:nvPr>
        </p:nvSpPr>
        <p:spPr/>
        <p:txBody>
          <a:bodyPr/>
          <a:lstStyle/>
          <a:p>
            <a:fld id="{912DAC47-AA90-D244-A374-E603C776B97D}" type="datetimeFigureOut">
              <a:rPr lang="en-US" smtClean="0"/>
              <a:t>8/25/26</a:t>
            </a:fld>
            <a:endParaRPr lang="en-US"/>
          </a:p>
        </p:txBody>
      </p:sp>
      <p:sp>
        <p:nvSpPr>
          <p:cNvPr id="4" name="Footer Placeholder 3">
            <a:extLst>
              <a:ext uri="{FF2B5EF4-FFF2-40B4-BE49-F238E27FC236}">
                <a16:creationId xmlns:a16="http://schemas.microsoft.com/office/drawing/2014/main" id="{6199DB93-EA46-A04E-9BD8-8D1A2ABDDA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246B1A-E20B-964F-8A31-E5C51C4B5BB9}"/>
              </a:ext>
            </a:extLst>
          </p:cNvPr>
          <p:cNvSpPr>
            <a:spLocks noGrp="1"/>
          </p:cNvSpPr>
          <p:nvPr>
            <p:ph type="sldNum" sz="quarter" idx="12"/>
          </p:nvPr>
        </p:nvSpPr>
        <p:spPr/>
        <p:txBody>
          <a:bodyPr/>
          <a:lstStyle/>
          <a:p>
            <a:fld id="{A809E9A7-6D32-234F-95A9-669060FB58AB}" type="slidenum">
              <a:rPr lang="en-US" smtClean="0"/>
              <a:t>‹#›</a:t>
            </a:fld>
            <a:endParaRPr lang="en-US"/>
          </a:p>
        </p:txBody>
      </p:sp>
    </p:spTree>
    <p:extLst>
      <p:ext uri="{BB962C8B-B14F-4D97-AF65-F5344CB8AC3E}">
        <p14:creationId xmlns:p14="http://schemas.microsoft.com/office/powerpoint/2010/main" val="119388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2FC906-CB3D-B143-9A89-B18E0FC8A076}"/>
              </a:ext>
            </a:extLst>
          </p:cNvPr>
          <p:cNvSpPr>
            <a:spLocks noGrp="1"/>
          </p:cNvSpPr>
          <p:nvPr>
            <p:ph type="dt" sz="half" idx="10"/>
          </p:nvPr>
        </p:nvSpPr>
        <p:spPr/>
        <p:txBody>
          <a:bodyPr/>
          <a:lstStyle/>
          <a:p>
            <a:fld id="{912DAC47-AA90-D244-A374-E603C776B97D}" type="datetimeFigureOut">
              <a:rPr lang="en-US" smtClean="0"/>
              <a:t>8/25/26</a:t>
            </a:fld>
            <a:endParaRPr lang="en-US"/>
          </a:p>
        </p:txBody>
      </p:sp>
      <p:sp>
        <p:nvSpPr>
          <p:cNvPr id="3" name="Footer Placeholder 2">
            <a:extLst>
              <a:ext uri="{FF2B5EF4-FFF2-40B4-BE49-F238E27FC236}">
                <a16:creationId xmlns:a16="http://schemas.microsoft.com/office/drawing/2014/main" id="{03A9717B-FECA-FC4F-A72D-47C567015D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52721D-9385-C344-905F-D8E1C059BD27}"/>
              </a:ext>
            </a:extLst>
          </p:cNvPr>
          <p:cNvSpPr>
            <a:spLocks noGrp="1"/>
          </p:cNvSpPr>
          <p:nvPr>
            <p:ph type="sldNum" sz="quarter" idx="12"/>
          </p:nvPr>
        </p:nvSpPr>
        <p:spPr/>
        <p:txBody>
          <a:bodyPr/>
          <a:lstStyle/>
          <a:p>
            <a:fld id="{A809E9A7-6D32-234F-95A9-669060FB58AB}" type="slidenum">
              <a:rPr lang="en-US" smtClean="0"/>
              <a:t>‹#›</a:t>
            </a:fld>
            <a:endParaRPr lang="en-US"/>
          </a:p>
        </p:txBody>
      </p:sp>
    </p:spTree>
    <p:extLst>
      <p:ext uri="{BB962C8B-B14F-4D97-AF65-F5344CB8AC3E}">
        <p14:creationId xmlns:p14="http://schemas.microsoft.com/office/powerpoint/2010/main" val="1472245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0CE87-EB46-1343-B5A4-4641ED4A2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792604-CE19-2A48-AE64-7BDF35EC45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26DA14-D797-B24B-A6EB-0921F625D0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934A36B-1AA5-2A46-8B2C-607525F4FC25}"/>
              </a:ext>
            </a:extLst>
          </p:cNvPr>
          <p:cNvSpPr>
            <a:spLocks noGrp="1"/>
          </p:cNvSpPr>
          <p:nvPr>
            <p:ph type="dt" sz="half" idx="10"/>
          </p:nvPr>
        </p:nvSpPr>
        <p:spPr/>
        <p:txBody>
          <a:bodyPr/>
          <a:lstStyle/>
          <a:p>
            <a:fld id="{912DAC47-AA90-D244-A374-E603C776B97D}" type="datetimeFigureOut">
              <a:rPr lang="en-US" smtClean="0"/>
              <a:t>8/25/26</a:t>
            </a:fld>
            <a:endParaRPr lang="en-US"/>
          </a:p>
        </p:txBody>
      </p:sp>
      <p:sp>
        <p:nvSpPr>
          <p:cNvPr id="6" name="Footer Placeholder 5">
            <a:extLst>
              <a:ext uri="{FF2B5EF4-FFF2-40B4-BE49-F238E27FC236}">
                <a16:creationId xmlns:a16="http://schemas.microsoft.com/office/drawing/2014/main" id="{1AFA3ADA-A6A4-F547-8F84-C23773F6CF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B602A9-C84B-0343-BB63-C6C7A187C897}"/>
              </a:ext>
            </a:extLst>
          </p:cNvPr>
          <p:cNvSpPr>
            <a:spLocks noGrp="1"/>
          </p:cNvSpPr>
          <p:nvPr>
            <p:ph type="sldNum" sz="quarter" idx="12"/>
          </p:nvPr>
        </p:nvSpPr>
        <p:spPr/>
        <p:txBody>
          <a:bodyPr/>
          <a:lstStyle/>
          <a:p>
            <a:fld id="{A809E9A7-6D32-234F-95A9-669060FB58AB}" type="slidenum">
              <a:rPr lang="en-US" smtClean="0"/>
              <a:t>‹#›</a:t>
            </a:fld>
            <a:endParaRPr lang="en-US"/>
          </a:p>
        </p:txBody>
      </p:sp>
    </p:spTree>
    <p:extLst>
      <p:ext uri="{BB962C8B-B14F-4D97-AF65-F5344CB8AC3E}">
        <p14:creationId xmlns:p14="http://schemas.microsoft.com/office/powerpoint/2010/main" val="580744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47EFB-AB49-F14F-A731-1399EC2252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FBB1B7-A31B-394A-92DB-663AE64BD4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7793AD-4D84-954E-AAAB-B61681571D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8A348A9-B886-D540-9458-FE6057CADD61}"/>
              </a:ext>
            </a:extLst>
          </p:cNvPr>
          <p:cNvSpPr>
            <a:spLocks noGrp="1"/>
          </p:cNvSpPr>
          <p:nvPr>
            <p:ph type="dt" sz="half" idx="10"/>
          </p:nvPr>
        </p:nvSpPr>
        <p:spPr/>
        <p:txBody>
          <a:bodyPr/>
          <a:lstStyle/>
          <a:p>
            <a:fld id="{912DAC47-AA90-D244-A374-E603C776B97D}" type="datetimeFigureOut">
              <a:rPr lang="en-US" smtClean="0"/>
              <a:t>8/25/26</a:t>
            </a:fld>
            <a:endParaRPr lang="en-US"/>
          </a:p>
        </p:txBody>
      </p:sp>
      <p:sp>
        <p:nvSpPr>
          <p:cNvPr id="6" name="Footer Placeholder 5">
            <a:extLst>
              <a:ext uri="{FF2B5EF4-FFF2-40B4-BE49-F238E27FC236}">
                <a16:creationId xmlns:a16="http://schemas.microsoft.com/office/drawing/2014/main" id="{8CE36CFC-2AEA-CE4E-8492-B119C8A655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389FD1-E7C2-F740-A360-9BF32422CC96}"/>
              </a:ext>
            </a:extLst>
          </p:cNvPr>
          <p:cNvSpPr>
            <a:spLocks noGrp="1"/>
          </p:cNvSpPr>
          <p:nvPr>
            <p:ph type="sldNum" sz="quarter" idx="12"/>
          </p:nvPr>
        </p:nvSpPr>
        <p:spPr/>
        <p:txBody>
          <a:bodyPr/>
          <a:lstStyle/>
          <a:p>
            <a:fld id="{A809E9A7-6D32-234F-95A9-669060FB58AB}" type="slidenum">
              <a:rPr lang="en-US" smtClean="0"/>
              <a:t>‹#›</a:t>
            </a:fld>
            <a:endParaRPr lang="en-US"/>
          </a:p>
        </p:txBody>
      </p:sp>
    </p:spTree>
    <p:extLst>
      <p:ext uri="{BB962C8B-B14F-4D97-AF65-F5344CB8AC3E}">
        <p14:creationId xmlns:p14="http://schemas.microsoft.com/office/powerpoint/2010/main" val="450664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55146-49D6-EC4C-B7CD-078B97B242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6B05EA-0754-BE45-B3CE-9E1B4D657E8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F33BDF-C6C7-964F-992C-E21DB78D0068}"/>
              </a:ext>
            </a:extLst>
          </p:cNvPr>
          <p:cNvSpPr>
            <a:spLocks noGrp="1"/>
          </p:cNvSpPr>
          <p:nvPr>
            <p:ph type="dt" sz="half" idx="10"/>
          </p:nvPr>
        </p:nvSpPr>
        <p:spPr/>
        <p:txBody>
          <a:bodyPr/>
          <a:lstStyle/>
          <a:p>
            <a:fld id="{912DAC47-AA90-D244-A374-E603C776B97D}" type="datetimeFigureOut">
              <a:rPr lang="en-US" smtClean="0"/>
              <a:t>8/25/26</a:t>
            </a:fld>
            <a:endParaRPr lang="en-US"/>
          </a:p>
        </p:txBody>
      </p:sp>
      <p:sp>
        <p:nvSpPr>
          <p:cNvPr id="5" name="Footer Placeholder 4">
            <a:extLst>
              <a:ext uri="{FF2B5EF4-FFF2-40B4-BE49-F238E27FC236}">
                <a16:creationId xmlns:a16="http://schemas.microsoft.com/office/drawing/2014/main" id="{4686659C-C862-4045-884A-1071177974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94A638-CA62-B145-8CD9-957F373A90E9}"/>
              </a:ext>
            </a:extLst>
          </p:cNvPr>
          <p:cNvSpPr>
            <a:spLocks noGrp="1"/>
          </p:cNvSpPr>
          <p:nvPr>
            <p:ph type="sldNum" sz="quarter" idx="12"/>
          </p:nvPr>
        </p:nvSpPr>
        <p:spPr/>
        <p:txBody>
          <a:bodyPr/>
          <a:lstStyle/>
          <a:p>
            <a:fld id="{A809E9A7-6D32-234F-95A9-669060FB58AB}" type="slidenum">
              <a:rPr lang="en-US" smtClean="0"/>
              <a:t>‹#›</a:t>
            </a:fld>
            <a:endParaRPr lang="en-US"/>
          </a:p>
        </p:txBody>
      </p:sp>
    </p:spTree>
    <p:extLst>
      <p:ext uri="{BB962C8B-B14F-4D97-AF65-F5344CB8AC3E}">
        <p14:creationId xmlns:p14="http://schemas.microsoft.com/office/powerpoint/2010/main" val="3530768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983CA6-501F-4946-B288-94F9F64A1C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02390A-384D-4A40-BD61-96B0AE6C37B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D7B13F-AAAF-3C4A-9E40-10D88475FC02}"/>
              </a:ext>
            </a:extLst>
          </p:cNvPr>
          <p:cNvSpPr>
            <a:spLocks noGrp="1"/>
          </p:cNvSpPr>
          <p:nvPr>
            <p:ph type="dt" sz="half" idx="10"/>
          </p:nvPr>
        </p:nvSpPr>
        <p:spPr/>
        <p:txBody>
          <a:bodyPr/>
          <a:lstStyle/>
          <a:p>
            <a:fld id="{912DAC47-AA90-D244-A374-E603C776B97D}" type="datetimeFigureOut">
              <a:rPr lang="en-US" smtClean="0"/>
              <a:t>8/25/26</a:t>
            </a:fld>
            <a:endParaRPr lang="en-US"/>
          </a:p>
        </p:txBody>
      </p:sp>
      <p:sp>
        <p:nvSpPr>
          <p:cNvPr id="5" name="Footer Placeholder 4">
            <a:extLst>
              <a:ext uri="{FF2B5EF4-FFF2-40B4-BE49-F238E27FC236}">
                <a16:creationId xmlns:a16="http://schemas.microsoft.com/office/drawing/2014/main" id="{BFEB1357-0001-4348-A423-FD93A87832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2E923-5261-B14E-A832-3E915B939828}"/>
              </a:ext>
            </a:extLst>
          </p:cNvPr>
          <p:cNvSpPr>
            <a:spLocks noGrp="1"/>
          </p:cNvSpPr>
          <p:nvPr>
            <p:ph type="sldNum" sz="quarter" idx="12"/>
          </p:nvPr>
        </p:nvSpPr>
        <p:spPr/>
        <p:txBody>
          <a:bodyPr/>
          <a:lstStyle/>
          <a:p>
            <a:fld id="{A809E9A7-6D32-234F-95A9-669060FB58AB}" type="slidenum">
              <a:rPr lang="en-US" smtClean="0"/>
              <a:t>‹#›</a:t>
            </a:fld>
            <a:endParaRPr lang="en-US"/>
          </a:p>
        </p:txBody>
      </p:sp>
    </p:spTree>
    <p:extLst>
      <p:ext uri="{BB962C8B-B14F-4D97-AF65-F5344CB8AC3E}">
        <p14:creationId xmlns:p14="http://schemas.microsoft.com/office/powerpoint/2010/main" val="1498934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FA269B-F2CA-644F-AC30-3F2D43DB64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2B1FF3-EDCC-E240-BEA2-AF4327C650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F02EE-796D-CF48-B304-589482F23B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2DAC47-AA90-D244-A374-E603C776B97D}" type="datetimeFigureOut">
              <a:rPr lang="en-US" smtClean="0"/>
              <a:t>8/25/26</a:t>
            </a:fld>
            <a:endParaRPr lang="en-US"/>
          </a:p>
        </p:txBody>
      </p:sp>
      <p:sp>
        <p:nvSpPr>
          <p:cNvPr id="5" name="Footer Placeholder 4">
            <a:extLst>
              <a:ext uri="{FF2B5EF4-FFF2-40B4-BE49-F238E27FC236}">
                <a16:creationId xmlns:a16="http://schemas.microsoft.com/office/drawing/2014/main" id="{C131EA6E-8C91-2F4F-A118-355F377954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18E0779-4ABB-C04C-8B8E-5CE0313381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09E9A7-6D32-234F-95A9-669060FB58AB}" type="slidenum">
              <a:rPr lang="en-US" smtClean="0"/>
              <a:t>‹#›</a:t>
            </a:fld>
            <a:endParaRPr lang="en-US"/>
          </a:p>
        </p:txBody>
      </p:sp>
    </p:spTree>
    <p:extLst>
      <p:ext uri="{BB962C8B-B14F-4D97-AF65-F5344CB8AC3E}">
        <p14:creationId xmlns:p14="http://schemas.microsoft.com/office/powerpoint/2010/main" val="2166227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asciitable.co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microsoft.com/office/2007/relationships/hdphoto" Target="../media/hdphoto1.wdp"/></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6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gi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EC69E-40D9-DE40-A32C-B1A3671DE598}"/>
              </a:ext>
            </a:extLst>
          </p:cNvPr>
          <p:cNvSpPr>
            <a:spLocks noGrp="1"/>
          </p:cNvSpPr>
          <p:nvPr>
            <p:ph type="ctrTitle"/>
          </p:nvPr>
        </p:nvSpPr>
        <p:spPr/>
        <p:txBody>
          <a:bodyPr/>
          <a:lstStyle/>
          <a:p>
            <a:r>
              <a:rPr lang="en-US" dirty="0">
                <a:solidFill>
                  <a:schemeClr val="tx1"/>
                </a:solidFill>
              </a:rPr>
              <a:t>CIS 022 day 2</a:t>
            </a:r>
          </a:p>
        </p:txBody>
      </p:sp>
      <p:sp>
        <p:nvSpPr>
          <p:cNvPr id="3" name="Subtitle 2">
            <a:extLst>
              <a:ext uri="{FF2B5EF4-FFF2-40B4-BE49-F238E27FC236}">
                <a16:creationId xmlns:a16="http://schemas.microsoft.com/office/drawing/2014/main" id="{6B51D2CF-05B6-8A46-9512-30E6F560E6E8}"/>
              </a:ext>
            </a:extLst>
          </p:cNvPr>
          <p:cNvSpPr>
            <a:spLocks noGrp="1"/>
          </p:cNvSpPr>
          <p:nvPr>
            <p:ph type="subTitle" idx="1"/>
          </p:nvPr>
        </p:nvSpPr>
        <p:spPr/>
        <p:txBody>
          <a:bodyPr/>
          <a:lstStyle/>
          <a:p>
            <a:r>
              <a:rPr lang="en-US" dirty="0"/>
              <a:t>getting started with </a:t>
            </a:r>
            <a:r>
              <a:rPr lang="en-US" dirty="0" err="1"/>
              <a:t>c++</a:t>
            </a:r>
            <a:endParaRPr lang="en-US" dirty="0"/>
          </a:p>
        </p:txBody>
      </p:sp>
    </p:spTree>
    <p:extLst>
      <p:ext uri="{BB962C8B-B14F-4D97-AF65-F5344CB8AC3E}">
        <p14:creationId xmlns:p14="http://schemas.microsoft.com/office/powerpoint/2010/main" val="370569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en-US" dirty="0"/>
              <a:t>Plan for today</a:t>
            </a:r>
          </a:p>
        </p:txBody>
      </p:sp>
      <p:sp>
        <p:nvSpPr>
          <p:cNvPr id="4099" name="Rectangle 3"/>
          <p:cNvSpPr>
            <a:spLocks noGrp="1" noChangeArrowheads="1"/>
          </p:cNvSpPr>
          <p:nvPr>
            <p:ph idx="1"/>
          </p:nvPr>
        </p:nvSpPr>
        <p:spPr/>
        <p:txBody>
          <a:bodyPr/>
          <a:lstStyle/>
          <a:p>
            <a:endParaRPr lang="en-US" altLang="en-US" dirty="0"/>
          </a:p>
          <a:p>
            <a:r>
              <a:rPr lang="en-US" altLang="en-US" dirty="0"/>
              <a:t>Most </a:t>
            </a:r>
            <a:r>
              <a:rPr lang="en-US" altLang="en-US"/>
              <a:t>of today's </a:t>
            </a:r>
            <a:r>
              <a:rPr lang="en-US" altLang="en-US" dirty="0"/>
              <a:t>material will be review for people who've worked in C++ before</a:t>
            </a:r>
          </a:p>
          <a:p>
            <a:r>
              <a:rPr lang="en-US" altLang="en-US" dirty="0"/>
              <a:t>(and really, it will be </a:t>
            </a:r>
            <a:r>
              <a:rPr lang="en-US" altLang="en-US" i="1" dirty="0"/>
              <a:t>largely</a:t>
            </a:r>
            <a:r>
              <a:rPr lang="en-US" altLang="en-US" dirty="0"/>
              <a:t> review for people who've worked in Java or Python.)</a:t>
            </a:r>
          </a:p>
          <a:p>
            <a:r>
              <a:rPr lang="en-US" altLang="en-US" dirty="0"/>
              <a:t>There's going to be some stuff toward the end that might be entirely new to you, though.</a:t>
            </a:r>
          </a:p>
          <a:p>
            <a:endParaRPr lang="en-US" altLang="en-US" dirty="0"/>
          </a:p>
        </p:txBody>
      </p:sp>
      <p:sp>
        <p:nvSpPr>
          <p:cNvPr id="4101"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7E5B4280-F41E-4A73-B8C2-4E3A8256E21D}" type="slidenum">
              <a:rPr lang="en-US" altLang="en-US" smtClean="0">
                <a:solidFill>
                  <a:schemeClr val="bg1"/>
                </a:solidFill>
              </a:rPr>
              <a:pPr/>
              <a:t>2</a:t>
            </a:fld>
            <a:endParaRPr lang="en-US" altLang="en-US" dirty="0">
              <a:solidFill>
                <a:schemeClr val="bg1"/>
              </a:solidFill>
            </a:endParaRPr>
          </a:p>
        </p:txBody>
      </p:sp>
    </p:spTree>
    <p:extLst>
      <p:ext uri="{BB962C8B-B14F-4D97-AF65-F5344CB8AC3E}">
        <p14:creationId xmlns:p14="http://schemas.microsoft.com/office/powerpoint/2010/main" val="1396402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memory</a:t>
            </a:r>
          </a:p>
        </p:txBody>
      </p:sp>
      <p:sp>
        <p:nvSpPr>
          <p:cNvPr id="6" name="Content Placeholder 2">
            <a:extLst>
              <a:ext uri="{FF2B5EF4-FFF2-40B4-BE49-F238E27FC236}">
                <a16:creationId xmlns:a16="http://schemas.microsoft.com/office/drawing/2014/main" id="{DEEADDB8-7251-1643-A775-883B8603DF24}"/>
              </a:ext>
            </a:extLst>
          </p:cNvPr>
          <p:cNvSpPr>
            <a:spLocks noGrp="1"/>
          </p:cNvSpPr>
          <p:nvPr>
            <p:ph idx="1"/>
          </p:nvPr>
        </p:nvSpPr>
        <p:spPr>
          <a:xfrm>
            <a:off x="173180" y="1579453"/>
            <a:ext cx="7335203" cy="3324657"/>
          </a:xfrm>
        </p:spPr>
        <p:txBody>
          <a:bodyPr>
            <a:normAutofit/>
          </a:bodyPr>
          <a:lstStyle/>
          <a:p>
            <a:r>
              <a:rPr lang="en-US" dirty="0"/>
              <a:t>The thing you will be doing most often when you write programs is</a:t>
            </a:r>
            <a:r>
              <a:rPr lang="en-US" i="1" dirty="0"/>
              <a:t> </a:t>
            </a:r>
            <a:r>
              <a:rPr lang="en-US" dirty="0"/>
              <a:t>writing to memory and reading from memory.</a:t>
            </a:r>
          </a:p>
          <a:p>
            <a:r>
              <a:rPr lang="en-US" dirty="0"/>
              <a:t>(if we were in an intro class we'd talk about how CPUs work right now. This is not an intro class, so we're just going to discuss memory.)</a:t>
            </a:r>
            <a:br>
              <a:rPr lang="en-US" dirty="0"/>
            </a:br>
            <a:endParaRPr lang="en-US" dirty="0"/>
          </a:p>
        </p:txBody>
      </p:sp>
      <p:pic>
        <p:nvPicPr>
          <p:cNvPr id="1028" name="Picture 4" descr="Image result for core memory">
            <a:extLst>
              <a:ext uri="{FF2B5EF4-FFF2-40B4-BE49-F238E27FC236}">
                <a16:creationId xmlns:a16="http://schemas.microsoft.com/office/drawing/2014/main" id="{D792A1CD-FBE3-6944-A112-92F403A841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8383" y="734096"/>
            <a:ext cx="4170014" cy="4170014"/>
          </a:xfrm>
          <a:prstGeom prst="rect">
            <a:avLst/>
          </a:prstGeom>
          <a:noFill/>
          <a:extLst>
            <a:ext uri="{909E8E84-426E-40DD-AFC4-6F175D3DCCD1}">
              <a14:hiddenFill xmlns:a14="http://schemas.microsoft.com/office/drawing/2010/main">
                <a:solidFill>
                  <a:srgbClr val="FFFFFF"/>
                </a:solidFill>
              </a14:hiddenFill>
            </a:ext>
          </a:extLst>
        </p:spPr>
      </p:pic>
      <p:sp>
        <p:nvSpPr>
          <p:cNvPr id="3" name="Right Arrow 2">
            <a:extLst>
              <a:ext uri="{FF2B5EF4-FFF2-40B4-BE49-F238E27FC236}">
                <a16:creationId xmlns:a16="http://schemas.microsoft.com/office/drawing/2014/main" id="{D3B94207-4258-384A-AC97-7C6563E407F5}"/>
              </a:ext>
            </a:extLst>
          </p:cNvPr>
          <p:cNvSpPr/>
          <p:nvPr/>
        </p:nvSpPr>
        <p:spPr>
          <a:xfrm rot="1736598">
            <a:off x="7401472" y="773022"/>
            <a:ext cx="570649" cy="484632"/>
          </a:xfrm>
          <a:prstGeom prst="rightArrow">
            <a:avLst>
              <a:gd name="adj1" fmla="val 3720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570A8D6-613B-B34F-A8D2-083DD7DA2912}"/>
              </a:ext>
            </a:extLst>
          </p:cNvPr>
          <p:cNvSpPr txBox="1"/>
          <p:nvPr/>
        </p:nvSpPr>
        <p:spPr>
          <a:xfrm>
            <a:off x="4031610" y="253890"/>
            <a:ext cx="3193960" cy="1200329"/>
          </a:xfrm>
          <a:prstGeom prst="rect">
            <a:avLst/>
          </a:prstGeom>
          <a:noFill/>
        </p:spPr>
        <p:txBody>
          <a:bodyPr wrap="square" rtlCol="0">
            <a:spAutoFit/>
          </a:bodyPr>
          <a:lstStyle/>
          <a:p>
            <a:r>
              <a:rPr lang="en-US" dirty="0"/>
              <a:t>this is what memory looked like in 1970s computers… the last time memory was big enough to see with the naked eye</a:t>
            </a:r>
          </a:p>
        </p:txBody>
      </p:sp>
      <p:sp>
        <p:nvSpPr>
          <p:cNvPr id="10" name="Right Arrow 9">
            <a:extLst>
              <a:ext uri="{FF2B5EF4-FFF2-40B4-BE49-F238E27FC236}">
                <a16:creationId xmlns:a16="http://schemas.microsoft.com/office/drawing/2014/main" id="{A5BF4EDB-75C2-644D-BB0E-809403ED408A}"/>
              </a:ext>
            </a:extLst>
          </p:cNvPr>
          <p:cNvSpPr/>
          <p:nvPr/>
        </p:nvSpPr>
        <p:spPr>
          <a:xfrm rot="18501220">
            <a:off x="7590129" y="4767889"/>
            <a:ext cx="570649" cy="484632"/>
          </a:xfrm>
          <a:prstGeom prst="rightArrow">
            <a:avLst>
              <a:gd name="adj1" fmla="val 3720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598ECC5-748B-E941-A1B1-B129EB31CE91}"/>
              </a:ext>
            </a:extLst>
          </p:cNvPr>
          <p:cNvSpPr txBox="1"/>
          <p:nvPr/>
        </p:nvSpPr>
        <p:spPr>
          <a:xfrm>
            <a:off x="7015942" y="5719155"/>
            <a:ext cx="4662455" cy="369332"/>
          </a:xfrm>
          <a:prstGeom prst="rect">
            <a:avLst/>
          </a:prstGeom>
          <a:noFill/>
        </p:spPr>
        <p:txBody>
          <a:bodyPr wrap="square" rtlCol="0">
            <a:spAutoFit/>
          </a:bodyPr>
          <a:lstStyle/>
          <a:p>
            <a:r>
              <a:rPr lang="en-US" dirty="0"/>
              <a:t>this board holds about 768 bits (I counted!)</a:t>
            </a:r>
          </a:p>
        </p:txBody>
      </p:sp>
    </p:spTree>
    <p:extLst>
      <p:ext uri="{BB962C8B-B14F-4D97-AF65-F5344CB8AC3E}">
        <p14:creationId xmlns:p14="http://schemas.microsoft.com/office/powerpoint/2010/main" val="906294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memory</a:t>
            </a:r>
          </a:p>
        </p:txBody>
      </p:sp>
      <p:pic>
        <p:nvPicPr>
          <p:cNvPr id="2054" name="Picture 6" descr="Related image">
            <a:extLst>
              <a:ext uri="{FF2B5EF4-FFF2-40B4-BE49-F238E27FC236}">
                <a16:creationId xmlns:a16="http://schemas.microsoft.com/office/drawing/2014/main" id="{398E9B2D-48B0-CC4B-8B72-3A812F0D63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8387" y="2126150"/>
            <a:ext cx="4250248" cy="3049553"/>
          </a:xfrm>
          <a:prstGeom prst="rect">
            <a:avLst/>
          </a:prstGeom>
          <a:noFill/>
          <a:extLst>
            <a:ext uri="{909E8E84-426E-40DD-AFC4-6F175D3DCCD1}">
              <a14:hiddenFill xmlns:a14="http://schemas.microsoft.com/office/drawing/2010/main">
                <a:solidFill>
                  <a:srgbClr val="FFFFFF"/>
                </a:solidFill>
              </a14:hiddenFill>
            </a:ext>
          </a:extLst>
        </p:spPr>
      </p:pic>
      <p:sp>
        <p:nvSpPr>
          <p:cNvPr id="10" name="Right Arrow 9">
            <a:extLst>
              <a:ext uri="{FF2B5EF4-FFF2-40B4-BE49-F238E27FC236}">
                <a16:creationId xmlns:a16="http://schemas.microsoft.com/office/drawing/2014/main" id="{F0EFD0BC-E8F4-3E47-9DCB-FE5451FE201B}"/>
              </a:ext>
            </a:extLst>
          </p:cNvPr>
          <p:cNvSpPr/>
          <p:nvPr/>
        </p:nvSpPr>
        <p:spPr>
          <a:xfrm rot="4916432">
            <a:off x="7762081" y="1468481"/>
            <a:ext cx="570649" cy="484632"/>
          </a:xfrm>
          <a:prstGeom prst="rightArrow">
            <a:avLst>
              <a:gd name="adj1" fmla="val 3720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91FB9B2-9295-5344-8623-4CB346100B79}"/>
              </a:ext>
            </a:extLst>
          </p:cNvPr>
          <p:cNvSpPr txBox="1"/>
          <p:nvPr/>
        </p:nvSpPr>
        <p:spPr>
          <a:xfrm>
            <a:off x="6955552" y="470987"/>
            <a:ext cx="4546243" cy="923330"/>
          </a:xfrm>
          <a:prstGeom prst="rect">
            <a:avLst/>
          </a:prstGeom>
          <a:noFill/>
        </p:spPr>
        <p:txBody>
          <a:bodyPr wrap="square" rtlCol="0">
            <a:spAutoFit/>
          </a:bodyPr>
          <a:lstStyle/>
          <a:p>
            <a:r>
              <a:rPr lang="en-US" dirty="0"/>
              <a:t>here's a zoomed-in picture of 1970s memory – each one of these metal disks is a bit. it's a 1 if it's magnetized and a 0 if it's not. </a:t>
            </a:r>
          </a:p>
        </p:txBody>
      </p:sp>
      <p:sp>
        <p:nvSpPr>
          <p:cNvPr id="7" name="TextBox 6">
            <a:extLst>
              <a:ext uri="{FF2B5EF4-FFF2-40B4-BE49-F238E27FC236}">
                <a16:creationId xmlns:a16="http://schemas.microsoft.com/office/drawing/2014/main" id="{ED7380FF-7C79-984C-ACB7-AE1AE4E1FDD3}"/>
              </a:ext>
            </a:extLst>
          </p:cNvPr>
          <p:cNvSpPr txBox="1"/>
          <p:nvPr/>
        </p:nvSpPr>
        <p:spPr>
          <a:xfrm>
            <a:off x="6177383" y="5722870"/>
            <a:ext cx="2149948" cy="369332"/>
          </a:xfrm>
          <a:prstGeom prst="rect">
            <a:avLst/>
          </a:prstGeom>
          <a:noFill/>
        </p:spPr>
        <p:txBody>
          <a:bodyPr wrap="none" rtlCol="0">
            <a:spAutoFit/>
          </a:bodyPr>
          <a:lstStyle/>
          <a:p>
            <a:r>
              <a:rPr lang="en-US" dirty="0"/>
              <a:t>(this is about 72 bits)</a:t>
            </a:r>
          </a:p>
        </p:txBody>
      </p:sp>
      <p:sp>
        <p:nvSpPr>
          <p:cNvPr id="13" name="Right Arrow 12">
            <a:extLst>
              <a:ext uri="{FF2B5EF4-FFF2-40B4-BE49-F238E27FC236}">
                <a16:creationId xmlns:a16="http://schemas.microsoft.com/office/drawing/2014/main" id="{9347DFA1-0DA2-1D4D-8152-09D60A7C4C91}"/>
              </a:ext>
            </a:extLst>
          </p:cNvPr>
          <p:cNvSpPr/>
          <p:nvPr/>
        </p:nvSpPr>
        <p:spPr>
          <a:xfrm rot="18250163">
            <a:off x="6909154" y="5305554"/>
            <a:ext cx="570649" cy="484632"/>
          </a:xfrm>
          <a:prstGeom prst="rightArrow">
            <a:avLst>
              <a:gd name="adj1" fmla="val 3720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678103AB-A311-284E-8F7B-EBF5E5445204}"/>
              </a:ext>
            </a:extLst>
          </p:cNvPr>
          <p:cNvSpPr txBox="1">
            <a:spLocks/>
          </p:cNvSpPr>
          <p:nvPr/>
        </p:nvSpPr>
        <p:spPr>
          <a:xfrm>
            <a:off x="173180" y="1579453"/>
            <a:ext cx="7335203" cy="33246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thing you will be doing most often when you write programs is</a:t>
            </a:r>
            <a:r>
              <a:rPr lang="en-US" i="1" dirty="0"/>
              <a:t> </a:t>
            </a:r>
            <a:r>
              <a:rPr lang="en-US" dirty="0"/>
              <a:t>writing to memory and reading from memory.</a:t>
            </a:r>
          </a:p>
          <a:p>
            <a:r>
              <a:rPr lang="en-US" dirty="0"/>
              <a:t>(if we were in an intro class we'd talk about how CPUs work right now. This is not an intro class, so we're just going to discuss memory.)</a:t>
            </a:r>
            <a:br>
              <a:rPr lang="en-US" dirty="0"/>
            </a:br>
            <a:endParaRPr lang="en-US" dirty="0"/>
          </a:p>
        </p:txBody>
      </p:sp>
    </p:spTree>
    <p:extLst>
      <p:ext uri="{BB962C8B-B14F-4D97-AF65-F5344CB8AC3E}">
        <p14:creationId xmlns:p14="http://schemas.microsoft.com/office/powerpoint/2010/main" val="2177979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Image result for computer ram close up">
            <a:extLst>
              <a:ext uri="{FF2B5EF4-FFF2-40B4-BE49-F238E27FC236}">
                <a16:creationId xmlns:a16="http://schemas.microsoft.com/office/drawing/2014/main" id="{F89A931B-F957-C040-8228-C62E16A62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9750" y="2217575"/>
            <a:ext cx="3630882" cy="24205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memory</a:t>
            </a:r>
          </a:p>
        </p:txBody>
      </p:sp>
      <p:sp>
        <p:nvSpPr>
          <p:cNvPr id="10" name="Right Arrow 9">
            <a:extLst>
              <a:ext uri="{FF2B5EF4-FFF2-40B4-BE49-F238E27FC236}">
                <a16:creationId xmlns:a16="http://schemas.microsoft.com/office/drawing/2014/main" id="{F0EFD0BC-E8F4-3E47-9DCB-FE5451FE201B}"/>
              </a:ext>
            </a:extLst>
          </p:cNvPr>
          <p:cNvSpPr/>
          <p:nvPr/>
        </p:nvSpPr>
        <p:spPr>
          <a:xfrm rot="4968011">
            <a:off x="7667442" y="1909021"/>
            <a:ext cx="1294072" cy="484632"/>
          </a:xfrm>
          <a:prstGeom prst="rightArrow">
            <a:avLst>
              <a:gd name="adj1" fmla="val 3720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91FB9B2-9295-5344-8623-4CB346100B79}"/>
              </a:ext>
            </a:extLst>
          </p:cNvPr>
          <p:cNvSpPr txBox="1"/>
          <p:nvPr/>
        </p:nvSpPr>
        <p:spPr>
          <a:xfrm>
            <a:off x="6959182" y="490140"/>
            <a:ext cx="4048130" cy="923330"/>
          </a:xfrm>
          <a:prstGeom prst="rect">
            <a:avLst/>
          </a:prstGeom>
          <a:noFill/>
        </p:spPr>
        <p:txBody>
          <a:bodyPr wrap="square" rtlCol="0">
            <a:spAutoFit/>
          </a:bodyPr>
          <a:lstStyle/>
          <a:p>
            <a:r>
              <a:rPr lang="en-US" dirty="0"/>
              <a:t>here's a modern memory chip –  this board contains billions of bits, all of which are far too small to see</a:t>
            </a:r>
          </a:p>
        </p:txBody>
      </p:sp>
      <p:sp>
        <p:nvSpPr>
          <p:cNvPr id="9" name="Right Arrow 8">
            <a:extLst>
              <a:ext uri="{FF2B5EF4-FFF2-40B4-BE49-F238E27FC236}">
                <a16:creationId xmlns:a16="http://schemas.microsoft.com/office/drawing/2014/main" id="{35AE063C-7384-4D4E-B294-7ABED09967EB}"/>
              </a:ext>
            </a:extLst>
          </p:cNvPr>
          <p:cNvSpPr/>
          <p:nvPr/>
        </p:nvSpPr>
        <p:spPr>
          <a:xfrm rot="17864764">
            <a:off x="7500548" y="5293575"/>
            <a:ext cx="852852" cy="497314"/>
          </a:xfrm>
          <a:prstGeom prst="rightArrow">
            <a:avLst>
              <a:gd name="adj1" fmla="val 3720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641A7C4-5A0B-DD4A-A196-683CC8D8A789}"/>
              </a:ext>
            </a:extLst>
          </p:cNvPr>
          <p:cNvSpPr txBox="1"/>
          <p:nvPr/>
        </p:nvSpPr>
        <p:spPr>
          <a:xfrm>
            <a:off x="5818909" y="6180354"/>
            <a:ext cx="4381392" cy="369332"/>
          </a:xfrm>
          <a:prstGeom prst="rect">
            <a:avLst/>
          </a:prstGeom>
          <a:noFill/>
        </p:spPr>
        <p:txBody>
          <a:bodyPr wrap="none" rtlCol="0">
            <a:spAutoFit/>
          </a:bodyPr>
          <a:lstStyle/>
          <a:p>
            <a:r>
              <a:rPr lang="en-US" dirty="0"/>
              <a:t>this board holds about 128,000,000,000 bits.</a:t>
            </a:r>
          </a:p>
        </p:txBody>
      </p:sp>
      <p:sp>
        <p:nvSpPr>
          <p:cNvPr id="11" name="Content Placeholder 2">
            <a:extLst>
              <a:ext uri="{FF2B5EF4-FFF2-40B4-BE49-F238E27FC236}">
                <a16:creationId xmlns:a16="http://schemas.microsoft.com/office/drawing/2014/main" id="{D159512E-696D-2A40-A024-F3CA8E82F840}"/>
              </a:ext>
            </a:extLst>
          </p:cNvPr>
          <p:cNvSpPr txBox="1">
            <a:spLocks/>
          </p:cNvSpPr>
          <p:nvPr/>
        </p:nvSpPr>
        <p:spPr>
          <a:xfrm>
            <a:off x="67339" y="2084601"/>
            <a:ext cx="7335203" cy="332465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thing you will be doing most often when you write programs is</a:t>
            </a:r>
            <a:r>
              <a:rPr lang="en-US" i="1" dirty="0"/>
              <a:t> </a:t>
            </a:r>
            <a:r>
              <a:rPr lang="en-US" dirty="0"/>
              <a:t>writing to memory and reading from memory.</a:t>
            </a:r>
          </a:p>
          <a:p>
            <a:r>
              <a:rPr lang="en-US" dirty="0"/>
              <a:t>(if we were in an intro class we'd talk about how CPUs work right now. This is not an intro class, so we're just going to discuss memory.)</a:t>
            </a:r>
            <a:br>
              <a:rPr lang="en-US" dirty="0"/>
            </a:br>
            <a:endParaRPr lang="en-US" dirty="0"/>
          </a:p>
        </p:txBody>
      </p:sp>
    </p:spTree>
    <p:extLst>
      <p:ext uri="{BB962C8B-B14F-4D97-AF65-F5344CB8AC3E}">
        <p14:creationId xmlns:p14="http://schemas.microsoft.com/office/powerpoint/2010/main" val="27168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memory – an analogy</a:t>
            </a:r>
          </a:p>
        </p:txBody>
      </p:sp>
      <p:pic>
        <p:nvPicPr>
          <p:cNvPr id="8" name="Picture 7">
            <a:extLst>
              <a:ext uri="{FF2B5EF4-FFF2-40B4-BE49-F238E27FC236}">
                <a16:creationId xmlns:a16="http://schemas.microsoft.com/office/drawing/2014/main" id="{C151D31B-930C-3C44-B4D0-C85BBF3C80AE}"/>
              </a:ext>
            </a:extLst>
          </p:cNvPr>
          <p:cNvPicPr>
            <a:picLocks noChangeAspect="1"/>
          </p:cNvPicPr>
          <p:nvPr/>
        </p:nvPicPr>
        <p:blipFill>
          <a:blip r:embed="rId2"/>
          <a:stretch>
            <a:fillRect/>
          </a:stretch>
        </p:blipFill>
        <p:spPr>
          <a:xfrm>
            <a:off x="4678677" y="1579453"/>
            <a:ext cx="7291302" cy="2430434"/>
          </a:xfrm>
          <a:prstGeom prst="rect">
            <a:avLst/>
          </a:prstGeom>
        </p:spPr>
      </p:pic>
      <p:sp>
        <p:nvSpPr>
          <p:cNvPr id="16" name="Content Placeholder 2">
            <a:extLst>
              <a:ext uri="{FF2B5EF4-FFF2-40B4-BE49-F238E27FC236}">
                <a16:creationId xmlns:a16="http://schemas.microsoft.com/office/drawing/2014/main" id="{341E9DDC-C330-E041-8F9A-CB2C2078C670}"/>
              </a:ext>
            </a:extLst>
          </p:cNvPr>
          <p:cNvSpPr txBox="1">
            <a:spLocks/>
          </p:cNvSpPr>
          <p:nvPr/>
        </p:nvSpPr>
        <p:spPr>
          <a:xfrm>
            <a:off x="173180" y="1579453"/>
            <a:ext cx="4505497" cy="483797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You can think of your computer's memory as something like a gigantic spreadsheet.</a:t>
            </a:r>
            <a:br>
              <a:rPr lang="en-US" dirty="0"/>
            </a:br>
            <a:endParaRPr lang="en-US" dirty="0"/>
          </a:p>
          <a:p>
            <a:r>
              <a:rPr lang="en-US" dirty="0"/>
              <a:t>Each cell on the spreadsheet (or each </a:t>
            </a:r>
            <a:r>
              <a:rPr lang="en-US" i="1" dirty="0"/>
              <a:t>address</a:t>
            </a:r>
            <a:r>
              <a:rPr lang="en-US" dirty="0"/>
              <a:t> in memory) can hold a piece of data – a number, a string of letters, a true-or-false value, etc.</a:t>
            </a:r>
            <a:br>
              <a:rPr lang="en-US" dirty="0"/>
            </a:br>
            <a:br>
              <a:rPr lang="en-US" dirty="0"/>
            </a:br>
            <a:endParaRPr lang="en-US" dirty="0"/>
          </a:p>
        </p:txBody>
      </p:sp>
      <p:sp>
        <p:nvSpPr>
          <p:cNvPr id="15" name="Right Arrow 14">
            <a:extLst>
              <a:ext uri="{FF2B5EF4-FFF2-40B4-BE49-F238E27FC236}">
                <a16:creationId xmlns:a16="http://schemas.microsoft.com/office/drawing/2014/main" id="{2A8A280E-F95D-4245-A305-5FF0CFB3C323}"/>
              </a:ext>
            </a:extLst>
          </p:cNvPr>
          <p:cNvSpPr/>
          <p:nvPr/>
        </p:nvSpPr>
        <p:spPr>
          <a:xfrm rot="13839600">
            <a:off x="1596756" y="5643438"/>
            <a:ext cx="608160" cy="397178"/>
          </a:xfrm>
          <a:prstGeom prst="rightArrow">
            <a:avLst>
              <a:gd name="adj1" fmla="val 47738"/>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61FDC27-A5C2-F24A-8EB0-5EBC65AD85EF}"/>
              </a:ext>
            </a:extLst>
          </p:cNvPr>
          <p:cNvSpPr txBox="1"/>
          <p:nvPr/>
        </p:nvSpPr>
        <p:spPr>
          <a:xfrm>
            <a:off x="2247187" y="6203092"/>
            <a:ext cx="1739026" cy="523220"/>
          </a:xfrm>
          <a:prstGeom prst="rect">
            <a:avLst/>
          </a:prstGeom>
          <a:noFill/>
        </p:spPr>
        <p:txBody>
          <a:bodyPr wrap="square" rtlCol="0">
            <a:spAutoFit/>
          </a:bodyPr>
          <a:lstStyle/>
          <a:p>
            <a:r>
              <a:rPr lang="en-US" sz="1400" dirty="0"/>
              <a:t>true-or-false values are called </a:t>
            </a:r>
            <a:r>
              <a:rPr lang="en-US" sz="1400" i="1" dirty="0" err="1"/>
              <a:t>booleans</a:t>
            </a:r>
            <a:endParaRPr lang="en-US" sz="1400" dirty="0"/>
          </a:p>
        </p:txBody>
      </p:sp>
    </p:spTree>
    <p:extLst>
      <p:ext uri="{BB962C8B-B14F-4D97-AF65-F5344CB8AC3E}">
        <p14:creationId xmlns:p14="http://schemas.microsoft.com/office/powerpoint/2010/main" val="4122555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memory – an analogy</a:t>
            </a:r>
          </a:p>
        </p:txBody>
      </p:sp>
      <p:pic>
        <p:nvPicPr>
          <p:cNvPr id="8" name="Picture 7">
            <a:extLst>
              <a:ext uri="{FF2B5EF4-FFF2-40B4-BE49-F238E27FC236}">
                <a16:creationId xmlns:a16="http://schemas.microsoft.com/office/drawing/2014/main" id="{C151D31B-930C-3C44-B4D0-C85BBF3C80AE}"/>
              </a:ext>
            </a:extLst>
          </p:cNvPr>
          <p:cNvPicPr>
            <a:picLocks noChangeAspect="1"/>
          </p:cNvPicPr>
          <p:nvPr/>
        </p:nvPicPr>
        <p:blipFill>
          <a:blip r:embed="rId2"/>
          <a:stretch>
            <a:fillRect/>
          </a:stretch>
        </p:blipFill>
        <p:spPr>
          <a:xfrm>
            <a:off x="4678677" y="1579453"/>
            <a:ext cx="7291302" cy="2430434"/>
          </a:xfrm>
          <a:prstGeom prst="rect">
            <a:avLst/>
          </a:prstGeom>
        </p:spPr>
      </p:pic>
      <p:sp>
        <p:nvSpPr>
          <p:cNvPr id="3" name="Right Arrow 2">
            <a:extLst>
              <a:ext uri="{FF2B5EF4-FFF2-40B4-BE49-F238E27FC236}">
                <a16:creationId xmlns:a16="http://schemas.microsoft.com/office/drawing/2014/main" id="{CF65644D-D3C6-524B-A62F-29FF29704841}"/>
              </a:ext>
            </a:extLst>
          </p:cNvPr>
          <p:cNvSpPr/>
          <p:nvPr/>
        </p:nvSpPr>
        <p:spPr>
          <a:xfrm rot="17334902">
            <a:off x="6203091" y="432273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ame 3">
            <a:extLst>
              <a:ext uri="{FF2B5EF4-FFF2-40B4-BE49-F238E27FC236}">
                <a16:creationId xmlns:a16="http://schemas.microsoft.com/office/drawing/2014/main" id="{9CBEC585-8D1E-DE47-82AA-6696C0DD744C}"/>
              </a:ext>
            </a:extLst>
          </p:cNvPr>
          <p:cNvSpPr/>
          <p:nvPr/>
        </p:nvSpPr>
        <p:spPr>
          <a:xfrm>
            <a:off x="6095998" y="3768811"/>
            <a:ext cx="1120348" cy="241076"/>
          </a:xfrm>
          <a:prstGeom prst="fram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968DD1B5-DDFD-6041-82C2-3AE6682C4BE6}"/>
              </a:ext>
            </a:extLst>
          </p:cNvPr>
          <p:cNvSpPr txBox="1"/>
          <p:nvPr/>
        </p:nvSpPr>
        <p:spPr>
          <a:xfrm>
            <a:off x="5659395" y="5335450"/>
            <a:ext cx="2557848" cy="1200329"/>
          </a:xfrm>
          <a:prstGeom prst="rect">
            <a:avLst/>
          </a:prstGeom>
          <a:noFill/>
        </p:spPr>
        <p:txBody>
          <a:bodyPr wrap="square" rtlCol="0">
            <a:spAutoFit/>
          </a:bodyPr>
          <a:lstStyle/>
          <a:p>
            <a:r>
              <a:rPr lang="en-US" dirty="0"/>
              <a:t>We can think of this as the </a:t>
            </a:r>
            <a:r>
              <a:rPr lang="en-US" i="1" dirty="0"/>
              <a:t>integer </a:t>
            </a:r>
            <a:r>
              <a:rPr lang="en-US" dirty="0"/>
              <a:t>30 stored at the </a:t>
            </a:r>
            <a:r>
              <a:rPr lang="en-US" i="1" dirty="0"/>
              <a:t>address</a:t>
            </a:r>
            <a:r>
              <a:rPr lang="en-US" dirty="0"/>
              <a:t> B13 on the spreadsheet</a:t>
            </a:r>
          </a:p>
        </p:txBody>
      </p:sp>
      <p:sp>
        <p:nvSpPr>
          <p:cNvPr id="9" name="Frame 8">
            <a:extLst>
              <a:ext uri="{FF2B5EF4-FFF2-40B4-BE49-F238E27FC236}">
                <a16:creationId xmlns:a16="http://schemas.microsoft.com/office/drawing/2014/main" id="{17D6DFE3-4F45-E24C-A469-72E98733FD7F}"/>
              </a:ext>
            </a:extLst>
          </p:cNvPr>
          <p:cNvSpPr/>
          <p:nvPr/>
        </p:nvSpPr>
        <p:spPr>
          <a:xfrm>
            <a:off x="10540314" y="1863847"/>
            <a:ext cx="813484" cy="195315"/>
          </a:xfrm>
          <a:prstGeom prst="fram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ight Arrow 9">
            <a:extLst>
              <a:ext uri="{FF2B5EF4-FFF2-40B4-BE49-F238E27FC236}">
                <a16:creationId xmlns:a16="http://schemas.microsoft.com/office/drawing/2014/main" id="{384134B1-2F69-6647-A88F-A6E8D98BF8B7}"/>
              </a:ext>
            </a:extLst>
          </p:cNvPr>
          <p:cNvSpPr/>
          <p:nvPr/>
        </p:nvSpPr>
        <p:spPr>
          <a:xfrm rot="2707761">
            <a:off x="9836377" y="1266544"/>
            <a:ext cx="775440"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6C1DAF8-E57D-3E4E-BEA1-7F8C17ED1B80}"/>
              </a:ext>
            </a:extLst>
          </p:cNvPr>
          <p:cNvSpPr txBox="1"/>
          <p:nvPr/>
        </p:nvSpPr>
        <p:spPr>
          <a:xfrm>
            <a:off x="7429503" y="235535"/>
            <a:ext cx="3096297" cy="923330"/>
          </a:xfrm>
          <a:prstGeom prst="rect">
            <a:avLst/>
          </a:prstGeom>
          <a:noFill/>
        </p:spPr>
        <p:txBody>
          <a:bodyPr wrap="none" rtlCol="0">
            <a:spAutoFit/>
          </a:bodyPr>
          <a:lstStyle/>
          <a:p>
            <a:r>
              <a:rPr lang="en-US" dirty="0"/>
              <a:t>we can think of this as the</a:t>
            </a:r>
          </a:p>
          <a:p>
            <a:r>
              <a:rPr lang="en-US" i="1" dirty="0"/>
              <a:t>string </a:t>
            </a:r>
            <a:r>
              <a:rPr lang="en-US" dirty="0"/>
              <a:t>"extra credit" stored at </a:t>
            </a:r>
          </a:p>
          <a:p>
            <a:r>
              <a:rPr lang="en-US" i="1" dirty="0"/>
              <a:t>address </a:t>
            </a:r>
            <a:r>
              <a:rPr lang="en-US" dirty="0"/>
              <a:t>G1 on the spreadsheet</a:t>
            </a:r>
            <a:endParaRPr lang="en-US" i="1" dirty="0"/>
          </a:p>
        </p:txBody>
      </p:sp>
      <p:sp>
        <p:nvSpPr>
          <p:cNvPr id="14" name="Content Placeholder 2">
            <a:extLst>
              <a:ext uri="{FF2B5EF4-FFF2-40B4-BE49-F238E27FC236}">
                <a16:creationId xmlns:a16="http://schemas.microsoft.com/office/drawing/2014/main" id="{7B147281-921E-3047-97E3-08C183CD5A02}"/>
              </a:ext>
            </a:extLst>
          </p:cNvPr>
          <p:cNvSpPr>
            <a:spLocks noGrp="1"/>
          </p:cNvSpPr>
          <p:nvPr>
            <p:ph idx="1"/>
          </p:nvPr>
        </p:nvSpPr>
        <p:spPr>
          <a:xfrm>
            <a:off x="173180" y="1579453"/>
            <a:ext cx="4505497" cy="4837972"/>
          </a:xfrm>
        </p:spPr>
        <p:txBody>
          <a:bodyPr>
            <a:normAutofit lnSpcReduction="10000"/>
          </a:bodyPr>
          <a:lstStyle/>
          <a:p>
            <a:r>
              <a:rPr lang="en-US" dirty="0"/>
              <a:t>You can think of your computer's memory as something like a gigantic spreadsheet.</a:t>
            </a:r>
            <a:br>
              <a:rPr lang="en-US" dirty="0"/>
            </a:br>
            <a:endParaRPr lang="en-US" dirty="0"/>
          </a:p>
          <a:p>
            <a:r>
              <a:rPr lang="en-US" dirty="0"/>
              <a:t>Each cell on the spreadsheet (or each </a:t>
            </a:r>
            <a:r>
              <a:rPr lang="en-US" i="1" dirty="0"/>
              <a:t>address</a:t>
            </a:r>
            <a:r>
              <a:rPr lang="en-US" dirty="0"/>
              <a:t> in memory) can hold a piece of data – a number, a string of letters, a true-or-false value, etc.</a:t>
            </a:r>
            <a:br>
              <a:rPr lang="en-US" dirty="0"/>
            </a:br>
            <a:br>
              <a:rPr lang="en-US" dirty="0"/>
            </a:br>
            <a:endParaRPr lang="en-US" dirty="0"/>
          </a:p>
        </p:txBody>
      </p:sp>
    </p:spTree>
    <p:extLst>
      <p:ext uri="{BB962C8B-B14F-4D97-AF65-F5344CB8AC3E}">
        <p14:creationId xmlns:p14="http://schemas.microsoft.com/office/powerpoint/2010/main" val="160716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ame 20">
            <a:extLst>
              <a:ext uri="{FF2B5EF4-FFF2-40B4-BE49-F238E27FC236}">
                <a16:creationId xmlns:a16="http://schemas.microsoft.com/office/drawing/2014/main" id="{7D866EBA-073C-8244-A303-9B78DB1EC3BD}"/>
              </a:ext>
            </a:extLst>
          </p:cNvPr>
          <p:cNvSpPr/>
          <p:nvPr/>
        </p:nvSpPr>
        <p:spPr>
          <a:xfrm>
            <a:off x="10055540" y="2445662"/>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Frame 4">
            <a:extLst>
              <a:ext uri="{FF2B5EF4-FFF2-40B4-BE49-F238E27FC236}">
                <a16:creationId xmlns:a16="http://schemas.microsoft.com/office/drawing/2014/main" id="{4FB5BBDE-99DF-254D-9A65-3AB0725E4DD9}"/>
              </a:ext>
            </a:extLst>
          </p:cNvPr>
          <p:cNvSpPr/>
          <p:nvPr/>
        </p:nvSpPr>
        <p:spPr>
          <a:xfrm>
            <a:off x="4930346" y="2446638"/>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ame 15">
            <a:extLst>
              <a:ext uri="{FF2B5EF4-FFF2-40B4-BE49-F238E27FC236}">
                <a16:creationId xmlns:a16="http://schemas.microsoft.com/office/drawing/2014/main" id="{98A6FBDA-7627-974B-B914-E515AF955F33}"/>
              </a:ext>
            </a:extLst>
          </p:cNvPr>
          <p:cNvSpPr/>
          <p:nvPr/>
        </p:nvSpPr>
        <p:spPr>
          <a:xfrm>
            <a:off x="6464282" y="2446636"/>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ame 16">
            <a:extLst>
              <a:ext uri="{FF2B5EF4-FFF2-40B4-BE49-F238E27FC236}">
                <a16:creationId xmlns:a16="http://schemas.microsoft.com/office/drawing/2014/main" id="{8E77E690-0676-5A40-8718-2497F95214CF}"/>
              </a:ext>
            </a:extLst>
          </p:cNvPr>
          <p:cNvSpPr/>
          <p:nvPr/>
        </p:nvSpPr>
        <p:spPr>
          <a:xfrm>
            <a:off x="7189118" y="2446634"/>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ame 17">
            <a:extLst>
              <a:ext uri="{FF2B5EF4-FFF2-40B4-BE49-F238E27FC236}">
                <a16:creationId xmlns:a16="http://schemas.microsoft.com/office/drawing/2014/main" id="{64320DEA-0527-A44B-B73D-4A8A4371FD5A}"/>
              </a:ext>
            </a:extLst>
          </p:cNvPr>
          <p:cNvSpPr/>
          <p:nvPr/>
        </p:nvSpPr>
        <p:spPr>
          <a:xfrm>
            <a:off x="7913954" y="2446634"/>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ame 18">
            <a:extLst>
              <a:ext uri="{FF2B5EF4-FFF2-40B4-BE49-F238E27FC236}">
                <a16:creationId xmlns:a16="http://schemas.microsoft.com/office/drawing/2014/main" id="{410BC00E-018A-FB43-970F-E64AF26B364E}"/>
              </a:ext>
            </a:extLst>
          </p:cNvPr>
          <p:cNvSpPr/>
          <p:nvPr/>
        </p:nvSpPr>
        <p:spPr>
          <a:xfrm>
            <a:off x="8598696" y="244615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ame 14">
            <a:extLst>
              <a:ext uri="{FF2B5EF4-FFF2-40B4-BE49-F238E27FC236}">
                <a16:creationId xmlns:a16="http://schemas.microsoft.com/office/drawing/2014/main" id="{30FBC087-F371-AB40-B034-AB5F4C7D3023}"/>
              </a:ext>
            </a:extLst>
          </p:cNvPr>
          <p:cNvSpPr/>
          <p:nvPr/>
        </p:nvSpPr>
        <p:spPr>
          <a:xfrm>
            <a:off x="5693134" y="244663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ame 19">
            <a:extLst>
              <a:ext uri="{FF2B5EF4-FFF2-40B4-BE49-F238E27FC236}">
                <a16:creationId xmlns:a16="http://schemas.microsoft.com/office/drawing/2014/main" id="{054105C8-47C8-AC45-9CED-5D1DDB15AD58}"/>
              </a:ext>
            </a:extLst>
          </p:cNvPr>
          <p:cNvSpPr/>
          <p:nvPr/>
        </p:nvSpPr>
        <p:spPr>
          <a:xfrm>
            <a:off x="9356117" y="2445662"/>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DE095D7D-2B98-8940-ADBB-24778A5E1F7F}"/>
              </a:ext>
            </a:extLst>
          </p:cNvPr>
          <p:cNvSpPr/>
          <p:nvPr/>
        </p:nvSpPr>
        <p:spPr>
          <a:xfrm>
            <a:off x="10470706" y="2390056"/>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7C93B724-5661-F34E-8A71-F6F20C7FF57C}"/>
              </a:ext>
            </a:extLst>
          </p:cNvPr>
          <p:cNvSpPr txBox="1"/>
          <p:nvPr/>
        </p:nvSpPr>
        <p:spPr>
          <a:xfrm>
            <a:off x="10212083" y="2688372"/>
            <a:ext cx="418704" cy="369332"/>
          </a:xfrm>
          <a:prstGeom prst="rect">
            <a:avLst/>
          </a:prstGeom>
          <a:noFill/>
        </p:spPr>
        <p:txBody>
          <a:bodyPr wrap="none" rtlCol="0">
            <a:spAutoFit/>
          </a:bodyPr>
          <a:lstStyle/>
          <a:p>
            <a:r>
              <a:rPr lang="en-US" dirty="0"/>
              <a:t>23</a:t>
            </a:r>
          </a:p>
        </p:txBody>
      </p:sp>
      <p:sp>
        <p:nvSpPr>
          <p:cNvPr id="39" name="Rectangle 38">
            <a:extLst>
              <a:ext uri="{FF2B5EF4-FFF2-40B4-BE49-F238E27FC236}">
                <a16:creationId xmlns:a16="http://schemas.microsoft.com/office/drawing/2014/main" id="{CE8D3975-DA4E-4940-A7FF-C9F7417EBB95}"/>
              </a:ext>
            </a:extLst>
          </p:cNvPr>
          <p:cNvSpPr/>
          <p:nvPr/>
        </p:nvSpPr>
        <p:spPr>
          <a:xfrm>
            <a:off x="10459978" y="2481281"/>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0F0A092-93B0-1043-97B0-5C0999780AE7}"/>
              </a:ext>
            </a:extLst>
          </p:cNvPr>
          <p:cNvSpPr/>
          <p:nvPr/>
        </p:nvSpPr>
        <p:spPr>
          <a:xfrm>
            <a:off x="4930345" y="2446638"/>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A6C2E929-5AD6-5146-8154-8C0B0A9687E7}"/>
              </a:ext>
            </a:extLst>
          </p:cNvPr>
          <p:cNvSpPr/>
          <p:nvPr/>
        </p:nvSpPr>
        <p:spPr>
          <a:xfrm>
            <a:off x="10657885" y="2594129"/>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94033F0-8F2C-2241-AB67-79F5D7109B72}"/>
              </a:ext>
            </a:extLst>
          </p:cNvPr>
          <p:cNvSpPr txBox="1"/>
          <p:nvPr/>
        </p:nvSpPr>
        <p:spPr>
          <a:xfrm>
            <a:off x="5087198" y="2671759"/>
            <a:ext cx="535724" cy="369332"/>
          </a:xfrm>
          <a:prstGeom prst="rect">
            <a:avLst/>
          </a:prstGeom>
          <a:noFill/>
        </p:spPr>
        <p:txBody>
          <a:bodyPr wrap="none" rtlCol="0">
            <a:spAutoFit/>
          </a:bodyPr>
          <a:lstStyle/>
          <a:p>
            <a:r>
              <a:rPr lang="en-US" dirty="0"/>
              <a:t>137</a:t>
            </a:r>
          </a:p>
        </p:txBody>
      </p:sp>
      <p:sp>
        <p:nvSpPr>
          <p:cNvPr id="32" name="TextBox 31">
            <a:extLst>
              <a:ext uri="{FF2B5EF4-FFF2-40B4-BE49-F238E27FC236}">
                <a16:creationId xmlns:a16="http://schemas.microsoft.com/office/drawing/2014/main" id="{BD24CACB-48E5-174C-AA89-6D49AF1E18FB}"/>
              </a:ext>
            </a:extLst>
          </p:cNvPr>
          <p:cNvSpPr txBox="1"/>
          <p:nvPr/>
        </p:nvSpPr>
        <p:spPr>
          <a:xfrm>
            <a:off x="5808109" y="2681248"/>
            <a:ext cx="593432" cy="369332"/>
          </a:xfrm>
          <a:prstGeom prst="rect">
            <a:avLst/>
          </a:prstGeom>
          <a:noFill/>
        </p:spPr>
        <p:txBody>
          <a:bodyPr wrap="none" rtlCol="0">
            <a:spAutoFit/>
          </a:bodyPr>
          <a:lstStyle/>
          <a:p>
            <a:r>
              <a:rPr lang="en-US" dirty="0"/>
              <a:t>23.5</a:t>
            </a:r>
          </a:p>
        </p:txBody>
      </p:sp>
      <p:sp>
        <p:nvSpPr>
          <p:cNvPr id="33" name="TextBox 32">
            <a:extLst>
              <a:ext uri="{FF2B5EF4-FFF2-40B4-BE49-F238E27FC236}">
                <a16:creationId xmlns:a16="http://schemas.microsoft.com/office/drawing/2014/main" id="{875058CE-50C2-314D-9D46-6031B5B5B75C}"/>
              </a:ext>
            </a:extLst>
          </p:cNvPr>
          <p:cNvSpPr txBox="1"/>
          <p:nvPr/>
        </p:nvSpPr>
        <p:spPr>
          <a:xfrm>
            <a:off x="6541494" y="2722678"/>
            <a:ext cx="615874" cy="276999"/>
          </a:xfrm>
          <a:prstGeom prst="rect">
            <a:avLst/>
          </a:prstGeom>
          <a:noFill/>
        </p:spPr>
        <p:txBody>
          <a:bodyPr wrap="none" rtlCol="0">
            <a:spAutoFit/>
          </a:bodyPr>
          <a:lstStyle/>
          <a:p>
            <a:r>
              <a:rPr lang="en-US" sz="1200" dirty="0"/>
              <a:t>"hello"</a:t>
            </a:r>
          </a:p>
        </p:txBody>
      </p:sp>
      <p:sp>
        <p:nvSpPr>
          <p:cNvPr id="34" name="TextBox 33">
            <a:extLst>
              <a:ext uri="{FF2B5EF4-FFF2-40B4-BE49-F238E27FC236}">
                <a16:creationId xmlns:a16="http://schemas.microsoft.com/office/drawing/2014/main" id="{21AF74C9-AA0C-FB4F-9FE9-C60C58A13C62}"/>
              </a:ext>
            </a:extLst>
          </p:cNvPr>
          <p:cNvSpPr txBox="1"/>
          <p:nvPr/>
        </p:nvSpPr>
        <p:spPr>
          <a:xfrm>
            <a:off x="7237632" y="2708756"/>
            <a:ext cx="665760" cy="276999"/>
          </a:xfrm>
          <a:prstGeom prst="rect">
            <a:avLst/>
          </a:prstGeom>
          <a:noFill/>
        </p:spPr>
        <p:txBody>
          <a:bodyPr wrap="none" rtlCol="0">
            <a:spAutoFit/>
          </a:bodyPr>
          <a:lstStyle/>
          <a:p>
            <a:r>
              <a:rPr lang="en-US" sz="1200" dirty="0"/>
              <a:t>"world"</a:t>
            </a:r>
          </a:p>
        </p:txBody>
      </p:sp>
      <p:sp>
        <p:nvSpPr>
          <p:cNvPr id="35" name="TextBox 34">
            <a:extLst>
              <a:ext uri="{FF2B5EF4-FFF2-40B4-BE49-F238E27FC236}">
                <a16:creationId xmlns:a16="http://schemas.microsoft.com/office/drawing/2014/main" id="{28BA0214-D494-D94C-B816-EF3242B4B1D9}"/>
              </a:ext>
            </a:extLst>
          </p:cNvPr>
          <p:cNvSpPr txBox="1"/>
          <p:nvPr/>
        </p:nvSpPr>
        <p:spPr>
          <a:xfrm>
            <a:off x="8115623" y="2727415"/>
            <a:ext cx="445956" cy="276999"/>
          </a:xfrm>
          <a:prstGeom prst="rect">
            <a:avLst/>
          </a:prstGeom>
          <a:noFill/>
        </p:spPr>
        <p:txBody>
          <a:bodyPr wrap="none" rtlCol="0">
            <a:spAutoFit/>
          </a:bodyPr>
          <a:lstStyle/>
          <a:p>
            <a:r>
              <a:rPr lang="en-US" sz="1200" dirty="0"/>
              <a:t>true</a:t>
            </a:r>
          </a:p>
        </p:txBody>
      </p:sp>
      <p:sp>
        <p:nvSpPr>
          <p:cNvPr id="36" name="TextBox 35">
            <a:extLst>
              <a:ext uri="{FF2B5EF4-FFF2-40B4-BE49-F238E27FC236}">
                <a16:creationId xmlns:a16="http://schemas.microsoft.com/office/drawing/2014/main" id="{86F40541-E48E-F54D-8BD7-87CAAE89AA4B}"/>
              </a:ext>
            </a:extLst>
          </p:cNvPr>
          <p:cNvSpPr txBox="1"/>
          <p:nvPr/>
        </p:nvSpPr>
        <p:spPr>
          <a:xfrm>
            <a:off x="8801273" y="2734538"/>
            <a:ext cx="317716" cy="276999"/>
          </a:xfrm>
          <a:prstGeom prst="rect">
            <a:avLst/>
          </a:prstGeom>
          <a:noFill/>
        </p:spPr>
        <p:txBody>
          <a:bodyPr wrap="none" rtlCol="0">
            <a:spAutoFit/>
          </a:bodyPr>
          <a:lstStyle/>
          <a:p>
            <a:r>
              <a:rPr lang="en-US" sz="1200" dirty="0"/>
              <a:t>'c'</a:t>
            </a:r>
          </a:p>
        </p:txBody>
      </p:sp>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memory – another analogy</a:t>
            </a:r>
          </a:p>
        </p:txBody>
      </p:sp>
      <p:sp>
        <p:nvSpPr>
          <p:cNvPr id="14" name="Content Placeholder 2">
            <a:extLst>
              <a:ext uri="{FF2B5EF4-FFF2-40B4-BE49-F238E27FC236}">
                <a16:creationId xmlns:a16="http://schemas.microsoft.com/office/drawing/2014/main" id="{7B147281-921E-3047-97E3-08C183CD5A02}"/>
              </a:ext>
            </a:extLst>
          </p:cNvPr>
          <p:cNvSpPr>
            <a:spLocks noGrp="1"/>
          </p:cNvSpPr>
          <p:nvPr>
            <p:ph idx="1"/>
          </p:nvPr>
        </p:nvSpPr>
        <p:spPr>
          <a:xfrm>
            <a:off x="173181" y="1579453"/>
            <a:ext cx="3725990" cy="4837972"/>
          </a:xfrm>
        </p:spPr>
        <p:txBody>
          <a:bodyPr>
            <a:noAutofit/>
          </a:bodyPr>
          <a:lstStyle/>
          <a:p>
            <a:r>
              <a:rPr lang="en-US" sz="1800" dirty="0"/>
              <a:t>Addresses on a spreadsheet is two dimensional… but on your computer, memory addresses are sequential, in a line</a:t>
            </a:r>
            <a:br>
              <a:rPr lang="en-US" sz="1800" dirty="0"/>
            </a:br>
            <a:endParaRPr lang="en-US" sz="1800" dirty="0"/>
          </a:p>
          <a:p>
            <a:r>
              <a:rPr lang="en-US" sz="1800" dirty="0"/>
              <a:t>You can think of your computer's memory as an </a:t>
            </a:r>
            <a:r>
              <a:rPr lang="en-US" sz="1800" i="1" dirty="0"/>
              <a:t>extremely</a:t>
            </a:r>
            <a:r>
              <a:rPr lang="en-US" sz="1800" dirty="0"/>
              <a:t> long strip of paper, divided up into little boxes. Each box can hold one piece of data (a number, a string, a boolean value, etc.) </a:t>
            </a:r>
            <a:br>
              <a:rPr lang="en-US" sz="1800" dirty="0"/>
            </a:br>
            <a:endParaRPr lang="en-US" sz="1800" dirty="0"/>
          </a:p>
          <a:p>
            <a:r>
              <a:rPr lang="en-US" sz="1800" dirty="0"/>
              <a:t>The first box is at address 0, the second is at address 1, the third box is at address 2, </a:t>
            </a:r>
            <a:br>
              <a:rPr lang="en-US" sz="1800" dirty="0"/>
            </a:br>
            <a:r>
              <a:rPr lang="en-US" sz="1800" dirty="0"/>
              <a:t>and so forth… all the way to </a:t>
            </a:r>
            <a:br>
              <a:rPr lang="en-US" sz="1800" dirty="0"/>
            </a:br>
            <a:r>
              <a:rPr lang="en-US" sz="1800" dirty="0"/>
              <a:t>address 128,000,000,000</a:t>
            </a:r>
            <a:br>
              <a:rPr lang="en-US" sz="1800" dirty="0"/>
            </a:br>
            <a:r>
              <a:rPr lang="en-US" sz="1800" dirty="0"/>
              <a:t>(or whatever, depending on how much memory your computer has.)</a:t>
            </a:r>
            <a:br>
              <a:rPr lang="en-US" sz="1800" dirty="0"/>
            </a:br>
            <a:br>
              <a:rPr lang="en-US" sz="1800" dirty="0"/>
            </a:br>
            <a:endParaRPr lang="en-US" sz="1800" dirty="0"/>
          </a:p>
        </p:txBody>
      </p:sp>
      <p:sp>
        <p:nvSpPr>
          <p:cNvPr id="9" name="TextBox 8">
            <a:extLst>
              <a:ext uri="{FF2B5EF4-FFF2-40B4-BE49-F238E27FC236}">
                <a16:creationId xmlns:a16="http://schemas.microsoft.com/office/drawing/2014/main" id="{4C787C15-52EA-6749-A0C6-D23C73358E5F}"/>
              </a:ext>
            </a:extLst>
          </p:cNvPr>
          <p:cNvSpPr txBox="1"/>
          <p:nvPr/>
        </p:nvSpPr>
        <p:spPr>
          <a:xfrm>
            <a:off x="5160897" y="3431209"/>
            <a:ext cx="301686" cy="369332"/>
          </a:xfrm>
          <a:prstGeom prst="rect">
            <a:avLst/>
          </a:prstGeom>
          <a:noFill/>
        </p:spPr>
        <p:txBody>
          <a:bodyPr wrap="none" rtlCol="0">
            <a:spAutoFit/>
          </a:bodyPr>
          <a:lstStyle/>
          <a:p>
            <a:r>
              <a:rPr lang="en-US" dirty="0"/>
              <a:t>0</a:t>
            </a:r>
          </a:p>
        </p:txBody>
      </p:sp>
      <p:sp>
        <p:nvSpPr>
          <p:cNvPr id="22" name="TextBox 21">
            <a:extLst>
              <a:ext uri="{FF2B5EF4-FFF2-40B4-BE49-F238E27FC236}">
                <a16:creationId xmlns:a16="http://schemas.microsoft.com/office/drawing/2014/main" id="{B1817DF7-773F-2647-9195-1C19091E9235}"/>
              </a:ext>
            </a:extLst>
          </p:cNvPr>
          <p:cNvSpPr txBox="1"/>
          <p:nvPr/>
        </p:nvSpPr>
        <p:spPr>
          <a:xfrm>
            <a:off x="5923685" y="3431209"/>
            <a:ext cx="301686" cy="369332"/>
          </a:xfrm>
          <a:prstGeom prst="rect">
            <a:avLst/>
          </a:prstGeom>
          <a:noFill/>
        </p:spPr>
        <p:txBody>
          <a:bodyPr wrap="square" rtlCol="0">
            <a:spAutoFit/>
          </a:bodyPr>
          <a:lstStyle/>
          <a:p>
            <a:r>
              <a:rPr lang="en-US" dirty="0"/>
              <a:t>1</a:t>
            </a:r>
          </a:p>
        </p:txBody>
      </p:sp>
      <p:sp>
        <p:nvSpPr>
          <p:cNvPr id="23" name="TextBox 22">
            <a:extLst>
              <a:ext uri="{FF2B5EF4-FFF2-40B4-BE49-F238E27FC236}">
                <a16:creationId xmlns:a16="http://schemas.microsoft.com/office/drawing/2014/main" id="{D589732C-F994-0247-A653-757F4315D177}"/>
              </a:ext>
            </a:extLst>
          </p:cNvPr>
          <p:cNvSpPr txBox="1"/>
          <p:nvPr/>
        </p:nvSpPr>
        <p:spPr>
          <a:xfrm>
            <a:off x="6694833" y="3431209"/>
            <a:ext cx="301686" cy="369332"/>
          </a:xfrm>
          <a:prstGeom prst="rect">
            <a:avLst/>
          </a:prstGeom>
          <a:noFill/>
        </p:spPr>
        <p:txBody>
          <a:bodyPr wrap="square" rtlCol="0">
            <a:spAutoFit/>
          </a:bodyPr>
          <a:lstStyle/>
          <a:p>
            <a:r>
              <a:rPr lang="en-US" dirty="0"/>
              <a:t>2</a:t>
            </a:r>
          </a:p>
        </p:txBody>
      </p:sp>
      <p:sp>
        <p:nvSpPr>
          <p:cNvPr id="24" name="TextBox 23">
            <a:extLst>
              <a:ext uri="{FF2B5EF4-FFF2-40B4-BE49-F238E27FC236}">
                <a16:creationId xmlns:a16="http://schemas.microsoft.com/office/drawing/2014/main" id="{687711E0-0955-934A-98E0-F89A04522FB8}"/>
              </a:ext>
            </a:extLst>
          </p:cNvPr>
          <p:cNvSpPr txBox="1"/>
          <p:nvPr/>
        </p:nvSpPr>
        <p:spPr>
          <a:xfrm>
            <a:off x="7419669" y="3431209"/>
            <a:ext cx="301686" cy="369332"/>
          </a:xfrm>
          <a:prstGeom prst="rect">
            <a:avLst/>
          </a:prstGeom>
          <a:noFill/>
        </p:spPr>
        <p:txBody>
          <a:bodyPr wrap="square" rtlCol="0">
            <a:spAutoFit/>
          </a:bodyPr>
          <a:lstStyle/>
          <a:p>
            <a:r>
              <a:rPr lang="en-US" dirty="0"/>
              <a:t>3</a:t>
            </a:r>
          </a:p>
        </p:txBody>
      </p:sp>
      <p:sp>
        <p:nvSpPr>
          <p:cNvPr id="25" name="TextBox 24">
            <a:extLst>
              <a:ext uri="{FF2B5EF4-FFF2-40B4-BE49-F238E27FC236}">
                <a16:creationId xmlns:a16="http://schemas.microsoft.com/office/drawing/2014/main" id="{D45C8889-142A-F34C-BA72-9A940E737FCB}"/>
              </a:ext>
            </a:extLst>
          </p:cNvPr>
          <p:cNvSpPr txBox="1"/>
          <p:nvPr/>
        </p:nvSpPr>
        <p:spPr>
          <a:xfrm>
            <a:off x="8144505" y="3431209"/>
            <a:ext cx="301686" cy="369332"/>
          </a:xfrm>
          <a:prstGeom prst="rect">
            <a:avLst/>
          </a:prstGeom>
          <a:noFill/>
        </p:spPr>
        <p:txBody>
          <a:bodyPr wrap="square" rtlCol="0">
            <a:spAutoFit/>
          </a:bodyPr>
          <a:lstStyle/>
          <a:p>
            <a:r>
              <a:rPr lang="en-US" dirty="0"/>
              <a:t>4</a:t>
            </a:r>
          </a:p>
        </p:txBody>
      </p:sp>
      <p:sp>
        <p:nvSpPr>
          <p:cNvPr id="26" name="TextBox 25">
            <a:extLst>
              <a:ext uri="{FF2B5EF4-FFF2-40B4-BE49-F238E27FC236}">
                <a16:creationId xmlns:a16="http://schemas.microsoft.com/office/drawing/2014/main" id="{58B00257-5BCD-4745-876E-82FE88477805}"/>
              </a:ext>
            </a:extLst>
          </p:cNvPr>
          <p:cNvSpPr txBox="1"/>
          <p:nvPr/>
        </p:nvSpPr>
        <p:spPr>
          <a:xfrm>
            <a:off x="8829247" y="3431209"/>
            <a:ext cx="301686" cy="369332"/>
          </a:xfrm>
          <a:prstGeom prst="rect">
            <a:avLst/>
          </a:prstGeom>
          <a:noFill/>
        </p:spPr>
        <p:txBody>
          <a:bodyPr wrap="square" rtlCol="0">
            <a:spAutoFit/>
          </a:bodyPr>
          <a:lstStyle/>
          <a:p>
            <a:r>
              <a:rPr lang="en-US" dirty="0"/>
              <a:t>5</a:t>
            </a:r>
          </a:p>
        </p:txBody>
      </p:sp>
      <p:sp>
        <p:nvSpPr>
          <p:cNvPr id="27" name="TextBox 26">
            <a:extLst>
              <a:ext uri="{FF2B5EF4-FFF2-40B4-BE49-F238E27FC236}">
                <a16:creationId xmlns:a16="http://schemas.microsoft.com/office/drawing/2014/main" id="{070EEC1A-EC5C-5E47-BBDC-25570310964A}"/>
              </a:ext>
            </a:extLst>
          </p:cNvPr>
          <p:cNvSpPr txBox="1"/>
          <p:nvPr/>
        </p:nvSpPr>
        <p:spPr>
          <a:xfrm>
            <a:off x="9586668" y="3430219"/>
            <a:ext cx="301686" cy="369332"/>
          </a:xfrm>
          <a:prstGeom prst="rect">
            <a:avLst/>
          </a:prstGeom>
          <a:noFill/>
        </p:spPr>
        <p:txBody>
          <a:bodyPr wrap="square" rtlCol="0">
            <a:spAutoFit/>
          </a:bodyPr>
          <a:lstStyle/>
          <a:p>
            <a:r>
              <a:rPr lang="en-US" dirty="0"/>
              <a:t>6</a:t>
            </a:r>
          </a:p>
        </p:txBody>
      </p:sp>
      <p:sp>
        <p:nvSpPr>
          <p:cNvPr id="28" name="TextBox 27">
            <a:extLst>
              <a:ext uri="{FF2B5EF4-FFF2-40B4-BE49-F238E27FC236}">
                <a16:creationId xmlns:a16="http://schemas.microsoft.com/office/drawing/2014/main" id="{2BA1D67F-748D-864C-9EC6-2165838F3179}"/>
              </a:ext>
            </a:extLst>
          </p:cNvPr>
          <p:cNvSpPr txBox="1"/>
          <p:nvPr/>
        </p:nvSpPr>
        <p:spPr>
          <a:xfrm>
            <a:off x="10206973" y="3430219"/>
            <a:ext cx="301686" cy="369332"/>
          </a:xfrm>
          <a:prstGeom prst="rect">
            <a:avLst/>
          </a:prstGeom>
          <a:noFill/>
        </p:spPr>
        <p:txBody>
          <a:bodyPr wrap="square" rtlCol="0">
            <a:spAutoFit/>
          </a:bodyPr>
          <a:lstStyle/>
          <a:p>
            <a:r>
              <a:rPr lang="en-US" dirty="0"/>
              <a:t>7</a:t>
            </a:r>
          </a:p>
        </p:txBody>
      </p:sp>
      <p:sp>
        <p:nvSpPr>
          <p:cNvPr id="29" name="TextBox 28">
            <a:extLst>
              <a:ext uri="{FF2B5EF4-FFF2-40B4-BE49-F238E27FC236}">
                <a16:creationId xmlns:a16="http://schemas.microsoft.com/office/drawing/2014/main" id="{EE8E038E-F409-CF4F-A864-B93A211ED449}"/>
              </a:ext>
            </a:extLst>
          </p:cNvPr>
          <p:cNvSpPr txBox="1"/>
          <p:nvPr/>
        </p:nvSpPr>
        <p:spPr>
          <a:xfrm>
            <a:off x="10818328" y="3430219"/>
            <a:ext cx="343364" cy="369332"/>
          </a:xfrm>
          <a:prstGeom prst="rect">
            <a:avLst/>
          </a:prstGeom>
          <a:noFill/>
        </p:spPr>
        <p:txBody>
          <a:bodyPr wrap="none" rtlCol="0">
            <a:spAutoFit/>
          </a:bodyPr>
          <a:lstStyle/>
          <a:p>
            <a:r>
              <a:rPr lang="en-US" dirty="0"/>
              <a:t>…</a:t>
            </a:r>
          </a:p>
        </p:txBody>
      </p:sp>
      <p:sp>
        <p:nvSpPr>
          <p:cNvPr id="30" name="TextBox 29">
            <a:extLst>
              <a:ext uri="{FF2B5EF4-FFF2-40B4-BE49-F238E27FC236}">
                <a16:creationId xmlns:a16="http://schemas.microsoft.com/office/drawing/2014/main" id="{47178FB3-57C0-6A42-AFF8-BB494C36B881}"/>
              </a:ext>
            </a:extLst>
          </p:cNvPr>
          <p:cNvSpPr txBox="1"/>
          <p:nvPr/>
        </p:nvSpPr>
        <p:spPr>
          <a:xfrm>
            <a:off x="3989324" y="3430219"/>
            <a:ext cx="973536" cy="369332"/>
          </a:xfrm>
          <a:prstGeom prst="rect">
            <a:avLst/>
          </a:prstGeom>
          <a:noFill/>
        </p:spPr>
        <p:txBody>
          <a:bodyPr wrap="none" rtlCol="0">
            <a:spAutoFit/>
          </a:bodyPr>
          <a:lstStyle/>
          <a:p>
            <a:r>
              <a:rPr lang="en-US" dirty="0"/>
              <a:t>address:</a:t>
            </a:r>
          </a:p>
        </p:txBody>
      </p:sp>
      <p:sp>
        <p:nvSpPr>
          <p:cNvPr id="40" name="TextBox 39">
            <a:extLst>
              <a:ext uri="{FF2B5EF4-FFF2-40B4-BE49-F238E27FC236}">
                <a16:creationId xmlns:a16="http://schemas.microsoft.com/office/drawing/2014/main" id="{1BE12B5F-7E5B-784C-BB05-B1BB3974289B}"/>
              </a:ext>
            </a:extLst>
          </p:cNvPr>
          <p:cNvSpPr txBox="1"/>
          <p:nvPr/>
        </p:nvSpPr>
        <p:spPr>
          <a:xfrm>
            <a:off x="8829247" y="5771094"/>
            <a:ext cx="2689204" cy="646331"/>
          </a:xfrm>
          <a:prstGeom prst="rect">
            <a:avLst/>
          </a:prstGeom>
          <a:noFill/>
        </p:spPr>
        <p:txBody>
          <a:bodyPr wrap="square" rtlCol="0">
            <a:spAutoFit/>
          </a:bodyPr>
          <a:lstStyle/>
          <a:p>
            <a:r>
              <a:rPr lang="en-US" sz="1200" dirty="0"/>
              <a:t>* this is a simplification for the purpose of this class. if you want to know the details, take systems programming</a:t>
            </a:r>
          </a:p>
        </p:txBody>
      </p:sp>
      <p:sp>
        <p:nvSpPr>
          <p:cNvPr id="41" name="TextBox 40">
            <a:extLst>
              <a:ext uri="{FF2B5EF4-FFF2-40B4-BE49-F238E27FC236}">
                <a16:creationId xmlns:a16="http://schemas.microsoft.com/office/drawing/2014/main" id="{4E3D7E68-EAE1-ED42-8264-FA8F5366EED1}"/>
              </a:ext>
            </a:extLst>
          </p:cNvPr>
          <p:cNvSpPr txBox="1"/>
          <p:nvPr/>
        </p:nvSpPr>
        <p:spPr>
          <a:xfrm>
            <a:off x="9299722" y="2549871"/>
            <a:ext cx="1027290" cy="646331"/>
          </a:xfrm>
          <a:prstGeom prst="rect">
            <a:avLst/>
          </a:prstGeom>
          <a:noFill/>
        </p:spPr>
        <p:txBody>
          <a:bodyPr wrap="square" rtlCol="0">
            <a:spAutoFit/>
          </a:bodyPr>
          <a:lstStyle/>
          <a:p>
            <a:endParaRPr lang="ja-JP" altLang="en-US" sz="1200"/>
          </a:p>
          <a:p>
            <a:r>
              <a:rPr lang="en-US" sz="1100" dirty="0"/>
              <a:t>「</a:t>
            </a:r>
            <a:r>
              <a:rPr lang="ja-JP" altLang="en-US" sz="1100"/>
              <a:t>今日は</a:t>
            </a:r>
            <a:r>
              <a:rPr lang="en-US" sz="1100" dirty="0"/>
              <a:t>」</a:t>
            </a:r>
            <a:endParaRPr lang="ja-JP" altLang="en-US" sz="1100"/>
          </a:p>
          <a:p>
            <a:endParaRPr lang="en-US" sz="1200" dirty="0"/>
          </a:p>
        </p:txBody>
      </p:sp>
    </p:spTree>
    <p:extLst>
      <p:ext uri="{BB962C8B-B14F-4D97-AF65-F5344CB8AC3E}">
        <p14:creationId xmlns:p14="http://schemas.microsoft.com/office/powerpoint/2010/main" val="935095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FROM BITS TO BOXES</a:t>
            </a:r>
          </a:p>
        </p:txBody>
      </p:sp>
      <p:pic>
        <p:nvPicPr>
          <p:cNvPr id="42" name="Picture 6" descr="Related image">
            <a:extLst>
              <a:ext uri="{FF2B5EF4-FFF2-40B4-BE49-F238E27FC236}">
                <a16:creationId xmlns:a16="http://schemas.microsoft.com/office/drawing/2014/main" id="{A24696A8-F3AD-5C4D-ACD4-CD268AB0F7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1687" y="1638523"/>
            <a:ext cx="2912339" cy="2089603"/>
          </a:xfrm>
          <a:prstGeom prst="rect">
            <a:avLst/>
          </a:prstGeom>
          <a:noFill/>
          <a:extLst>
            <a:ext uri="{909E8E84-426E-40DD-AFC4-6F175D3DCCD1}">
              <a14:hiddenFill xmlns:a14="http://schemas.microsoft.com/office/drawing/2010/main">
                <a:solidFill>
                  <a:srgbClr val="FFFFFF"/>
                </a:solidFill>
              </a14:hiddenFill>
            </a:ext>
          </a:extLst>
        </p:spPr>
      </p:pic>
      <p:sp>
        <p:nvSpPr>
          <p:cNvPr id="43" name="Frame 42">
            <a:extLst>
              <a:ext uri="{FF2B5EF4-FFF2-40B4-BE49-F238E27FC236}">
                <a16:creationId xmlns:a16="http://schemas.microsoft.com/office/drawing/2014/main" id="{CD84FBB5-34E1-F04B-A974-4FCE6B3CE745}"/>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9D384227-57F5-194F-BBEC-3ED06F13D572}"/>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DB10B229-822E-B148-A9B3-DC66CAF6906C}"/>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18EF8DA0-3167-604E-907B-227822748EC9}"/>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C95294C5-935D-3447-A44E-1BEB80197DE4}"/>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E703A6D8-4B4F-064C-81A1-A60CC121C4E1}"/>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rame 48">
            <a:extLst>
              <a:ext uri="{FF2B5EF4-FFF2-40B4-BE49-F238E27FC236}">
                <a16:creationId xmlns:a16="http://schemas.microsoft.com/office/drawing/2014/main" id="{981D9980-FE93-1347-A920-0F6DBCDCB183}"/>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Frame 49">
            <a:extLst>
              <a:ext uri="{FF2B5EF4-FFF2-40B4-BE49-F238E27FC236}">
                <a16:creationId xmlns:a16="http://schemas.microsoft.com/office/drawing/2014/main" id="{EF51455E-B692-A640-ABB9-0543BD18855E}"/>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D238350E-9F9E-BA40-BB06-0018CFD076FA}"/>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3" name="Rectangle 52">
            <a:extLst>
              <a:ext uri="{FF2B5EF4-FFF2-40B4-BE49-F238E27FC236}">
                <a16:creationId xmlns:a16="http://schemas.microsoft.com/office/drawing/2014/main" id="{4C2E301B-8C63-9C45-A282-6103160A3196}"/>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8008C20-E1D1-3C4A-B9A3-08B7A40906DC}"/>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54">
            <a:extLst>
              <a:ext uri="{FF2B5EF4-FFF2-40B4-BE49-F238E27FC236}">
                <a16:creationId xmlns:a16="http://schemas.microsoft.com/office/drawing/2014/main" id="{915326DB-E8C4-7843-B9D1-4359BF5B0AA0}"/>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853F22A8-0313-4441-A94E-AD13E11BE09B}"/>
              </a:ext>
            </a:extLst>
          </p:cNvPr>
          <p:cNvSpPr txBox="1"/>
          <p:nvPr/>
        </p:nvSpPr>
        <p:spPr>
          <a:xfrm>
            <a:off x="5116359" y="4999512"/>
            <a:ext cx="535724" cy="369332"/>
          </a:xfrm>
          <a:prstGeom prst="rect">
            <a:avLst/>
          </a:prstGeom>
          <a:noFill/>
        </p:spPr>
        <p:txBody>
          <a:bodyPr wrap="none" rtlCol="0">
            <a:spAutoFit/>
          </a:bodyPr>
          <a:lstStyle/>
          <a:p>
            <a:r>
              <a:rPr lang="en-US" dirty="0"/>
              <a:t>137</a:t>
            </a:r>
          </a:p>
        </p:txBody>
      </p:sp>
      <p:sp>
        <p:nvSpPr>
          <p:cNvPr id="57" name="TextBox 56">
            <a:extLst>
              <a:ext uri="{FF2B5EF4-FFF2-40B4-BE49-F238E27FC236}">
                <a16:creationId xmlns:a16="http://schemas.microsoft.com/office/drawing/2014/main" id="{B2C14A1B-1B40-DD40-9BE4-D01DCDCE15C8}"/>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8" name="TextBox 57">
            <a:extLst>
              <a:ext uri="{FF2B5EF4-FFF2-40B4-BE49-F238E27FC236}">
                <a16:creationId xmlns:a16="http://schemas.microsoft.com/office/drawing/2014/main" id="{6D4AE863-0811-5F45-9BDA-74D6864B5D9F}"/>
              </a:ext>
            </a:extLst>
          </p:cNvPr>
          <p:cNvSpPr txBox="1"/>
          <p:nvPr/>
        </p:nvSpPr>
        <p:spPr>
          <a:xfrm>
            <a:off x="6570655" y="5050431"/>
            <a:ext cx="615874" cy="276999"/>
          </a:xfrm>
          <a:prstGeom prst="rect">
            <a:avLst/>
          </a:prstGeom>
          <a:noFill/>
        </p:spPr>
        <p:txBody>
          <a:bodyPr wrap="none" rtlCol="0">
            <a:spAutoFit/>
          </a:bodyPr>
          <a:lstStyle/>
          <a:p>
            <a:r>
              <a:rPr lang="en-US" sz="1200" dirty="0"/>
              <a:t>"hello"</a:t>
            </a:r>
          </a:p>
        </p:txBody>
      </p:sp>
      <p:sp>
        <p:nvSpPr>
          <p:cNvPr id="59" name="TextBox 58">
            <a:extLst>
              <a:ext uri="{FF2B5EF4-FFF2-40B4-BE49-F238E27FC236}">
                <a16:creationId xmlns:a16="http://schemas.microsoft.com/office/drawing/2014/main" id="{B80A70F2-0715-8B4A-903B-25E7D1FEED59}"/>
              </a:ext>
            </a:extLst>
          </p:cNvPr>
          <p:cNvSpPr txBox="1"/>
          <p:nvPr/>
        </p:nvSpPr>
        <p:spPr>
          <a:xfrm>
            <a:off x="7266793" y="5036509"/>
            <a:ext cx="665760" cy="276999"/>
          </a:xfrm>
          <a:prstGeom prst="rect">
            <a:avLst/>
          </a:prstGeom>
          <a:noFill/>
        </p:spPr>
        <p:txBody>
          <a:bodyPr wrap="none" rtlCol="0">
            <a:spAutoFit/>
          </a:bodyPr>
          <a:lstStyle/>
          <a:p>
            <a:r>
              <a:rPr lang="en-US" sz="1200" dirty="0"/>
              <a:t>"world"</a:t>
            </a:r>
          </a:p>
        </p:txBody>
      </p:sp>
      <p:sp>
        <p:nvSpPr>
          <p:cNvPr id="60" name="TextBox 59">
            <a:extLst>
              <a:ext uri="{FF2B5EF4-FFF2-40B4-BE49-F238E27FC236}">
                <a16:creationId xmlns:a16="http://schemas.microsoft.com/office/drawing/2014/main" id="{3DD84BAA-6AEA-804F-A87D-71A2586C1E5C}"/>
              </a:ext>
            </a:extLst>
          </p:cNvPr>
          <p:cNvSpPr txBox="1"/>
          <p:nvPr/>
        </p:nvSpPr>
        <p:spPr>
          <a:xfrm>
            <a:off x="8144784" y="5055168"/>
            <a:ext cx="445956" cy="276999"/>
          </a:xfrm>
          <a:prstGeom prst="rect">
            <a:avLst/>
          </a:prstGeom>
          <a:noFill/>
        </p:spPr>
        <p:txBody>
          <a:bodyPr wrap="none" rtlCol="0">
            <a:spAutoFit/>
          </a:bodyPr>
          <a:lstStyle/>
          <a:p>
            <a:r>
              <a:rPr lang="en-US" sz="1200" dirty="0"/>
              <a:t>true</a:t>
            </a:r>
          </a:p>
        </p:txBody>
      </p:sp>
      <p:sp>
        <p:nvSpPr>
          <p:cNvPr id="61" name="TextBox 60">
            <a:extLst>
              <a:ext uri="{FF2B5EF4-FFF2-40B4-BE49-F238E27FC236}">
                <a16:creationId xmlns:a16="http://schemas.microsoft.com/office/drawing/2014/main" id="{B623A9BC-B1DB-9546-B528-2D2E7E807F21}"/>
              </a:ext>
            </a:extLst>
          </p:cNvPr>
          <p:cNvSpPr txBox="1"/>
          <p:nvPr/>
        </p:nvSpPr>
        <p:spPr>
          <a:xfrm>
            <a:off x="8743546" y="5058316"/>
            <a:ext cx="475002" cy="276999"/>
          </a:xfrm>
          <a:prstGeom prst="rect">
            <a:avLst/>
          </a:prstGeom>
          <a:noFill/>
        </p:spPr>
        <p:txBody>
          <a:bodyPr wrap="none" rtlCol="0">
            <a:spAutoFit/>
          </a:bodyPr>
          <a:lstStyle/>
          <a:p>
            <a:r>
              <a:rPr lang="en-US" sz="1200" dirty="0"/>
              <a:t>false</a:t>
            </a:r>
          </a:p>
        </p:txBody>
      </p:sp>
      <p:sp>
        <p:nvSpPr>
          <p:cNvPr id="63" name="TextBox 62">
            <a:extLst>
              <a:ext uri="{FF2B5EF4-FFF2-40B4-BE49-F238E27FC236}">
                <a16:creationId xmlns:a16="http://schemas.microsoft.com/office/drawing/2014/main" id="{738247DA-2AA0-9B40-BA70-54B67EA594A4}"/>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4" name="TextBox 63">
            <a:extLst>
              <a:ext uri="{FF2B5EF4-FFF2-40B4-BE49-F238E27FC236}">
                <a16:creationId xmlns:a16="http://schemas.microsoft.com/office/drawing/2014/main" id="{44394FC7-A029-E445-801B-2DAD3C05553C}"/>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5" name="TextBox 64">
            <a:extLst>
              <a:ext uri="{FF2B5EF4-FFF2-40B4-BE49-F238E27FC236}">
                <a16:creationId xmlns:a16="http://schemas.microsoft.com/office/drawing/2014/main" id="{29102807-A9DC-AC4C-8B37-F283F964C7E0}"/>
              </a:ext>
            </a:extLst>
          </p:cNvPr>
          <p:cNvSpPr txBox="1"/>
          <p:nvPr/>
        </p:nvSpPr>
        <p:spPr>
          <a:xfrm>
            <a:off x="6723994" y="5758962"/>
            <a:ext cx="301686" cy="369332"/>
          </a:xfrm>
          <a:prstGeom prst="rect">
            <a:avLst/>
          </a:prstGeom>
          <a:noFill/>
        </p:spPr>
        <p:txBody>
          <a:bodyPr wrap="square" rtlCol="0">
            <a:spAutoFit/>
          </a:bodyPr>
          <a:lstStyle/>
          <a:p>
            <a:r>
              <a:rPr lang="en-US" dirty="0"/>
              <a:t>2</a:t>
            </a:r>
          </a:p>
        </p:txBody>
      </p:sp>
      <p:sp>
        <p:nvSpPr>
          <p:cNvPr id="66" name="TextBox 65">
            <a:extLst>
              <a:ext uri="{FF2B5EF4-FFF2-40B4-BE49-F238E27FC236}">
                <a16:creationId xmlns:a16="http://schemas.microsoft.com/office/drawing/2014/main" id="{3C7F322D-90EE-B443-9BA5-07F2590A2448}"/>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7" name="TextBox 66">
            <a:extLst>
              <a:ext uri="{FF2B5EF4-FFF2-40B4-BE49-F238E27FC236}">
                <a16:creationId xmlns:a16="http://schemas.microsoft.com/office/drawing/2014/main" id="{33D271DC-4812-E64A-9B9F-B0B41FB5B5B7}"/>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8" name="TextBox 67">
            <a:extLst>
              <a:ext uri="{FF2B5EF4-FFF2-40B4-BE49-F238E27FC236}">
                <a16:creationId xmlns:a16="http://schemas.microsoft.com/office/drawing/2014/main" id="{0E3AA5C1-5A04-3D41-A5C4-C691E353E7E8}"/>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9" name="TextBox 68">
            <a:extLst>
              <a:ext uri="{FF2B5EF4-FFF2-40B4-BE49-F238E27FC236}">
                <a16:creationId xmlns:a16="http://schemas.microsoft.com/office/drawing/2014/main" id="{BBDE7352-3F88-4348-9946-D5C1396F8782}"/>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70" name="TextBox 69">
            <a:extLst>
              <a:ext uri="{FF2B5EF4-FFF2-40B4-BE49-F238E27FC236}">
                <a16:creationId xmlns:a16="http://schemas.microsoft.com/office/drawing/2014/main" id="{BFB31A60-04EF-5249-9405-2FA880ECF30F}"/>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1" name="TextBox 70">
            <a:extLst>
              <a:ext uri="{FF2B5EF4-FFF2-40B4-BE49-F238E27FC236}">
                <a16:creationId xmlns:a16="http://schemas.microsoft.com/office/drawing/2014/main" id="{B0F4C6DA-9038-7B4A-8024-9C10616D7EC8}"/>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73" name="TextBox 72">
            <a:extLst>
              <a:ext uri="{FF2B5EF4-FFF2-40B4-BE49-F238E27FC236}">
                <a16:creationId xmlns:a16="http://schemas.microsoft.com/office/drawing/2014/main" id="{5E916914-B4A2-7C44-841F-573389DF2B16}"/>
              </a:ext>
            </a:extLst>
          </p:cNvPr>
          <p:cNvSpPr txBox="1"/>
          <p:nvPr/>
        </p:nvSpPr>
        <p:spPr>
          <a:xfrm>
            <a:off x="3062351" y="1317471"/>
            <a:ext cx="2589732" cy="2862322"/>
          </a:xfrm>
          <a:prstGeom prst="rect">
            <a:avLst/>
          </a:prstGeom>
          <a:noFill/>
        </p:spPr>
        <p:txBody>
          <a:bodyPr wrap="square" rtlCol="0">
            <a:spAutoFit/>
          </a:bodyPr>
          <a:lstStyle/>
          <a:p>
            <a:r>
              <a:rPr lang="en-US" dirty="0"/>
              <a:t>Now you may be thinking:</a:t>
            </a:r>
          </a:p>
          <a:p>
            <a:endParaRPr lang="en-US" dirty="0"/>
          </a:p>
          <a:p>
            <a:pPr marL="285750" indent="-285750">
              <a:buFont typeface="Arial" panose="020B0604020202020204" pitchFamily="34" charset="0"/>
              <a:buChar char="•"/>
            </a:pPr>
            <a:r>
              <a:rPr lang="en-US" dirty="0"/>
              <a:t>Bits are 0s and 1s</a:t>
            </a:r>
            <a:br>
              <a:rPr lang="en-US" dirty="0"/>
            </a:br>
            <a:endParaRPr lang="en-US" dirty="0"/>
          </a:p>
          <a:p>
            <a:pPr marL="285750" indent="-285750">
              <a:buFont typeface="Arial" panose="020B0604020202020204" pitchFamily="34" charset="0"/>
              <a:buChar char="•"/>
            </a:pPr>
            <a:r>
              <a:rPr lang="en-US" dirty="0"/>
              <a:t>Boxes are numbers, letters, strings of letters… how do you turn 0s and 1s into numbers and words?</a:t>
            </a:r>
          </a:p>
        </p:txBody>
      </p:sp>
      <p:sp>
        <p:nvSpPr>
          <p:cNvPr id="77" name="TextBox 76">
            <a:extLst>
              <a:ext uri="{FF2B5EF4-FFF2-40B4-BE49-F238E27FC236}">
                <a16:creationId xmlns:a16="http://schemas.microsoft.com/office/drawing/2014/main" id="{DE834F58-6193-4949-99B2-44CEB34C35D4}"/>
              </a:ext>
            </a:extLst>
          </p:cNvPr>
          <p:cNvSpPr txBox="1"/>
          <p:nvPr/>
        </p:nvSpPr>
        <p:spPr>
          <a:xfrm>
            <a:off x="9342081" y="4894376"/>
            <a:ext cx="1027290" cy="646331"/>
          </a:xfrm>
          <a:prstGeom prst="rect">
            <a:avLst/>
          </a:prstGeom>
          <a:noFill/>
        </p:spPr>
        <p:txBody>
          <a:bodyPr wrap="square" rtlCol="0">
            <a:spAutoFit/>
          </a:bodyPr>
          <a:lstStyle/>
          <a:p>
            <a:endParaRPr lang="ja-JP" altLang="en-US" sz="1200"/>
          </a:p>
          <a:p>
            <a:r>
              <a:rPr lang="en-US" sz="1100" dirty="0"/>
              <a:t>「</a:t>
            </a:r>
            <a:r>
              <a:rPr lang="ja-JP" altLang="en-US" sz="1100"/>
              <a:t>今日は</a:t>
            </a:r>
            <a:r>
              <a:rPr lang="en-US" sz="1100" dirty="0"/>
              <a:t>」</a:t>
            </a:r>
            <a:endParaRPr lang="ja-JP" altLang="en-US" sz="1100"/>
          </a:p>
          <a:p>
            <a:endParaRPr lang="en-US" sz="1200" dirty="0"/>
          </a:p>
        </p:txBody>
      </p:sp>
    </p:spTree>
    <p:extLst>
      <p:ext uri="{BB962C8B-B14F-4D97-AF65-F5344CB8AC3E}">
        <p14:creationId xmlns:p14="http://schemas.microsoft.com/office/powerpoint/2010/main" val="1764405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HOW BINARY WORKS</a:t>
            </a:r>
          </a:p>
        </p:txBody>
      </p:sp>
      <p:sp>
        <p:nvSpPr>
          <p:cNvPr id="43" name="Frame 42">
            <a:extLst>
              <a:ext uri="{FF2B5EF4-FFF2-40B4-BE49-F238E27FC236}">
                <a16:creationId xmlns:a16="http://schemas.microsoft.com/office/drawing/2014/main" id="{CD84FBB5-34E1-F04B-A974-4FCE6B3CE745}"/>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9D384227-57F5-194F-BBEC-3ED06F13D572}"/>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DB10B229-822E-B148-A9B3-DC66CAF6906C}"/>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18EF8DA0-3167-604E-907B-227822748EC9}"/>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C95294C5-935D-3447-A44E-1BEB80197DE4}"/>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E703A6D8-4B4F-064C-81A1-A60CC121C4E1}"/>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rame 48">
            <a:extLst>
              <a:ext uri="{FF2B5EF4-FFF2-40B4-BE49-F238E27FC236}">
                <a16:creationId xmlns:a16="http://schemas.microsoft.com/office/drawing/2014/main" id="{981D9980-FE93-1347-A920-0F6DBCDCB183}"/>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Frame 49">
            <a:extLst>
              <a:ext uri="{FF2B5EF4-FFF2-40B4-BE49-F238E27FC236}">
                <a16:creationId xmlns:a16="http://schemas.microsoft.com/office/drawing/2014/main" id="{EF51455E-B692-A640-ABB9-0543BD18855E}"/>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D238350E-9F9E-BA40-BB06-0018CFD076FA}"/>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3" name="Rectangle 52">
            <a:extLst>
              <a:ext uri="{FF2B5EF4-FFF2-40B4-BE49-F238E27FC236}">
                <a16:creationId xmlns:a16="http://schemas.microsoft.com/office/drawing/2014/main" id="{4C2E301B-8C63-9C45-A282-6103160A3196}"/>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8008C20-E1D1-3C4A-B9A3-08B7A40906DC}"/>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54">
            <a:extLst>
              <a:ext uri="{FF2B5EF4-FFF2-40B4-BE49-F238E27FC236}">
                <a16:creationId xmlns:a16="http://schemas.microsoft.com/office/drawing/2014/main" id="{915326DB-E8C4-7843-B9D1-4359BF5B0AA0}"/>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853F22A8-0313-4441-A94E-AD13E11BE09B}"/>
              </a:ext>
            </a:extLst>
          </p:cNvPr>
          <p:cNvSpPr txBox="1"/>
          <p:nvPr/>
        </p:nvSpPr>
        <p:spPr>
          <a:xfrm>
            <a:off x="5116359" y="4999512"/>
            <a:ext cx="535724" cy="369332"/>
          </a:xfrm>
          <a:prstGeom prst="rect">
            <a:avLst/>
          </a:prstGeom>
          <a:noFill/>
        </p:spPr>
        <p:txBody>
          <a:bodyPr wrap="none" rtlCol="0">
            <a:spAutoFit/>
          </a:bodyPr>
          <a:lstStyle/>
          <a:p>
            <a:r>
              <a:rPr lang="en-US" dirty="0"/>
              <a:t>137</a:t>
            </a:r>
          </a:p>
        </p:txBody>
      </p:sp>
      <p:sp>
        <p:nvSpPr>
          <p:cNvPr id="57" name="TextBox 56">
            <a:extLst>
              <a:ext uri="{FF2B5EF4-FFF2-40B4-BE49-F238E27FC236}">
                <a16:creationId xmlns:a16="http://schemas.microsoft.com/office/drawing/2014/main" id="{B2C14A1B-1B40-DD40-9BE4-D01DCDCE15C8}"/>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8" name="TextBox 57">
            <a:extLst>
              <a:ext uri="{FF2B5EF4-FFF2-40B4-BE49-F238E27FC236}">
                <a16:creationId xmlns:a16="http://schemas.microsoft.com/office/drawing/2014/main" id="{6D4AE863-0811-5F45-9BDA-74D6864B5D9F}"/>
              </a:ext>
            </a:extLst>
          </p:cNvPr>
          <p:cNvSpPr txBox="1"/>
          <p:nvPr/>
        </p:nvSpPr>
        <p:spPr>
          <a:xfrm>
            <a:off x="6570655" y="5050431"/>
            <a:ext cx="615874" cy="276999"/>
          </a:xfrm>
          <a:prstGeom prst="rect">
            <a:avLst/>
          </a:prstGeom>
          <a:noFill/>
        </p:spPr>
        <p:txBody>
          <a:bodyPr wrap="none" rtlCol="0">
            <a:spAutoFit/>
          </a:bodyPr>
          <a:lstStyle/>
          <a:p>
            <a:r>
              <a:rPr lang="en-US" sz="1200" dirty="0"/>
              <a:t>"hello"</a:t>
            </a:r>
          </a:p>
        </p:txBody>
      </p:sp>
      <p:sp>
        <p:nvSpPr>
          <p:cNvPr id="59" name="TextBox 58">
            <a:extLst>
              <a:ext uri="{FF2B5EF4-FFF2-40B4-BE49-F238E27FC236}">
                <a16:creationId xmlns:a16="http://schemas.microsoft.com/office/drawing/2014/main" id="{B80A70F2-0715-8B4A-903B-25E7D1FEED59}"/>
              </a:ext>
            </a:extLst>
          </p:cNvPr>
          <p:cNvSpPr txBox="1"/>
          <p:nvPr/>
        </p:nvSpPr>
        <p:spPr>
          <a:xfrm>
            <a:off x="7266793" y="5036509"/>
            <a:ext cx="665760" cy="276999"/>
          </a:xfrm>
          <a:prstGeom prst="rect">
            <a:avLst/>
          </a:prstGeom>
          <a:noFill/>
        </p:spPr>
        <p:txBody>
          <a:bodyPr wrap="none" rtlCol="0">
            <a:spAutoFit/>
          </a:bodyPr>
          <a:lstStyle/>
          <a:p>
            <a:r>
              <a:rPr lang="en-US" sz="1200" dirty="0"/>
              <a:t>"world"</a:t>
            </a:r>
          </a:p>
        </p:txBody>
      </p:sp>
      <p:sp>
        <p:nvSpPr>
          <p:cNvPr id="60" name="TextBox 59">
            <a:extLst>
              <a:ext uri="{FF2B5EF4-FFF2-40B4-BE49-F238E27FC236}">
                <a16:creationId xmlns:a16="http://schemas.microsoft.com/office/drawing/2014/main" id="{3DD84BAA-6AEA-804F-A87D-71A2586C1E5C}"/>
              </a:ext>
            </a:extLst>
          </p:cNvPr>
          <p:cNvSpPr txBox="1"/>
          <p:nvPr/>
        </p:nvSpPr>
        <p:spPr>
          <a:xfrm>
            <a:off x="8144784" y="5055168"/>
            <a:ext cx="445956" cy="276999"/>
          </a:xfrm>
          <a:prstGeom prst="rect">
            <a:avLst/>
          </a:prstGeom>
          <a:noFill/>
        </p:spPr>
        <p:txBody>
          <a:bodyPr wrap="none" rtlCol="0">
            <a:spAutoFit/>
          </a:bodyPr>
          <a:lstStyle/>
          <a:p>
            <a:r>
              <a:rPr lang="en-US" sz="1200" dirty="0"/>
              <a:t>true</a:t>
            </a:r>
          </a:p>
        </p:txBody>
      </p:sp>
      <p:sp>
        <p:nvSpPr>
          <p:cNvPr id="61" name="TextBox 60">
            <a:extLst>
              <a:ext uri="{FF2B5EF4-FFF2-40B4-BE49-F238E27FC236}">
                <a16:creationId xmlns:a16="http://schemas.microsoft.com/office/drawing/2014/main" id="{B623A9BC-B1DB-9546-B528-2D2E7E807F21}"/>
              </a:ext>
            </a:extLst>
          </p:cNvPr>
          <p:cNvSpPr txBox="1"/>
          <p:nvPr/>
        </p:nvSpPr>
        <p:spPr>
          <a:xfrm>
            <a:off x="8743546" y="5058316"/>
            <a:ext cx="475002" cy="276999"/>
          </a:xfrm>
          <a:prstGeom prst="rect">
            <a:avLst/>
          </a:prstGeom>
          <a:noFill/>
        </p:spPr>
        <p:txBody>
          <a:bodyPr wrap="none" rtlCol="0">
            <a:spAutoFit/>
          </a:bodyPr>
          <a:lstStyle/>
          <a:p>
            <a:r>
              <a:rPr lang="en-US" sz="1200" dirty="0"/>
              <a:t>false</a:t>
            </a:r>
          </a:p>
        </p:txBody>
      </p:sp>
      <p:sp>
        <p:nvSpPr>
          <p:cNvPr id="62" name="TextBox 61">
            <a:extLst>
              <a:ext uri="{FF2B5EF4-FFF2-40B4-BE49-F238E27FC236}">
                <a16:creationId xmlns:a16="http://schemas.microsoft.com/office/drawing/2014/main" id="{66CA2F8A-10A2-324F-9EDF-FE9E0A84B95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3" name="TextBox 62">
            <a:extLst>
              <a:ext uri="{FF2B5EF4-FFF2-40B4-BE49-F238E27FC236}">
                <a16:creationId xmlns:a16="http://schemas.microsoft.com/office/drawing/2014/main" id="{738247DA-2AA0-9B40-BA70-54B67EA594A4}"/>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4" name="TextBox 63">
            <a:extLst>
              <a:ext uri="{FF2B5EF4-FFF2-40B4-BE49-F238E27FC236}">
                <a16:creationId xmlns:a16="http://schemas.microsoft.com/office/drawing/2014/main" id="{44394FC7-A029-E445-801B-2DAD3C05553C}"/>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5" name="TextBox 64">
            <a:extLst>
              <a:ext uri="{FF2B5EF4-FFF2-40B4-BE49-F238E27FC236}">
                <a16:creationId xmlns:a16="http://schemas.microsoft.com/office/drawing/2014/main" id="{29102807-A9DC-AC4C-8B37-F283F964C7E0}"/>
              </a:ext>
            </a:extLst>
          </p:cNvPr>
          <p:cNvSpPr txBox="1"/>
          <p:nvPr/>
        </p:nvSpPr>
        <p:spPr>
          <a:xfrm>
            <a:off x="6723994" y="5758962"/>
            <a:ext cx="301686" cy="369332"/>
          </a:xfrm>
          <a:prstGeom prst="rect">
            <a:avLst/>
          </a:prstGeom>
          <a:noFill/>
        </p:spPr>
        <p:txBody>
          <a:bodyPr wrap="square" rtlCol="0">
            <a:spAutoFit/>
          </a:bodyPr>
          <a:lstStyle/>
          <a:p>
            <a:r>
              <a:rPr lang="en-US" dirty="0"/>
              <a:t>2</a:t>
            </a:r>
          </a:p>
        </p:txBody>
      </p:sp>
      <p:sp>
        <p:nvSpPr>
          <p:cNvPr id="66" name="TextBox 65">
            <a:extLst>
              <a:ext uri="{FF2B5EF4-FFF2-40B4-BE49-F238E27FC236}">
                <a16:creationId xmlns:a16="http://schemas.microsoft.com/office/drawing/2014/main" id="{3C7F322D-90EE-B443-9BA5-07F2590A2448}"/>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7" name="TextBox 66">
            <a:extLst>
              <a:ext uri="{FF2B5EF4-FFF2-40B4-BE49-F238E27FC236}">
                <a16:creationId xmlns:a16="http://schemas.microsoft.com/office/drawing/2014/main" id="{33D271DC-4812-E64A-9B9F-B0B41FB5B5B7}"/>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8" name="TextBox 67">
            <a:extLst>
              <a:ext uri="{FF2B5EF4-FFF2-40B4-BE49-F238E27FC236}">
                <a16:creationId xmlns:a16="http://schemas.microsoft.com/office/drawing/2014/main" id="{0E3AA5C1-5A04-3D41-A5C4-C691E353E7E8}"/>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9" name="TextBox 68">
            <a:extLst>
              <a:ext uri="{FF2B5EF4-FFF2-40B4-BE49-F238E27FC236}">
                <a16:creationId xmlns:a16="http://schemas.microsoft.com/office/drawing/2014/main" id="{BBDE7352-3F88-4348-9946-D5C1396F8782}"/>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70" name="TextBox 69">
            <a:extLst>
              <a:ext uri="{FF2B5EF4-FFF2-40B4-BE49-F238E27FC236}">
                <a16:creationId xmlns:a16="http://schemas.microsoft.com/office/drawing/2014/main" id="{BFB31A60-04EF-5249-9405-2FA880ECF30F}"/>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1" name="TextBox 70">
            <a:extLst>
              <a:ext uri="{FF2B5EF4-FFF2-40B4-BE49-F238E27FC236}">
                <a16:creationId xmlns:a16="http://schemas.microsoft.com/office/drawing/2014/main" id="{B0F4C6DA-9038-7B4A-8024-9C10616D7EC8}"/>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73" name="TextBox 72">
            <a:extLst>
              <a:ext uri="{FF2B5EF4-FFF2-40B4-BE49-F238E27FC236}">
                <a16:creationId xmlns:a16="http://schemas.microsoft.com/office/drawing/2014/main" id="{5E916914-B4A2-7C44-841F-573389DF2B16}"/>
              </a:ext>
            </a:extLst>
          </p:cNvPr>
          <p:cNvSpPr txBox="1"/>
          <p:nvPr/>
        </p:nvSpPr>
        <p:spPr>
          <a:xfrm>
            <a:off x="838198" y="1335884"/>
            <a:ext cx="6348331"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The trick is binary notation</a:t>
            </a:r>
            <a:r>
              <a:rPr lang="en-US" dirty="0">
                <a:sym typeface="Wingdings" pitchFamily="2" charset="2"/>
              </a:rPr>
              <a:t> -- counting in base two</a:t>
            </a:r>
            <a:br>
              <a:rPr lang="en-US" dirty="0">
                <a:sym typeface="Wingdings" pitchFamily="2" charset="2"/>
              </a:rPr>
            </a:br>
            <a:endParaRPr lang="en-US" dirty="0">
              <a:sym typeface="Wingdings" pitchFamily="2" charset="2"/>
            </a:endParaRPr>
          </a:p>
          <a:p>
            <a:br>
              <a:rPr lang="en-US" dirty="0">
                <a:sym typeface="Wingdings" pitchFamily="2" charset="2"/>
              </a:rPr>
            </a:br>
            <a:endParaRPr lang="en-US" dirty="0">
              <a:sym typeface="Wingdings" pitchFamily="2" charset="2"/>
            </a:endParaRPr>
          </a:p>
          <a:p>
            <a:pPr marL="285750" indent="-285750">
              <a:buFont typeface="Arial" panose="020B0604020202020204" pitchFamily="34" charset="0"/>
              <a:buChar char="•"/>
            </a:pPr>
            <a:endParaRPr lang="en-US" dirty="0"/>
          </a:p>
        </p:txBody>
      </p:sp>
      <p:graphicFrame>
        <p:nvGraphicFramePr>
          <p:cNvPr id="6" name="Table 5">
            <a:extLst>
              <a:ext uri="{FF2B5EF4-FFF2-40B4-BE49-F238E27FC236}">
                <a16:creationId xmlns:a16="http://schemas.microsoft.com/office/drawing/2014/main" id="{B0E63A95-46A4-3D41-9720-CB09A83596E0}"/>
              </a:ext>
            </a:extLst>
          </p:cNvPr>
          <p:cNvGraphicFramePr>
            <a:graphicFrameLocks noGrp="1"/>
          </p:cNvGraphicFramePr>
          <p:nvPr/>
        </p:nvGraphicFramePr>
        <p:xfrm>
          <a:off x="2332071" y="1974609"/>
          <a:ext cx="2072824" cy="3657600"/>
        </p:xfrm>
        <a:graphic>
          <a:graphicData uri="http://schemas.openxmlformats.org/drawingml/2006/table">
            <a:tbl>
              <a:tblPr firstRow="1" bandRow="1">
                <a:tableStyleId>{073A0DAA-6AF3-43AB-8588-CEC1D06C72B9}</a:tableStyleId>
              </a:tblPr>
              <a:tblGrid>
                <a:gridCol w="1036412">
                  <a:extLst>
                    <a:ext uri="{9D8B030D-6E8A-4147-A177-3AD203B41FA5}">
                      <a16:colId xmlns:a16="http://schemas.microsoft.com/office/drawing/2014/main" val="3347050065"/>
                    </a:ext>
                  </a:extLst>
                </a:gridCol>
                <a:gridCol w="1036412">
                  <a:extLst>
                    <a:ext uri="{9D8B030D-6E8A-4147-A177-3AD203B41FA5}">
                      <a16:colId xmlns:a16="http://schemas.microsoft.com/office/drawing/2014/main" val="3649684906"/>
                    </a:ext>
                  </a:extLst>
                </a:gridCol>
              </a:tblGrid>
              <a:tr h="296413">
                <a:tc>
                  <a:txBody>
                    <a:bodyPr/>
                    <a:lstStyle/>
                    <a:p>
                      <a:pPr algn="ctr"/>
                      <a:r>
                        <a:rPr lang="en-US" sz="1400" dirty="0"/>
                        <a:t>BASE TWO</a:t>
                      </a:r>
                    </a:p>
                  </a:txBody>
                  <a:tcPr/>
                </a:tc>
                <a:tc>
                  <a:txBody>
                    <a:bodyPr/>
                    <a:lstStyle/>
                    <a:p>
                      <a:pPr algn="ctr"/>
                      <a:r>
                        <a:rPr lang="en-US" sz="1400" dirty="0"/>
                        <a:t>BASE TEN</a:t>
                      </a:r>
                    </a:p>
                  </a:txBody>
                  <a:tcPr/>
                </a:tc>
                <a:extLst>
                  <a:ext uri="{0D108BD9-81ED-4DB2-BD59-A6C34878D82A}">
                    <a16:rowId xmlns:a16="http://schemas.microsoft.com/office/drawing/2014/main" val="3312545806"/>
                  </a:ext>
                </a:extLst>
              </a:tr>
              <a:tr h="274634">
                <a:tc>
                  <a:txBody>
                    <a:bodyPr/>
                    <a:lstStyle/>
                    <a:p>
                      <a:pPr algn="ctr"/>
                      <a:r>
                        <a:rPr lang="en-US" sz="1400" dirty="0"/>
                        <a:t>0</a:t>
                      </a:r>
                    </a:p>
                  </a:txBody>
                  <a:tcPr/>
                </a:tc>
                <a:tc>
                  <a:txBody>
                    <a:bodyPr/>
                    <a:lstStyle/>
                    <a:p>
                      <a:pPr algn="ctr"/>
                      <a:r>
                        <a:rPr lang="en-US" sz="1400" dirty="0"/>
                        <a:t>0</a:t>
                      </a:r>
                    </a:p>
                  </a:txBody>
                  <a:tcPr/>
                </a:tc>
                <a:extLst>
                  <a:ext uri="{0D108BD9-81ED-4DB2-BD59-A6C34878D82A}">
                    <a16:rowId xmlns:a16="http://schemas.microsoft.com/office/drawing/2014/main" val="2640757946"/>
                  </a:ext>
                </a:extLst>
              </a:tr>
              <a:tr h="274634">
                <a:tc>
                  <a:txBody>
                    <a:bodyPr/>
                    <a:lstStyle/>
                    <a:p>
                      <a:pPr algn="ctr"/>
                      <a:r>
                        <a:rPr lang="en-US" sz="1400" dirty="0"/>
                        <a:t>1</a:t>
                      </a:r>
                    </a:p>
                  </a:txBody>
                  <a:tcPr/>
                </a:tc>
                <a:tc>
                  <a:txBody>
                    <a:bodyPr/>
                    <a:lstStyle/>
                    <a:p>
                      <a:pPr algn="ctr"/>
                      <a:r>
                        <a:rPr lang="en-US" sz="1400" dirty="0"/>
                        <a:t>1</a:t>
                      </a:r>
                    </a:p>
                  </a:txBody>
                  <a:tcPr/>
                </a:tc>
                <a:extLst>
                  <a:ext uri="{0D108BD9-81ED-4DB2-BD59-A6C34878D82A}">
                    <a16:rowId xmlns:a16="http://schemas.microsoft.com/office/drawing/2014/main" val="2713742153"/>
                  </a:ext>
                </a:extLst>
              </a:tr>
              <a:tr h="274634">
                <a:tc>
                  <a:txBody>
                    <a:bodyPr/>
                    <a:lstStyle/>
                    <a:p>
                      <a:pPr algn="ctr"/>
                      <a:r>
                        <a:rPr lang="en-US" sz="1400" dirty="0"/>
                        <a:t>10</a:t>
                      </a:r>
                    </a:p>
                  </a:txBody>
                  <a:tcPr/>
                </a:tc>
                <a:tc>
                  <a:txBody>
                    <a:bodyPr/>
                    <a:lstStyle/>
                    <a:p>
                      <a:pPr algn="ctr"/>
                      <a:r>
                        <a:rPr lang="en-US" sz="1400" dirty="0"/>
                        <a:t>2</a:t>
                      </a:r>
                    </a:p>
                  </a:txBody>
                  <a:tcPr/>
                </a:tc>
                <a:extLst>
                  <a:ext uri="{0D108BD9-81ED-4DB2-BD59-A6C34878D82A}">
                    <a16:rowId xmlns:a16="http://schemas.microsoft.com/office/drawing/2014/main" val="1916062988"/>
                  </a:ext>
                </a:extLst>
              </a:tr>
              <a:tr h="274634">
                <a:tc>
                  <a:txBody>
                    <a:bodyPr/>
                    <a:lstStyle/>
                    <a:p>
                      <a:pPr algn="ctr"/>
                      <a:r>
                        <a:rPr lang="en-US" sz="1400" dirty="0"/>
                        <a:t>11</a:t>
                      </a:r>
                    </a:p>
                  </a:txBody>
                  <a:tcPr/>
                </a:tc>
                <a:tc>
                  <a:txBody>
                    <a:bodyPr/>
                    <a:lstStyle/>
                    <a:p>
                      <a:pPr algn="ctr"/>
                      <a:r>
                        <a:rPr lang="en-US" sz="1400" dirty="0"/>
                        <a:t>3</a:t>
                      </a:r>
                    </a:p>
                  </a:txBody>
                  <a:tcPr/>
                </a:tc>
                <a:extLst>
                  <a:ext uri="{0D108BD9-81ED-4DB2-BD59-A6C34878D82A}">
                    <a16:rowId xmlns:a16="http://schemas.microsoft.com/office/drawing/2014/main" val="1467828003"/>
                  </a:ext>
                </a:extLst>
              </a:tr>
              <a:tr h="274634">
                <a:tc>
                  <a:txBody>
                    <a:bodyPr/>
                    <a:lstStyle/>
                    <a:p>
                      <a:pPr algn="ctr"/>
                      <a:r>
                        <a:rPr lang="en-US" sz="1400" dirty="0"/>
                        <a:t>100</a:t>
                      </a:r>
                    </a:p>
                  </a:txBody>
                  <a:tcPr/>
                </a:tc>
                <a:tc>
                  <a:txBody>
                    <a:bodyPr/>
                    <a:lstStyle/>
                    <a:p>
                      <a:pPr algn="ctr"/>
                      <a:r>
                        <a:rPr lang="en-US" sz="1400" dirty="0"/>
                        <a:t>4</a:t>
                      </a:r>
                    </a:p>
                  </a:txBody>
                  <a:tcPr/>
                </a:tc>
                <a:extLst>
                  <a:ext uri="{0D108BD9-81ED-4DB2-BD59-A6C34878D82A}">
                    <a16:rowId xmlns:a16="http://schemas.microsoft.com/office/drawing/2014/main" val="1564647656"/>
                  </a:ext>
                </a:extLst>
              </a:tr>
              <a:tr h="274634">
                <a:tc>
                  <a:txBody>
                    <a:bodyPr/>
                    <a:lstStyle/>
                    <a:p>
                      <a:pPr algn="ctr"/>
                      <a:r>
                        <a:rPr lang="en-US" sz="1400" dirty="0"/>
                        <a:t>101</a:t>
                      </a:r>
                    </a:p>
                  </a:txBody>
                  <a:tcPr/>
                </a:tc>
                <a:tc>
                  <a:txBody>
                    <a:bodyPr/>
                    <a:lstStyle/>
                    <a:p>
                      <a:pPr algn="ctr"/>
                      <a:r>
                        <a:rPr lang="en-US" sz="1400" dirty="0"/>
                        <a:t>5</a:t>
                      </a:r>
                    </a:p>
                  </a:txBody>
                  <a:tcPr/>
                </a:tc>
                <a:extLst>
                  <a:ext uri="{0D108BD9-81ED-4DB2-BD59-A6C34878D82A}">
                    <a16:rowId xmlns:a16="http://schemas.microsoft.com/office/drawing/2014/main" val="1655167999"/>
                  </a:ext>
                </a:extLst>
              </a:tr>
              <a:tr h="274634">
                <a:tc>
                  <a:txBody>
                    <a:bodyPr/>
                    <a:lstStyle/>
                    <a:p>
                      <a:pPr algn="ctr"/>
                      <a:r>
                        <a:rPr lang="en-US" sz="1400" dirty="0"/>
                        <a:t>110</a:t>
                      </a:r>
                    </a:p>
                  </a:txBody>
                  <a:tcPr/>
                </a:tc>
                <a:tc>
                  <a:txBody>
                    <a:bodyPr/>
                    <a:lstStyle/>
                    <a:p>
                      <a:pPr algn="ctr"/>
                      <a:r>
                        <a:rPr lang="en-US" sz="1400" dirty="0"/>
                        <a:t>6</a:t>
                      </a:r>
                    </a:p>
                  </a:txBody>
                  <a:tcPr/>
                </a:tc>
                <a:extLst>
                  <a:ext uri="{0D108BD9-81ED-4DB2-BD59-A6C34878D82A}">
                    <a16:rowId xmlns:a16="http://schemas.microsoft.com/office/drawing/2014/main" val="4267784291"/>
                  </a:ext>
                </a:extLst>
              </a:tr>
              <a:tr h="274634">
                <a:tc>
                  <a:txBody>
                    <a:bodyPr/>
                    <a:lstStyle/>
                    <a:p>
                      <a:pPr algn="ctr"/>
                      <a:r>
                        <a:rPr lang="en-US" sz="1400" dirty="0"/>
                        <a:t>111</a:t>
                      </a:r>
                    </a:p>
                  </a:txBody>
                  <a:tcPr/>
                </a:tc>
                <a:tc>
                  <a:txBody>
                    <a:bodyPr/>
                    <a:lstStyle/>
                    <a:p>
                      <a:pPr algn="ctr"/>
                      <a:r>
                        <a:rPr lang="en-US" sz="1400" dirty="0"/>
                        <a:t>7</a:t>
                      </a:r>
                    </a:p>
                  </a:txBody>
                  <a:tcPr/>
                </a:tc>
                <a:extLst>
                  <a:ext uri="{0D108BD9-81ED-4DB2-BD59-A6C34878D82A}">
                    <a16:rowId xmlns:a16="http://schemas.microsoft.com/office/drawing/2014/main" val="1964236553"/>
                  </a:ext>
                </a:extLst>
              </a:tr>
              <a:tr h="274634">
                <a:tc>
                  <a:txBody>
                    <a:bodyPr/>
                    <a:lstStyle/>
                    <a:p>
                      <a:pPr algn="ctr"/>
                      <a:r>
                        <a:rPr lang="en-US" sz="1400" dirty="0"/>
                        <a:t>1000</a:t>
                      </a:r>
                    </a:p>
                  </a:txBody>
                  <a:tcPr/>
                </a:tc>
                <a:tc>
                  <a:txBody>
                    <a:bodyPr/>
                    <a:lstStyle/>
                    <a:p>
                      <a:pPr algn="ctr"/>
                      <a:r>
                        <a:rPr lang="en-US" sz="1400" dirty="0"/>
                        <a:t>8</a:t>
                      </a:r>
                    </a:p>
                  </a:txBody>
                  <a:tcPr/>
                </a:tc>
                <a:extLst>
                  <a:ext uri="{0D108BD9-81ED-4DB2-BD59-A6C34878D82A}">
                    <a16:rowId xmlns:a16="http://schemas.microsoft.com/office/drawing/2014/main" val="2019589198"/>
                  </a:ext>
                </a:extLst>
              </a:tr>
              <a:tr h="274634">
                <a:tc>
                  <a:txBody>
                    <a:bodyPr/>
                    <a:lstStyle/>
                    <a:p>
                      <a:pPr algn="ctr"/>
                      <a:r>
                        <a:rPr lang="en-US" sz="1400" dirty="0"/>
                        <a:t>1001</a:t>
                      </a:r>
                    </a:p>
                  </a:txBody>
                  <a:tcPr/>
                </a:tc>
                <a:tc>
                  <a:txBody>
                    <a:bodyPr/>
                    <a:lstStyle/>
                    <a:p>
                      <a:pPr algn="ctr"/>
                      <a:r>
                        <a:rPr lang="en-US" sz="1400" dirty="0"/>
                        <a:t>9</a:t>
                      </a:r>
                    </a:p>
                  </a:txBody>
                  <a:tcPr/>
                </a:tc>
                <a:extLst>
                  <a:ext uri="{0D108BD9-81ED-4DB2-BD59-A6C34878D82A}">
                    <a16:rowId xmlns:a16="http://schemas.microsoft.com/office/drawing/2014/main" val="1154865642"/>
                  </a:ext>
                </a:extLst>
              </a:tr>
              <a:tr h="274634">
                <a:tc>
                  <a:txBody>
                    <a:bodyPr/>
                    <a:lstStyle/>
                    <a:p>
                      <a:pPr algn="ctr"/>
                      <a:r>
                        <a:rPr lang="en-US" sz="1400" dirty="0"/>
                        <a:t>1010</a:t>
                      </a:r>
                    </a:p>
                  </a:txBody>
                  <a:tcPr/>
                </a:tc>
                <a:tc>
                  <a:txBody>
                    <a:bodyPr/>
                    <a:lstStyle/>
                    <a:p>
                      <a:pPr algn="ctr"/>
                      <a:r>
                        <a:rPr lang="en-US" sz="1400" dirty="0"/>
                        <a:t>10</a:t>
                      </a:r>
                    </a:p>
                  </a:txBody>
                  <a:tcPr/>
                </a:tc>
                <a:extLst>
                  <a:ext uri="{0D108BD9-81ED-4DB2-BD59-A6C34878D82A}">
                    <a16:rowId xmlns:a16="http://schemas.microsoft.com/office/drawing/2014/main" val="2226997849"/>
                  </a:ext>
                </a:extLst>
              </a:tr>
            </a:tbl>
          </a:graphicData>
        </a:graphic>
      </p:graphicFrame>
      <p:sp>
        <p:nvSpPr>
          <p:cNvPr id="7" name="Right Arrow 6">
            <a:extLst>
              <a:ext uri="{FF2B5EF4-FFF2-40B4-BE49-F238E27FC236}">
                <a16:creationId xmlns:a16="http://schemas.microsoft.com/office/drawing/2014/main" id="{36E9EABE-9F1B-964D-A381-4D1670A99E95}"/>
              </a:ext>
            </a:extLst>
          </p:cNvPr>
          <p:cNvSpPr/>
          <p:nvPr/>
        </p:nvSpPr>
        <p:spPr>
          <a:xfrm rot="1525605">
            <a:off x="1250421" y="5002529"/>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6" descr="Related image">
            <a:extLst>
              <a:ext uri="{FF2B5EF4-FFF2-40B4-BE49-F238E27FC236}">
                <a16:creationId xmlns:a16="http://schemas.microsoft.com/office/drawing/2014/main" id="{912EB9ED-0640-B140-946B-F3CACCA366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1687" y="1638523"/>
            <a:ext cx="2912339" cy="208960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9B80E85-C9FF-4042-83BB-F8F7A36FD1C1}"/>
              </a:ext>
            </a:extLst>
          </p:cNvPr>
          <p:cNvSpPr txBox="1"/>
          <p:nvPr/>
        </p:nvSpPr>
        <p:spPr>
          <a:xfrm>
            <a:off x="203024" y="4070370"/>
            <a:ext cx="1540319" cy="738664"/>
          </a:xfrm>
          <a:prstGeom prst="rect">
            <a:avLst/>
          </a:prstGeom>
          <a:noFill/>
        </p:spPr>
        <p:txBody>
          <a:bodyPr wrap="square" rtlCol="0">
            <a:spAutoFit/>
          </a:bodyPr>
          <a:lstStyle/>
          <a:p>
            <a:r>
              <a:rPr lang="en-US" sz="1400" dirty="0"/>
              <a:t>you can represent</a:t>
            </a:r>
          </a:p>
          <a:p>
            <a:r>
              <a:rPr lang="en-US" sz="1400" dirty="0"/>
              <a:t>the number ten </a:t>
            </a:r>
          </a:p>
          <a:p>
            <a:r>
              <a:rPr lang="en-US" sz="1400" dirty="0"/>
              <a:t>with 4 bits</a:t>
            </a:r>
          </a:p>
        </p:txBody>
      </p:sp>
    </p:spTree>
    <p:extLst>
      <p:ext uri="{BB962C8B-B14F-4D97-AF65-F5344CB8AC3E}">
        <p14:creationId xmlns:p14="http://schemas.microsoft.com/office/powerpoint/2010/main" val="4167659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HOW BINARY WORKS</a:t>
            </a:r>
          </a:p>
        </p:txBody>
      </p:sp>
      <p:sp>
        <p:nvSpPr>
          <p:cNvPr id="43" name="Frame 42">
            <a:extLst>
              <a:ext uri="{FF2B5EF4-FFF2-40B4-BE49-F238E27FC236}">
                <a16:creationId xmlns:a16="http://schemas.microsoft.com/office/drawing/2014/main" id="{CD84FBB5-34E1-F04B-A974-4FCE6B3CE745}"/>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9D384227-57F5-194F-BBEC-3ED06F13D572}"/>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DB10B229-822E-B148-A9B3-DC66CAF6906C}"/>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18EF8DA0-3167-604E-907B-227822748EC9}"/>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C95294C5-935D-3447-A44E-1BEB80197DE4}"/>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E703A6D8-4B4F-064C-81A1-A60CC121C4E1}"/>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rame 48">
            <a:extLst>
              <a:ext uri="{FF2B5EF4-FFF2-40B4-BE49-F238E27FC236}">
                <a16:creationId xmlns:a16="http://schemas.microsoft.com/office/drawing/2014/main" id="{981D9980-FE93-1347-A920-0F6DBCDCB183}"/>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Frame 49">
            <a:extLst>
              <a:ext uri="{FF2B5EF4-FFF2-40B4-BE49-F238E27FC236}">
                <a16:creationId xmlns:a16="http://schemas.microsoft.com/office/drawing/2014/main" id="{EF51455E-B692-A640-ABB9-0543BD18855E}"/>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D238350E-9F9E-BA40-BB06-0018CFD076FA}"/>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3" name="Rectangle 52">
            <a:extLst>
              <a:ext uri="{FF2B5EF4-FFF2-40B4-BE49-F238E27FC236}">
                <a16:creationId xmlns:a16="http://schemas.microsoft.com/office/drawing/2014/main" id="{4C2E301B-8C63-9C45-A282-6103160A3196}"/>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8008C20-E1D1-3C4A-B9A3-08B7A40906DC}"/>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54">
            <a:extLst>
              <a:ext uri="{FF2B5EF4-FFF2-40B4-BE49-F238E27FC236}">
                <a16:creationId xmlns:a16="http://schemas.microsoft.com/office/drawing/2014/main" id="{915326DB-E8C4-7843-B9D1-4359BF5B0AA0}"/>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853F22A8-0313-4441-A94E-AD13E11BE09B}"/>
              </a:ext>
            </a:extLst>
          </p:cNvPr>
          <p:cNvSpPr txBox="1"/>
          <p:nvPr/>
        </p:nvSpPr>
        <p:spPr>
          <a:xfrm>
            <a:off x="5116359" y="4999512"/>
            <a:ext cx="535724" cy="369332"/>
          </a:xfrm>
          <a:prstGeom prst="rect">
            <a:avLst/>
          </a:prstGeom>
          <a:noFill/>
        </p:spPr>
        <p:txBody>
          <a:bodyPr wrap="none" rtlCol="0">
            <a:spAutoFit/>
          </a:bodyPr>
          <a:lstStyle/>
          <a:p>
            <a:r>
              <a:rPr lang="en-US" dirty="0">
                <a:solidFill>
                  <a:srgbClr val="FF0000"/>
                </a:solidFill>
              </a:rPr>
              <a:t>137</a:t>
            </a:r>
          </a:p>
        </p:txBody>
      </p:sp>
      <p:sp>
        <p:nvSpPr>
          <p:cNvPr id="57" name="TextBox 56">
            <a:extLst>
              <a:ext uri="{FF2B5EF4-FFF2-40B4-BE49-F238E27FC236}">
                <a16:creationId xmlns:a16="http://schemas.microsoft.com/office/drawing/2014/main" id="{B2C14A1B-1B40-DD40-9BE4-D01DCDCE15C8}"/>
              </a:ext>
            </a:extLst>
          </p:cNvPr>
          <p:cNvSpPr txBox="1"/>
          <p:nvPr/>
        </p:nvSpPr>
        <p:spPr>
          <a:xfrm>
            <a:off x="5894910" y="4995405"/>
            <a:ext cx="418704" cy="369332"/>
          </a:xfrm>
          <a:prstGeom prst="rect">
            <a:avLst/>
          </a:prstGeom>
          <a:noFill/>
        </p:spPr>
        <p:txBody>
          <a:bodyPr wrap="none" rtlCol="0">
            <a:spAutoFit/>
          </a:bodyPr>
          <a:lstStyle/>
          <a:p>
            <a:r>
              <a:rPr lang="en-US" dirty="0">
                <a:solidFill>
                  <a:srgbClr val="FF0000"/>
                </a:solidFill>
              </a:rPr>
              <a:t>42</a:t>
            </a:r>
          </a:p>
        </p:txBody>
      </p:sp>
      <p:sp>
        <p:nvSpPr>
          <p:cNvPr id="58" name="TextBox 57">
            <a:extLst>
              <a:ext uri="{FF2B5EF4-FFF2-40B4-BE49-F238E27FC236}">
                <a16:creationId xmlns:a16="http://schemas.microsoft.com/office/drawing/2014/main" id="{6D4AE863-0811-5F45-9BDA-74D6864B5D9F}"/>
              </a:ext>
            </a:extLst>
          </p:cNvPr>
          <p:cNvSpPr txBox="1"/>
          <p:nvPr/>
        </p:nvSpPr>
        <p:spPr>
          <a:xfrm>
            <a:off x="6570655" y="5050431"/>
            <a:ext cx="615874" cy="276999"/>
          </a:xfrm>
          <a:prstGeom prst="rect">
            <a:avLst/>
          </a:prstGeom>
          <a:noFill/>
        </p:spPr>
        <p:txBody>
          <a:bodyPr wrap="none" rtlCol="0">
            <a:spAutoFit/>
          </a:bodyPr>
          <a:lstStyle/>
          <a:p>
            <a:r>
              <a:rPr lang="en-US" sz="1200" dirty="0"/>
              <a:t>"hello"</a:t>
            </a:r>
          </a:p>
        </p:txBody>
      </p:sp>
      <p:sp>
        <p:nvSpPr>
          <p:cNvPr id="59" name="TextBox 58">
            <a:extLst>
              <a:ext uri="{FF2B5EF4-FFF2-40B4-BE49-F238E27FC236}">
                <a16:creationId xmlns:a16="http://schemas.microsoft.com/office/drawing/2014/main" id="{B80A70F2-0715-8B4A-903B-25E7D1FEED59}"/>
              </a:ext>
            </a:extLst>
          </p:cNvPr>
          <p:cNvSpPr txBox="1"/>
          <p:nvPr/>
        </p:nvSpPr>
        <p:spPr>
          <a:xfrm>
            <a:off x="7266793" y="5036509"/>
            <a:ext cx="665760" cy="276999"/>
          </a:xfrm>
          <a:prstGeom prst="rect">
            <a:avLst/>
          </a:prstGeom>
          <a:noFill/>
        </p:spPr>
        <p:txBody>
          <a:bodyPr wrap="none" rtlCol="0">
            <a:spAutoFit/>
          </a:bodyPr>
          <a:lstStyle/>
          <a:p>
            <a:r>
              <a:rPr lang="en-US" sz="1200" dirty="0"/>
              <a:t>"world"</a:t>
            </a:r>
          </a:p>
        </p:txBody>
      </p:sp>
      <p:sp>
        <p:nvSpPr>
          <p:cNvPr id="60" name="TextBox 59">
            <a:extLst>
              <a:ext uri="{FF2B5EF4-FFF2-40B4-BE49-F238E27FC236}">
                <a16:creationId xmlns:a16="http://schemas.microsoft.com/office/drawing/2014/main" id="{3DD84BAA-6AEA-804F-A87D-71A2586C1E5C}"/>
              </a:ext>
            </a:extLst>
          </p:cNvPr>
          <p:cNvSpPr txBox="1"/>
          <p:nvPr/>
        </p:nvSpPr>
        <p:spPr>
          <a:xfrm>
            <a:off x="8144784" y="5055168"/>
            <a:ext cx="445956" cy="276999"/>
          </a:xfrm>
          <a:prstGeom prst="rect">
            <a:avLst/>
          </a:prstGeom>
          <a:noFill/>
        </p:spPr>
        <p:txBody>
          <a:bodyPr wrap="none" rtlCol="0">
            <a:spAutoFit/>
          </a:bodyPr>
          <a:lstStyle/>
          <a:p>
            <a:r>
              <a:rPr lang="en-US" sz="1200" dirty="0"/>
              <a:t>true</a:t>
            </a:r>
          </a:p>
        </p:txBody>
      </p:sp>
      <p:sp>
        <p:nvSpPr>
          <p:cNvPr id="61" name="TextBox 60">
            <a:extLst>
              <a:ext uri="{FF2B5EF4-FFF2-40B4-BE49-F238E27FC236}">
                <a16:creationId xmlns:a16="http://schemas.microsoft.com/office/drawing/2014/main" id="{B623A9BC-B1DB-9546-B528-2D2E7E807F21}"/>
              </a:ext>
            </a:extLst>
          </p:cNvPr>
          <p:cNvSpPr txBox="1"/>
          <p:nvPr/>
        </p:nvSpPr>
        <p:spPr>
          <a:xfrm>
            <a:off x="8743546" y="5058316"/>
            <a:ext cx="475002" cy="276999"/>
          </a:xfrm>
          <a:prstGeom prst="rect">
            <a:avLst/>
          </a:prstGeom>
          <a:noFill/>
        </p:spPr>
        <p:txBody>
          <a:bodyPr wrap="none" rtlCol="0">
            <a:spAutoFit/>
          </a:bodyPr>
          <a:lstStyle/>
          <a:p>
            <a:r>
              <a:rPr lang="en-US" sz="1200" dirty="0"/>
              <a:t>false</a:t>
            </a:r>
          </a:p>
        </p:txBody>
      </p:sp>
      <p:sp>
        <p:nvSpPr>
          <p:cNvPr id="62" name="TextBox 61">
            <a:extLst>
              <a:ext uri="{FF2B5EF4-FFF2-40B4-BE49-F238E27FC236}">
                <a16:creationId xmlns:a16="http://schemas.microsoft.com/office/drawing/2014/main" id="{66CA2F8A-10A2-324F-9EDF-FE9E0A84B95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3" name="TextBox 62">
            <a:extLst>
              <a:ext uri="{FF2B5EF4-FFF2-40B4-BE49-F238E27FC236}">
                <a16:creationId xmlns:a16="http://schemas.microsoft.com/office/drawing/2014/main" id="{738247DA-2AA0-9B40-BA70-54B67EA594A4}"/>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4" name="TextBox 63">
            <a:extLst>
              <a:ext uri="{FF2B5EF4-FFF2-40B4-BE49-F238E27FC236}">
                <a16:creationId xmlns:a16="http://schemas.microsoft.com/office/drawing/2014/main" id="{44394FC7-A029-E445-801B-2DAD3C05553C}"/>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5" name="TextBox 64">
            <a:extLst>
              <a:ext uri="{FF2B5EF4-FFF2-40B4-BE49-F238E27FC236}">
                <a16:creationId xmlns:a16="http://schemas.microsoft.com/office/drawing/2014/main" id="{29102807-A9DC-AC4C-8B37-F283F964C7E0}"/>
              </a:ext>
            </a:extLst>
          </p:cNvPr>
          <p:cNvSpPr txBox="1"/>
          <p:nvPr/>
        </p:nvSpPr>
        <p:spPr>
          <a:xfrm>
            <a:off x="6723994" y="5758962"/>
            <a:ext cx="301686" cy="369332"/>
          </a:xfrm>
          <a:prstGeom prst="rect">
            <a:avLst/>
          </a:prstGeom>
          <a:noFill/>
        </p:spPr>
        <p:txBody>
          <a:bodyPr wrap="square" rtlCol="0">
            <a:spAutoFit/>
          </a:bodyPr>
          <a:lstStyle/>
          <a:p>
            <a:r>
              <a:rPr lang="en-US" dirty="0"/>
              <a:t>2</a:t>
            </a:r>
          </a:p>
        </p:txBody>
      </p:sp>
      <p:sp>
        <p:nvSpPr>
          <p:cNvPr id="66" name="TextBox 65">
            <a:extLst>
              <a:ext uri="{FF2B5EF4-FFF2-40B4-BE49-F238E27FC236}">
                <a16:creationId xmlns:a16="http://schemas.microsoft.com/office/drawing/2014/main" id="{3C7F322D-90EE-B443-9BA5-07F2590A2448}"/>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7" name="TextBox 66">
            <a:extLst>
              <a:ext uri="{FF2B5EF4-FFF2-40B4-BE49-F238E27FC236}">
                <a16:creationId xmlns:a16="http://schemas.microsoft.com/office/drawing/2014/main" id="{33D271DC-4812-E64A-9B9F-B0B41FB5B5B7}"/>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8" name="TextBox 67">
            <a:extLst>
              <a:ext uri="{FF2B5EF4-FFF2-40B4-BE49-F238E27FC236}">
                <a16:creationId xmlns:a16="http://schemas.microsoft.com/office/drawing/2014/main" id="{0E3AA5C1-5A04-3D41-A5C4-C691E353E7E8}"/>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9" name="TextBox 68">
            <a:extLst>
              <a:ext uri="{FF2B5EF4-FFF2-40B4-BE49-F238E27FC236}">
                <a16:creationId xmlns:a16="http://schemas.microsoft.com/office/drawing/2014/main" id="{BBDE7352-3F88-4348-9946-D5C1396F8782}"/>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70" name="TextBox 69">
            <a:extLst>
              <a:ext uri="{FF2B5EF4-FFF2-40B4-BE49-F238E27FC236}">
                <a16:creationId xmlns:a16="http://schemas.microsoft.com/office/drawing/2014/main" id="{BFB31A60-04EF-5249-9405-2FA880ECF30F}"/>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1" name="TextBox 70">
            <a:extLst>
              <a:ext uri="{FF2B5EF4-FFF2-40B4-BE49-F238E27FC236}">
                <a16:creationId xmlns:a16="http://schemas.microsoft.com/office/drawing/2014/main" id="{B0F4C6DA-9038-7B4A-8024-9C10616D7EC8}"/>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73" name="TextBox 72">
            <a:extLst>
              <a:ext uri="{FF2B5EF4-FFF2-40B4-BE49-F238E27FC236}">
                <a16:creationId xmlns:a16="http://schemas.microsoft.com/office/drawing/2014/main" id="{5E916914-B4A2-7C44-841F-573389DF2B16}"/>
              </a:ext>
            </a:extLst>
          </p:cNvPr>
          <p:cNvSpPr txBox="1"/>
          <p:nvPr/>
        </p:nvSpPr>
        <p:spPr>
          <a:xfrm>
            <a:off x="838198" y="1335884"/>
            <a:ext cx="6348331"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The trick is binary notation</a:t>
            </a:r>
            <a:r>
              <a:rPr lang="en-US" dirty="0">
                <a:sym typeface="Wingdings" pitchFamily="2" charset="2"/>
              </a:rPr>
              <a:t> -- counting in base two</a:t>
            </a:r>
            <a:br>
              <a:rPr lang="en-US" dirty="0">
                <a:sym typeface="Wingdings" pitchFamily="2" charset="2"/>
              </a:rPr>
            </a:br>
            <a:endParaRPr lang="en-US" dirty="0">
              <a:sym typeface="Wingdings" pitchFamily="2" charset="2"/>
            </a:endParaRPr>
          </a:p>
          <a:p>
            <a:br>
              <a:rPr lang="en-US" dirty="0">
                <a:sym typeface="Wingdings" pitchFamily="2" charset="2"/>
              </a:rPr>
            </a:br>
            <a:endParaRPr lang="en-US" dirty="0">
              <a:sym typeface="Wingdings" pitchFamily="2" charset="2"/>
            </a:endParaRPr>
          </a:p>
          <a:p>
            <a:pPr marL="285750" indent="-285750">
              <a:buFont typeface="Arial" panose="020B0604020202020204" pitchFamily="34" charset="0"/>
              <a:buChar char="•"/>
            </a:pPr>
            <a:endParaRPr lang="en-US" dirty="0"/>
          </a:p>
        </p:txBody>
      </p:sp>
      <p:graphicFrame>
        <p:nvGraphicFramePr>
          <p:cNvPr id="6" name="Table 5">
            <a:extLst>
              <a:ext uri="{FF2B5EF4-FFF2-40B4-BE49-F238E27FC236}">
                <a16:creationId xmlns:a16="http://schemas.microsoft.com/office/drawing/2014/main" id="{B0E63A95-46A4-3D41-9720-CB09A83596E0}"/>
              </a:ext>
            </a:extLst>
          </p:cNvPr>
          <p:cNvGraphicFramePr>
            <a:graphicFrameLocks noGrp="1"/>
          </p:cNvGraphicFramePr>
          <p:nvPr/>
        </p:nvGraphicFramePr>
        <p:xfrm>
          <a:off x="2332071" y="1974609"/>
          <a:ext cx="2072824" cy="3657600"/>
        </p:xfrm>
        <a:graphic>
          <a:graphicData uri="http://schemas.openxmlformats.org/drawingml/2006/table">
            <a:tbl>
              <a:tblPr firstRow="1" bandRow="1">
                <a:tableStyleId>{073A0DAA-6AF3-43AB-8588-CEC1D06C72B9}</a:tableStyleId>
              </a:tblPr>
              <a:tblGrid>
                <a:gridCol w="1036412">
                  <a:extLst>
                    <a:ext uri="{9D8B030D-6E8A-4147-A177-3AD203B41FA5}">
                      <a16:colId xmlns:a16="http://schemas.microsoft.com/office/drawing/2014/main" val="3347050065"/>
                    </a:ext>
                  </a:extLst>
                </a:gridCol>
                <a:gridCol w="1036412">
                  <a:extLst>
                    <a:ext uri="{9D8B030D-6E8A-4147-A177-3AD203B41FA5}">
                      <a16:colId xmlns:a16="http://schemas.microsoft.com/office/drawing/2014/main" val="3649684906"/>
                    </a:ext>
                  </a:extLst>
                </a:gridCol>
              </a:tblGrid>
              <a:tr h="296413">
                <a:tc>
                  <a:txBody>
                    <a:bodyPr/>
                    <a:lstStyle/>
                    <a:p>
                      <a:pPr algn="ctr"/>
                      <a:r>
                        <a:rPr lang="en-US" sz="1400" dirty="0"/>
                        <a:t>BASE TWO</a:t>
                      </a:r>
                    </a:p>
                  </a:txBody>
                  <a:tcPr/>
                </a:tc>
                <a:tc>
                  <a:txBody>
                    <a:bodyPr/>
                    <a:lstStyle/>
                    <a:p>
                      <a:pPr algn="ctr"/>
                      <a:r>
                        <a:rPr lang="en-US" sz="1400" dirty="0"/>
                        <a:t>BASE TEN</a:t>
                      </a:r>
                    </a:p>
                  </a:txBody>
                  <a:tcPr/>
                </a:tc>
                <a:extLst>
                  <a:ext uri="{0D108BD9-81ED-4DB2-BD59-A6C34878D82A}">
                    <a16:rowId xmlns:a16="http://schemas.microsoft.com/office/drawing/2014/main" val="3312545806"/>
                  </a:ext>
                </a:extLst>
              </a:tr>
              <a:tr h="274634">
                <a:tc>
                  <a:txBody>
                    <a:bodyPr/>
                    <a:lstStyle/>
                    <a:p>
                      <a:pPr algn="ctr"/>
                      <a:r>
                        <a:rPr lang="en-US" sz="1400" dirty="0"/>
                        <a:t>0</a:t>
                      </a:r>
                    </a:p>
                  </a:txBody>
                  <a:tcPr/>
                </a:tc>
                <a:tc>
                  <a:txBody>
                    <a:bodyPr/>
                    <a:lstStyle/>
                    <a:p>
                      <a:pPr algn="ctr"/>
                      <a:r>
                        <a:rPr lang="en-US" sz="1400" dirty="0"/>
                        <a:t>0</a:t>
                      </a:r>
                    </a:p>
                  </a:txBody>
                  <a:tcPr/>
                </a:tc>
                <a:extLst>
                  <a:ext uri="{0D108BD9-81ED-4DB2-BD59-A6C34878D82A}">
                    <a16:rowId xmlns:a16="http://schemas.microsoft.com/office/drawing/2014/main" val="2640757946"/>
                  </a:ext>
                </a:extLst>
              </a:tr>
              <a:tr h="274634">
                <a:tc>
                  <a:txBody>
                    <a:bodyPr/>
                    <a:lstStyle/>
                    <a:p>
                      <a:pPr algn="ctr"/>
                      <a:r>
                        <a:rPr lang="en-US" sz="1400" dirty="0"/>
                        <a:t>1</a:t>
                      </a:r>
                    </a:p>
                  </a:txBody>
                  <a:tcPr/>
                </a:tc>
                <a:tc>
                  <a:txBody>
                    <a:bodyPr/>
                    <a:lstStyle/>
                    <a:p>
                      <a:pPr algn="ctr"/>
                      <a:r>
                        <a:rPr lang="en-US" sz="1400" dirty="0"/>
                        <a:t>1</a:t>
                      </a:r>
                    </a:p>
                  </a:txBody>
                  <a:tcPr/>
                </a:tc>
                <a:extLst>
                  <a:ext uri="{0D108BD9-81ED-4DB2-BD59-A6C34878D82A}">
                    <a16:rowId xmlns:a16="http://schemas.microsoft.com/office/drawing/2014/main" val="2713742153"/>
                  </a:ext>
                </a:extLst>
              </a:tr>
              <a:tr h="274634">
                <a:tc>
                  <a:txBody>
                    <a:bodyPr/>
                    <a:lstStyle/>
                    <a:p>
                      <a:pPr algn="ctr"/>
                      <a:r>
                        <a:rPr lang="en-US" sz="1400" dirty="0"/>
                        <a:t>10</a:t>
                      </a:r>
                    </a:p>
                  </a:txBody>
                  <a:tcPr/>
                </a:tc>
                <a:tc>
                  <a:txBody>
                    <a:bodyPr/>
                    <a:lstStyle/>
                    <a:p>
                      <a:pPr algn="ctr"/>
                      <a:r>
                        <a:rPr lang="en-US" sz="1400" dirty="0"/>
                        <a:t>2</a:t>
                      </a:r>
                    </a:p>
                  </a:txBody>
                  <a:tcPr/>
                </a:tc>
                <a:extLst>
                  <a:ext uri="{0D108BD9-81ED-4DB2-BD59-A6C34878D82A}">
                    <a16:rowId xmlns:a16="http://schemas.microsoft.com/office/drawing/2014/main" val="1916062988"/>
                  </a:ext>
                </a:extLst>
              </a:tr>
              <a:tr h="274634">
                <a:tc>
                  <a:txBody>
                    <a:bodyPr/>
                    <a:lstStyle/>
                    <a:p>
                      <a:pPr algn="ctr"/>
                      <a:r>
                        <a:rPr lang="en-US" sz="1400" dirty="0"/>
                        <a:t>11</a:t>
                      </a:r>
                    </a:p>
                  </a:txBody>
                  <a:tcPr/>
                </a:tc>
                <a:tc>
                  <a:txBody>
                    <a:bodyPr/>
                    <a:lstStyle/>
                    <a:p>
                      <a:pPr algn="ctr"/>
                      <a:r>
                        <a:rPr lang="en-US" sz="1400" dirty="0"/>
                        <a:t>3</a:t>
                      </a:r>
                    </a:p>
                  </a:txBody>
                  <a:tcPr/>
                </a:tc>
                <a:extLst>
                  <a:ext uri="{0D108BD9-81ED-4DB2-BD59-A6C34878D82A}">
                    <a16:rowId xmlns:a16="http://schemas.microsoft.com/office/drawing/2014/main" val="1467828003"/>
                  </a:ext>
                </a:extLst>
              </a:tr>
              <a:tr h="274634">
                <a:tc>
                  <a:txBody>
                    <a:bodyPr/>
                    <a:lstStyle/>
                    <a:p>
                      <a:pPr algn="ctr"/>
                      <a:r>
                        <a:rPr lang="en-US" sz="1400" dirty="0"/>
                        <a:t>100</a:t>
                      </a:r>
                    </a:p>
                  </a:txBody>
                  <a:tcPr/>
                </a:tc>
                <a:tc>
                  <a:txBody>
                    <a:bodyPr/>
                    <a:lstStyle/>
                    <a:p>
                      <a:pPr algn="ctr"/>
                      <a:r>
                        <a:rPr lang="en-US" sz="1400" dirty="0"/>
                        <a:t>4</a:t>
                      </a:r>
                    </a:p>
                  </a:txBody>
                  <a:tcPr/>
                </a:tc>
                <a:extLst>
                  <a:ext uri="{0D108BD9-81ED-4DB2-BD59-A6C34878D82A}">
                    <a16:rowId xmlns:a16="http://schemas.microsoft.com/office/drawing/2014/main" val="1564647656"/>
                  </a:ext>
                </a:extLst>
              </a:tr>
              <a:tr h="274634">
                <a:tc>
                  <a:txBody>
                    <a:bodyPr/>
                    <a:lstStyle/>
                    <a:p>
                      <a:pPr algn="ctr"/>
                      <a:r>
                        <a:rPr lang="en-US" sz="1400" dirty="0"/>
                        <a:t>101</a:t>
                      </a:r>
                    </a:p>
                  </a:txBody>
                  <a:tcPr/>
                </a:tc>
                <a:tc>
                  <a:txBody>
                    <a:bodyPr/>
                    <a:lstStyle/>
                    <a:p>
                      <a:pPr algn="ctr"/>
                      <a:r>
                        <a:rPr lang="en-US" sz="1400" dirty="0"/>
                        <a:t>5</a:t>
                      </a:r>
                    </a:p>
                  </a:txBody>
                  <a:tcPr/>
                </a:tc>
                <a:extLst>
                  <a:ext uri="{0D108BD9-81ED-4DB2-BD59-A6C34878D82A}">
                    <a16:rowId xmlns:a16="http://schemas.microsoft.com/office/drawing/2014/main" val="1655167999"/>
                  </a:ext>
                </a:extLst>
              </a:tr>
              <a:tr h="274634">
                <a:tc>
                  <a:txBody>
                    <a:bodyPr/>
                    <a:lstStyle/>
                    <a:p>
                      <a:pPr algn="ctr"/>
                      <a:r>
                        <a:rPr lang="en-US" sz="1400" dirty="0"/>
                        <a:t>110</a:t>
                      </a:r>
                    </a:p>
                  </a:txBody>
                  <a:tcPr/>
                </a:tc>
                <a:tc>
                  <a:txBody>
                    <a:bodyPr/>
                    <a:lstStyle/>
                    <a:p>
                      <a:pPr algn="ctr"/>
                      <a:r>
                        <a:rPr lang="en-US" sz="1400" dirty="0"/>
                        <a:t>6</a:t>
                      </a:r>
                    </a:p>
                  </a:txBody>
                  <a:tcPr/>
                </a:tc>
                <a:extLst>
                  <a:ext uri="{0D108BD9-81ED-4DB2-BD59-A6C34878D82A}">
                    <a16:rowId xmlns:a16="http://schemas.microsoft.com/office/drawing/2014/main" val="4267784291"/>
                  </a:ext>
                </a:extLst>
              </a:tr>
              <a:tr h="274634">
                <a:tc>
                  <a:txBody>
                    <a:bodyPr/>
                    <a:lstStyle/>
                    <a:p>
                      <a:pPr algn="ctr"/>
                      <a:r>
                        <a:rPr lang="en-US" sz="1400" dirty="0"/>
                        <a:t>111</a:t>
                      </a:r>
                    </a:p>
                  </a:txBody>
                  <a:tcPr/>
                </a:tc>
                <a:tc>
                  <a:txBody>
                    <a:bodyPr/>
                    <a:lstStyle/>
                    <a:p>
                      <a:pPr algn="ctr"/>
                      <a:r>
                        <a:rPr lang="en-US" sz="1400" dirty="0"/>
                        <a:t>7</a:t>
                      </a:r>
                    </a:p>
                  </a:txBody>
                  <a:tcPr/>
                </a:tc>
                <a:extLst>
                  <a:ext uri="{0D108BD9-81ED-4DB2-BD59-A6C34878D82A}">
                    <a16:rowId xmlns:a16="http://schemas.microsoft.com/office/drawing/2014/main" val="1964236553"/>
                  </a:ext>
                </a:extLst>
              </a:tr>
              <a:tr h="274634">
                <a:tc>
                  <a:txBody>
                    <a:bodyPr/>
                    <a:lstStyle/>
                    <a:p>
                      <a:pPr algn="ctr"/>
                      <a:r>
                        <a:rPr lang="en-US" sz="1400" dirty="0"/>
                        <a:t>1000</a:t>
                      </a:r>
                    </a:p>
                  </a:txBody>
                  <a:tcPr/>
                </a:tc>
                <a:tc>
                  <a:txBody>
                    <a:bodyPr/>
                    <a:lstStyle/>
                    <a:p>
                      <a:pPr algn="ctr"/>
                      <a:r>
                        <a:rPr lang="en-US" sz="1400" dirty="0"/>
                        <a:t>8</a:t>
                      </a:r>
                    </a:p>
                  </a:txBody>
                  <a:tcPr/>
                </a:tc>
                <a:extLst>
                  <a:ext uri="{0D108BD9-81ED-4DB2-BD59-A6C34878D82A}">
                    <a16:rowId xmlns:a16="http://schemas.microsoft.com/office/drawing/2014/main" val="2019589198"/>
                  </a:ext>
                </a:extLst>
              </a:tr>
              <a:tr h="274634">
                <a:tc>
                  <a:txBody>
                    <a:bodyPr/>
                    <a:lstStyle/>
                    <a:p>
                      <a:pPr algn="ctr"/>
                      <a:r>
                        <a:rPr lang="en-US" sz="1400" dirty="0"/>
                        <a:t>1001</a:t>
                      </a:r>
                    </a:p>
                  </a:txBody>
                  <a:tcPr/>
                </a:tc>
                <a:tc>
                  <a:txBody>
                    <a:bodyPr/>
                    <a:lstStyle/>
                    <a:p>
                      <a:pPr algn="ctr"/>
                      <a:r>
                        <a:rPr lang="en-US" sz="1400" dirty="0"/>
                        <a:t>9</a:t>
                      </a:r>
                    </a:p>
                  </a:txBody>
                  <a:tcPr/>
                </a:tc>
                <a:extLst>
                  <a:ext uri="{0D108BD9-81ED-4DB2-BD59-A6C34878D82A}">
                    <a16:rowId xmlns:a16="http://schemas.microsoft.com/office/drawing/2014/main" val="1154865642"/>
                  </a:ext>
                </a:extLst>
              </a:tr>
              <a:tr h="274634">
                <a:tc>
                  <a:txBody>
                    <a:bodyPr/>
                    <a:lstStyle/>
                    <a:p>
                      <a:pPr algn="ctr"/>
                      <a:r>
                        <a:rPr lang="en-US" sz="1400" dirty="0"/>
                        <a:t>1010</a:t>
                      </a:r>
                    </a:p>
                  </a:txBody>
                  <a:tcPr/>
                </a:tc>
                <a:tc>
                  <a:txBody>
                    <a:bodyPr/>
                    <a:lstStyle/>
                    <a:p>
                      <a:pPr algn="ctr"/>
                      <a:r>
                        <a:rPr lang="en-US" sz="1400" dirty="0"/>
                        <a:t>10</a:t>
                      </a:r>
                    </a:p>
                  </a:txBody>
                  <a:tcPr/>
                </a:tc>
                <a:extLst>
                  <a:ext uri="{0D108BD9-81ED-4DB2-BD59-A6C34878D82A}">
                    <a16:rowId xmlns:a16="http://schemas.microsoft.com/office/drawing/2014/main" val="2226997849"/>
                  </a:ext>
                </a:extLst>
              </a:tr>
            </a:tbl>
          </a:graphicData>
        </a:graphic>
      </p:graphicFrame>
      <p:sp>
        <p:nvSpPr>
          <p:cNvPr id="7" name="Right Arrow 6">
            <a:extLst>
              <a:ext uri="{FF2B5EF4-FFF2-40B4-BE49-F238E27FC236}">
                <a16:creationId xmlns:a16="http://schemas.microsoft.com/office/drawing/2014/main" id="{36E9EABE-9F1B-964D-A381-4D1670A99E95}"/>
              </a:ext>
            </a:extLst>
          </p:cNvPr>
          <p:cNvSpPr/>
          <p:nvPr/>
        </p:nvSpPr>
        <p:spPr>
          <a:xfrm rot="18880042">
            <a:off x="6027171" y="3844775"/>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6" descr="Related image">
            <a:extLst>
              <a:ext uri="{FF2B5EF4-FFF2-40B4-BE49-F238E27FC236}">
                <a16:creationId xmlns:a16="http://schemas.microsoft.com/office/drawing/2014/main" id="{912EB9ED-0640-B140-946B-F3CACCA366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1687" y="1638523"/>
            <a:ext cx="2912339" cy="208960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9B80E85-C9FF-4042-83BB-F8F7A36FD1C1}"/>
              </a:ext>
            </a:extLst>
          </p:cNvPr>
          <p:cNvSpPr txBox="1"/>
          <p:nvPr/>
        </p:nvSpPr>
        <p:spPr>
          <a:xfrm>
            <a:off x="4934319" y="1948911"/>
            <a:ext cx="1636336" cy="1600438"/>
          </a:xfrm>
          <a:prstGeom prst="rect">
            <a:avLst/>
          </a:prstGeom>
          <a:noFill/>
        </p:spPr>
        <p:txBody>
          <a:bodyPr wrap="square" rtlCol="0">
            <a:spAutoFit/>
          </a:bodyPr>
          <a:lstStyle/>
          <a:p>
            <a:r>
              <a:rPr lang="en-US" sz="1400" dirty="0"/>
              <a:t>that's how you can represent numbers like 137 or 42 in a computer – by using bits to write down the base two version. </a:t>
            </a:r>
          </a:p>
        </p:txBody>
      </p:sp>
    </p:spTree>
    <p:extLst>
      <p:ext uri="{BB962C8B-B14F-4D97-AF65-F5344CB8AC3E}">
        <p14:creationId xmlns:p14="http://schemas.microsoft.com/office/powerpoint/2010/main" val="2653425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HOW BINARY WORKS</a:t>
            </a:r>
          </a:p>
        </p:txBody>
      </p:sp>
      <p:graphicFrame>
        <p:nvGraphicFramePr>
          <p:cNvPr id="6" name="Table 5">
            <a:extLst>
              <a:ext uri="{FF2B5EF4-FFF2-40B4-BE49-F238E27FC236}">
                <a16:creationId xmlns:a16="http://schemas.microsoft.com/office/drawing/2014/main" id="{B0E63A95-46A4-3D41-9720-CB09A83596E0}"/>
              </a:ext>
            </a:extLst>
          </p:cNvPr>
          <p:cNvGraphicFramePr>
            <a:graphicFrameLocks noGrp="1"/>
          </p:cNvGraphicFramePr>
          <p:nvPr/>
        </p:nvGraphicFramePr>
        <p:xfrm>
          <a:off x="2332071" y="1974609"/>
          <a:ext cx="2072824" cy="3657600"/>
        </p:xfrm>
        <a:graphic>
          <a:graphicData uri="http://schemas.openxmlformats.org/drawingml/2006/table">
            <a:tbl>
              <a:tblPr firstRow="1" bandRow="1">
                <a:tableStyleId>{073A0DAA-6AF3-43AB-8588-CEC1D06C72B9}</a:tableStyleId>
              </a:tblPr>
              <a:tblGrid>
                <a:gridCol w="1036412">
                  <a:extLst>
                    <a:ext uri="{9D8B030D-6E8A-4147-A177-3AD203B41FA5}">
                      <a16:colId xmlns:a16="http://schemas.microsoft.com/office/drawing/2014/main" val="3347050065"/>
                    </a:ext>
                  </a:extLst>
                </a:gridCol>
                <a:gridCol w="1036412">
                  <a:extLst>
                    <a:ext uri="{9D8B030D-6E8A-4147-A177-3AD203B41FA5}">
                      <a16:colId xmlns:a16="http://schemas.microsoft.com/office/drawing/2014/main" val="3649684906"/>
                    </a:ext>
                  </a:extLst>
                </a:gridCol>
              </a:tblGrid>
              <a:tr h="296413">
                <a:tc>
                  <a:txBody>
                    <a:bodyPr/>
                    <a:lstStyle/>
                    <a:p>
                      <a:pPr algn="ctr"/>
                      <a:r>
                        <a:rPr lang="en-US" sz="1400" dirty="0"/>
                        <a:t>BASE TWO</a:t>
                      </a:r>
                    </a:p>
                  </a:txBody>
                  <a:tcPr/>
                </a:tc>
                <a:tc>
                  <a:txBody>
                    <a:bodyPr/>
                    <a:lstStyle/>
                    <a:p>
                      <a:pPr algn="ctr"/>
                      <a:r>
                        <a:rPr lang="en-US" sz="1400" dirty="0"/>
                        <a:t>BASE TEN</a:t>
                      </a:r>
                    </a:p>
                  </a:txBody>
                  <a:tcPr/>
                </a:tc>
                <a:extLst>
                  <a:ext uri="{0D108BD9-81ED-4DB2-BD59-A6C34878D82A}">
                    <a16:rowId xmlns:a16="http://schemas.microsoft.com/office/drawing/2014/main" val="3312545806"/>
                  </a:ext>
                </a:extLst>
              </a:tr>
              <a:tr h="274634">
                <a:tc>
                  <a:txBody>
                    <a:bodyPr/>
                    <a:lstStyle/>
                    <a:p>
                      <a:pPr algn="ctr"/>
                      <a:r>
                        <a:rPr lang="en-US" sz="1400" dirty="0"/>
                        <a:t>0</a:t>
                      </a:r>
                    </a:p>
                  </a:txBody>
                  <a:tcPr/>
                </a:tc>
                <a:tc>
                  <a:txBody>
                    <a:bodyPr/>
                    <a:lstStyle/>
                    <a:p>
                      <a:pPr algn="ctr"/>
                      <a:r>
                        <a:rPr lang="en-US" sz="1400" dirty="0"/>
                        <a:t>0</a:t>
                      </a:r>
                    </a:p>
                  </a:txBody>
                  <a:tcPr/>
                </a:tc>
                <a:extLst>
                  <a:ext uri="{0D108BD9-81ED-4DB2-BD59-A6C34878D82A}">
                    <a16:rowId xmlns:a16="http://schemas.microsoft.com/office/drawing/2014/main" val="2640757946"/>
                  </a:ext>
                </a:extLst>
              </a:tr>
              <a:tr h="274634">
                <a:tc>
                  <a:txBody>
                    <a:bodyPr/>
                    <a:lstStyle/>
                    <a:p>
                      <a:pPr algn="ctr"/>
                      <a:r>
                        <a:rPr lang="en-US" sz="1400" dirty="0"/>
                        <a:t>1</a:t>
                      </a:r>
                    </a:p>
                  </a:txBody>
                  <a:tcPr/>
                </a:tc>
                <a:tc>
                  <a:txBody>
                    <a:bodyPr/>
                    <a:lstStyle/>
                    <a:p>
                      <a:pPr algn="ctr"/>
                      <a:r>
                        <a:rPr lang="en-US" sz="1400" dirty="0"/>
                        <a:t>1</a:t>
                      </a:r>
                    </a:p>
                  </a:txBody>
                  <a:tcPr/>
                </a:tc>
                <a:extLst>
                  <a:ext uri="{0D108BD9-81ED-4DB2-BD59-A6C34878D82A}">
                    <a16:rowId xmlns:a16="http://schemas.microsoft.com/office/drawing/2014/main" val="2713742153"/>
                  </a:ext>
                </a:extLst>
              </a:tr>
              <a:tr h="274634">
                <a:tc>
                  <a:txBody>
                    <a:bodyPr/>
                    <a:lstStyle/>
                    <a:p>
                      <a:pPr algn="ctr"/>
                      <a:r>
                        <a:rPr lang="en-US" sz="1400" dirty="0"/>
                        <a:t>10</a:t>
                      </a:r>
                    </a:p>
                  </a:txBody>
                  <a:tcPr/>
                </a:tc>
                <a:tc>
                  <a:txBody>
                    <a:bodyPr/>
                    <a:lstStyle/>
                    <a:p>
                      <a:pPr algn="ctr"/>
                      <a:r>
                        <a:rPr lang="en-US" sz="1400" dirty="0"/>
                        <a:t>2</a:t>
                      </a:r>
                    </a:p>
                  </a:txBody>
                  <a:tcPr/>
                </a:tc>
                <a:extLst>
                  <a:ext uri="{0D108BD9-81ED-4DB2-BD59-A6C34878D82A}">
                    <a16:rowId xmlns:a16="http://schemas.microsoft.com/office/drawing/2014/main" val="1916062988"/>
                  </a:ext>
                </a:extLst>
              </a:tr>
              <a:tr h="274634">
                <a:tc>
                  <a:txBody>
                    <a:bodyPr/>
                    <a:lstStyle/>
                    <a:p>
                      <a:pPr algn="ctr"/>
                      <a:r>
                        <a:rPr lang="en-US" sz="1400" dirty="0"/>
                        <a:t>11</a:t>
                      </a:r>
                    </a:p>
                  </a:txBody>
                  <a:tcPr/>
                </a:tc>
                <a:tc>
                  <a:txBody>
                    <a:bodyPr/>
                    <a:lstStyle/>
                    <a:p>
                      <a:pPr algn="ctr"/>
                      <a:r>
                        <a:rPr lang="en-US" sz="1400" dirty="0"/>
                        <a:t>3</a:t>
                      </a:r>
                    </a:p>
                  </a:txBody>
                  <a:tcPr/>
                </a:tc>
                <a:extLst>
                  <a:ext uri="{0D108BD9-81ED-4DB2-BD59-A6C34878D82A}">
                    <a16:rowId xmlns:a16="http://schemas.microsoft.com/office/drawing/2014/main" val="1467828003"/>
                  </a:ext>
                </a:extLst>
              </a:tr>
              <a:tr h="274634">
                <a:tc>
                  <a:txBody>
                    <a:bodyPr/>
                    <a:lstStyle/>
                    <a:p>
                      <a:pPr algn="ctr"/>
                      <a:r>
                        <a:rPr lang="en-US" sz="1400" dirty="0"/>
                        <a:t>100</a:t>
                      </a:r>
                    </a:p>
                  </a:txBody>
                  <a:tcPr/>
                </a:tc>
                <a:tc>
                  <a:txBody>
                    <a:bodyPr/>
                    <a:lstStyle/>
                    <a:p>
                      <a:pPr algn="ctr"/>
                      <a:r>
                        <a:rPr lang="en-US" sz="1400" dirty="0"/>
                        <a:t>4</a:t>
                      </a:r>
                    </a:p>
                  </a:txBody>
                  <a:tcPr/>
                </a:tc>
                <a:extLst>
                  <a:ext uri="{0D108BD9-81ED-4DB2-BD59-A6C34878D82A}">
                    <a16:rowId xmlns:a16="http://schemas.microsoft.com/office/drawing/2014/main" val="1564647656"/>
                  </a:ext>
                </a:extLst>
              </a:tr>
              <a:tr h="274634">
                <a:tc>
                  <a:txBody>
                    <a:bodyPr/>
                    <a:lstStyle/>
                    <a:p>
                      <a:pPr algn="ctr"/>
                      <a:r>
                        <a:rPr lang="en-US" sz="1400" dirty="0"/>
                        <a:t>101</a:t>
                      </a:r>
                    </a:p>
                  </a:txBody>
                  <a:tcPr/>
                </a:tc>
                <a:tc>
                  <a:txBody>
                    <a:bodyPr/>
                    <a:lstStyle/>
                    <a:p>
                      <a:pPr algn="ctr"/>
                      <a:r>
                        <a:rPr lang="en-US" sz="1400" dirty="0"/>
                        <a:t>5</a:t>
                      </a:r>
                    </a:p>
                  </a:txBody>
                  <a:tcPr/>
                </a:tc>
                <a:extLst>
                  <a:ext uri="{0D108BD9-81ED-4DB2-BD59-A6C34878D82A}">
                    <a16:rowId xmlns:a16="http://schemas.microsoft.com/office/drawing/2014/main" val="1655167999"/>
                  </a:ext>
                </a:extLst>
              </a:tr>
              <a:tr h="274634">
                <a:tc>
                  <a:txBody>
                    <a:bodyPr/>
                    <a:lstStyle/>
                    <a:p>
                      <a:pPr algn="ctr"/>
                      <a:r>
                        <a:rPr lang="en-US" sz="1400" dirty="0"/>
                        <a:t>110</a:t>
                      </a:r>
                    </a:p>
                  </a:txBody>
                  <a:tcPr/>
                </a:tc>
                <a:tc>
                  <a:txBody>
                    <a:bodyPr/>
                    <a:lstStyle/>
                    <a:p>
                      <a:pPr algn="ctr"/>
                      <a:r>
                        <a:rPr lang="en-US" sz="1400" dirty="0"/>
                        <a:t>6</a:t>
                      </a:r>
                    </a:p>
                  </a:txBody>
                  <a:tcPr/>
                </a:tc>
                <a:extLst>
                  <a:ext uri="{0D108BD9-81ED-4DB2-BD59-A6C34878D82A}">
                    <a16:rowId xmlns:a16="http://schemas.microsoft.com/office/drawing/2014/main" val="4267784291"/>
                  </a:ext>
                </a:extLst>
              </a:tr>
              <a:tr h="274634">
                <a:tc>
                  <a:txBody>
                    <a:bodyPr/>
                    <a:lstStyle/>
                    <a:p>
                      <a:pPr algn="ctr"/>
                      <a:r>
                        <a:rPr lang="en-US" sz="1400" dirty="0"/>
                        <a:t>111</a:t>
                      </a:r>
                    </a:p>
                  </a:txBody>
                  <a:tcPr/>
                </a:tc>
                <a:tc>
                  <a:txBody>
                    <a:bodyPr/>
                    <a:lstStyle/>
                    <a:p>
                      <a:pPr algn="ctr"/>
                      <a:r>
                        <a:rPr lang="en-US" sz="1400" dirty="0"/>
                        <a:t>7</a:t>
                      </a:r>
                    </a:p>
                  </a:txBody>
                  <a:tcPr/>
                </a:tc>
                <a:extLst>
                  <a:ext uri="{0D108BD9-81ED-4DB2-BD59-A6C34878D82A}">
                    <a16:rowId xmlns:a16="http://schemas.microsoft.com/office/drawing/2014/main" val="1964236553"/>
                  </a:ext>
                </a:extLst>
              </a:tr>
              <a:tr h="274634">
                <a:tc>
                  <a:txBody>
                    <a:bodyPr/>
                    <a:lstStyle/>
                    <a:p>
                      <a:pPr algn="ctr"/>
                      <a:r>
                        <a:rPr lang="en-US" sz="1400" dirty="0"/>
                        <a:t>1000</a:t>
                      </a:r>
                    </a:p>
                  </a:txBody>
                  <a:tcPr/>
                </a:tc>
                <a:tc>
                  <a:txBody>
                    <a:bodyPr/>
                    <a:lstStyle/>
                    <a:p>
                      <a:pPr algn="ctr"/>
                      <a:r>
                        <a:rPr lang="en-US" sz="1400" dirty="0"/>
                        <a:t>8</a:t>
                      </a:r>
                    </a:p>
                  </a:txBody>
                  <a:tcPr/>
                </a:tc>
                <a:extLst>
                  <a:ext uri="{0D108BD9-81ED-4DB2-BD59-A6C34878D82A}">
                    <a16:rowId xmlns:a16="http://schemas.microsoft.com/office/drawing/2014/main" val="2019589198"/>
                  </a:ext>
                </a:extLst>
              </a:tr>
              <a:tr h="274634">
                <a:tc>
                  <a:txBody>
                    <a:bodyPr/>
                    <a:lstStyle/>
                    <a:p>
                      <a:pPr algn="ctr"/>
                      <a:r>
                        <a:rPr lang="en-US" sz="1400" dirty="0"/>
                        <a:t>1001</a:t>
                      </a:r>
                    </a:p>
                  </a:txBody>
                  <a:tcPr/>
                </a:tc>
                <a:tc>
                  <a:txBody>
                    <a:bodyPr/>
                    <a:lstStyle/>
                    <a:p>
                      <a:pPr algn="ctr"/>
                      <a:r>
                        <a:rPr lang="en-US" sz="1400" dirty="0"/>
                        <a:t>9</a:t>
                      </a:r>
                    </a:p>
                  </a:txBody>
                  <a:tcPr/>
                </a:tc>
                <a:extLst>
                  <a:ext uri="{0D108BD9-81ED-4DB2-BD59-A6C34878D82A}">
                    <a16:rowId xmlns:a16="http://schemas.microsoft.com/office/drawing/2014/main" val="1154865642"/>
                  </a:ext>
                </a:extLst>
              </a:tr>
              <a:tr h="274634">
                <a:tc>
                  <a:txBody>
                    <a:bodyPr/>
                    <a:lstStyle/>
                    <a:p>
                      <a:pPr algn="ctr"/>
                      <a:r>
                        <a:rPr lang="en-US" sz="1400" dirty="0"/>
                        <a:t>1010</a:t>
                      </a:r>
                    </a:p>
                  </a:txBody>
                  <a:tcPr/>
                </a:tc>
                <a:tc>
                  <a:txBody>
                    <a:bodyPr/>
                    <a:lstStyle/>
                    <a:p>
                      <a:pPr algn="ctr"/>
                      <a:r>
                        <a:rPr lang="en-US" sz="1400" dirty="0"/>
                        <a:t>10</a:t>
                      </a:r>
                    </a:p>
                  </a:txBody>
                  <a:tcPr/>
                </a:tc>
                <a:extLst>
                  <a:ext uri="{0D108BD9-81ED-4DB2-BD59-A6C34878D82A}">
                    <a16:rowId xmlns:a16="http://schemas.microsoft.com/office/drawing/2014/main" val="2226997849"/>
                  </a:ext>
                </a:extLst>
              </a:tr>
            </a:tbl>
          </a:graphicData>
        </a:graphic>
      </p:graphicFrame>
      <p:sp>
        <p:nvSpPr>
          <p:cNvPr id="7" name="Right Arrow 6">
            <a:extLst>
              <a:ext uri="{FF2B5EF4-FFF2-40B4-BE49-F238E27FC236}">
                <a16:creationId xmlns:a16="http://schemas.microsoft.com/office/drawing/2014/main" id="{36E9EABE-9F1B-964D-A381-4D1670A99E95}"/>
              </a:ext>
            </a:extLst>
          </p:cNvPr>
          <p:cNvSpPr/>
          <p:nvPr/>
        </p:nvSpPr>
        <p:spPr>
          <a:xfrm rot="1525605">
            <a:off x="1250421" y="5002529"/>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9B80E85-C9FF-4042-83BB-F8F7A36FD1C1}"/>
              </a:ext>
            </a:extLst>
          </p:cNvPr>
          <p:cNvSpPr txBox="1"/>
          <p:nvPr/>
        </p:nvSpPr>
        <p:spPr>
          <a:xfrm>
            <a:off x="203024" y="4070370"/>
            <a:ext cx="1540319" cy="738664"/>
          </a:xfrm>
          <a:prstGeom prst="rect">
            <a:avLst/>
          </a:prstGeom>
          <a:noFill/>
        </p:spPr>
        <p:txBody>
          <a:bodyPr wrap="square" rtlCol="0">
            <a:spAutoFit/>
          </a:bodyPr>
          <a:lstStyle/>
          <a:p>
            <a:r>
              <a:rPr lang="en-US" sz="1400" dirty="0"/>
              <a:t>you can represent</a:t>
            </a:r>
          </a:p>
          <a:p>
            <a:r>
              <a:rPr lang="en-US" sz="1400" dirty="0"/>
              <a:t>the number ten </a:t>
            </a:r>
          </a:p>
          <a:p>
            <a:r>
              <a:rPr lang="en-US" sz="1400" dirty="0"/>
              <a:t>with 4 bits</a:t>
            </a:r>
          </a:p>
        </p:txBody>
      </p:sp>
      <p:sp>
        <p:nvSpPr>
          <p:cNvPr id="3" name="TextBox 2">
            <a:extLst>
              <a:ext uri="{FF2B5EF4-FFF2-40B4-BE49-F238E27FC236}">
                <a16:creationId xmlns:a16="http://schemas.microsoft.com/office/drawing/2014/main" id="{786144F4-A60B-7648-AC91-09190EAFF251}"/>
              </a:ext>
            </a:extLst>
          </p:cNvPr>
          <p:cNvSpPr txBox="1"/>
          <p:nvPr/>
        </p:nvSpPr>
        <p:spPr>
          <a:xfrm>
            <a:off x="6950266" y="1335884"/>
            <a:ext cx="4639795" cy="5262979"/>
          </a:xfrm>
          <a:prstGeom prst="rect">
            <a:avLst/>
          </a:prstGeom>
          <a:noFill/>
        </p:spPr>
        <p:txBody>
          <a:bodyPr wrap="square" rtlCol="0">
            <a:spAutoFit/>
          </a:bodyPr>
          <a:lstStyle/>
          <a:p>
            <a:r>
              <a:rPr lang="en-US" sz="2400" dirty="0"/>
              <a:t>QUICK QUIZ:</a:t>
            </a:r>
          </a:p>
          <a:p>
            <a:endParaRPr lang="en-US" sz="2400" dirty="0"/>
          </a:p>
          <a:p>
            <a:r>
              <a:rPr lang="en-US" sz="2400" dirty="0"/>
              <a:t>you can represent 8 different numbers with 3 bits (every number from 0 to 7)</a:t>
            </a:r>
          </a:p>
          <a:p>
            <a:endParaRPr lang="en-US" sz="2400" dirty="0"/>
          </a:p>
          <a:p>
            <a:r>
              <a:rPr lang="en-US" sz="2400" dirty="0"/>
              <a:t>how many different numbers can you represent with four bits? </a:t>
            </a:r>
          </a:p>
          <a:p>
            <a:endParaRPr lang="en-US" sz="2400" dirty="0"/>
          </a:p>
          <a:p>
            <a:r>
              <a:rPr lang="en-US" sz="2400" dirty="0"/>
              <a:t>what about five bits?</a:t>
            </a:r>
          </a:p>
          <a:p>
            <a:endParaRPr lang="en-US" sz="2400" dirty="0"/>
          </a:p>
          <a:p>
            <a:r>
              <a:rPr lang="en-US" sz="2400" dirty="0"/>
              <a:t>(spend a minute or so working it out on paper if you need to)</a:t>
            </a:r>
          </a:p>
          <a:p>
            <a:endParaRPr lang="en-US" sz="2400" dirty="0"/>
          </a:p>
        </p:txBody>
      </p:sp>
    </p:spTree>
    <p:extLst>
      <p:ext uri="{BB962C8B-B14F-4D97-AF65-F5344CB8AC3E}">
        <p14:creationId xmlns:p14="http://schemas.microsoft.com/office/powerpoint/2010/main" val="3944624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FROM NUMBERS TO LETTERS</a:t>
            </a:r>
          </a:p>
        </p:txBody>
      </p:sp>
      <p:sp>
        <p:nvSpPr>
          <p:cNvPr id="43" name="Frame 42">
            <a:extLst>
              <a:ext uri="{FF2B5EF4-FFF2-40B4-BE49-F238E27FC236}">
                <a16:creationId xmlns:a16="http://schemas.microsoft.com/office/drawing/2014/main" id="{CD84FBB5-34E1-F04B-A974-4FCE6B3CE745}"/>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9D384227-57F5-194F-BBEC-3ED06F13D572}"/>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DB10B229-822E-B148-A9B3-DC66CAF6906C}"/>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18EF8DA0-3167-604E-907B-227822748EC9}"/>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C95294C5-935D-3447-A44E-1BEB80197DE4}"/>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E703A6D8-4B4F-064C-81A1-A60CC121C4E1}"/>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Frame 48">
            <a:extLst>
              <a:ext uri="{FF2B5EF4-FFF2-40B4-BE49-F238E27FC236}">
                <a16:creationId xmlns:a16="http://schemas.microsoft.com/office/drawing/2014/main" id="{981D9980-FE93-1347-A920-0F6DBCDCB183}"/>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Frame 49">
            <a:extLst>
              <a:ext uri="{FF2B5EF4-FFF2-40B4-BE49-F238E27FC236}">
                <a16:creationId xmlns:a16="http://schemas.microsoft.com/office/drawing/2014/main" id="{EF51455E-B692-A640-ABB9-0543BD18855E}"/>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D238350E-9F9E-BA40-BB06-0018CFD076FA}"/>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3" name="Rectangle 52">
            <a:extLst>
              <a:ext uri="{FF2B5EF4-FFF2-40B4-BE49-F238E27FC236}">
                <a16:creationId xmlns:a16="http://schemas.microsoft.com/office/drawing/2014/main" id="{4C2E301B-8C63-9C45-A282-6103160A3196}"/>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78008C20-E1D1-3C4A-B9A3-08B7A40906DC}"/>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54">
            <a:extLst>
              <a:ext uri="{FF2B5EF4-FFF2-40B4-BE49-F238E27FC236}">
                <a16:creationId xmlns:a16="http://schemas.microsoft.com/office/drawing/2014/main" id="{915326DB-E8C4-7843-B9D1-4359BF5B0AA0}"/>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853F22A8-0313-4441-A94E-AD13E11BE09B}"/>
              </a:ext>
            </a:extLst>
          </p:cNvPr>
          <p:cNvSpPr txBox="1"/>
          <p:nvPr/>
        </p:nvSpPr>
        <p:spPr>
          <a:xfrm>
            <a:off x="5116359" y="4999512"/>
            <a:ext cx="535724" cy="369332"/>
          </a:xfrm>
          <a:prstGeom prst="rect">
            <a:avLst/>
          </a:prstGeom>
          <a:noFill/>
        </p:spPr>
        <p:txBody>
          <a:bodyPr wrap="none" rtlCol="0">
            <a:spAutoFit/>
          </a:bodyPr>
          <a:lstStyle/>
          <a:p>
            <a:r>
              <a:rPr lang="en-US" dirty="0"/>
              <a:t>137</a:t>
            </a:r>
          </a:p>
        </p:txBody>
      </p:sp>
      <p:sp>
        <p:nvSpPr>
          <p:cNvPr id="57" name="TextBox 56">
            <a:extLst>
              <a:ext uri="{FF2B5EF4-FFF2-40B4-BE49-F238E27FC236}">
                <a16:creationId xmlns:a16="http://schemas.microsoft.com/office/drawing/2014/main" id="{B2C14A1B-1B40-DD40-9BE4-D01DCDCE15C8}"/>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8" name="TextBox 57">
            <a:extLst>
              <a:ext uri="{FF2B5EF4-FFF2-40B4-BE49-F238E27FC236}">
                <a16:creationId xmlns:a16="http://schemas.microsoft.com/office/drawing/2014/main" id="{6D4AE863-0811-5F45-9BDA-74D6864B5D9F}"/>
              </a:ext>
            </a:extLst>
          </p:cNvPr>
          <p:cNvSpPr txBox="1"/>
          <p:nvPr/>
        </p:nvSpPr>
        <p:spPr>
          <a:xfrm>
            <a:off x="6570655" y="5050431"/>
            <a:ext cx="615874" cy="276999"/>
          </a:xfrm>
          <a:prstGeom prst="rect">
            <a:avLst/>
          </a:prstGeom>
          <a:noFill/>
        </p:spPr>
        <p:txBody>
          <a:bodyPr wrap="none" rtlCol="0">
            <a:spAutoFit/>
          </a:bodyPr>
          <a:lstStyle/>
          <a:p>
            <a:r>
              <a:rPr lang="en-US" sz="1200" dirty="0">
                <a:solidFill>
                  <a:srgbClr val="FF0000"/>
                </a:solidFill>
              </a:rPr>
              <a:t>"hello"</a:t>
            </a:r>
          </a:p>
        </p:txBody>
      </p:sp>
      <p:sp>
        <p:nvSpPr>
          <p:cNvPr id="59" name="TextBox 58">
            <a:extLst>
              <a:ext uri="{FF2B5EF4-FFF2-40B4-BE49-F238E27FC236}">
                <a16:creationId xmlns:a16="http://schemas.microsoft.com/office/drawing/2014/main" id="{B80A70F2-0715-8B4A-903B-25E7D1FEED59}"/>
              </a:ext>
            </a:extLst>
          </p:cNvPr>
          <p:cNvSpPr txBox="1"/>
          <p:nvPr/>
        </p:nvSpPr>
        <p:spPr>
          <a:xfrm>
            <a:off x="7266793" y="5036509"/>
            <a:ext cx="665760" cy="276999"/>
          </a:xfrm>
          <a:prstGeom prst="rect">
            <a:avLst/>
          </a:prstGeom>
          <a:noFill/>
        </p:spPr>
        <p:txBody>
          <a:bodyPr wrap="none" rtlCol="0">
            <a:spAutoFit/>
          </a:bodyPr>
          <a:lstStyle/>
          <a:p>
            <a:r>
              <a:rPr lang="en-US" sz="1200" dirty="0"/>
              <a:t>"world"</a:t>
            </a:r>
          </a:p>
        </p:txBody>
      </p:sp>
      <p:sp>
        <p:nvSpPr>
          <p:cNvPr id="60" name="TextBox 59">
            <a:extLst>
              <a:ext uri="{FF2B5EF4-FFF2-40B4-BE49-F238E27FC236}">
                <a16:creationId xmlns:a16="http://schemas.microsoft.com/office/drawing/2014/main" id="{3DD84BAA-6AEA-804F-A87D-71A2586C1E5C}"/>
              </a:ext>
            </a:extLst>
          </p:cNvPr>
          <p:cNvSpPr txBox="1"/>
          <p:nvPr/>
        </p:nvSpPr>
        <p:spPr>
          <a:xfrm>
            <a:off x="8144784" y="5055168"/>
            <a:ext cx="445956" cy="276999"/>
          </a:xfrm>
          <a:prstGeom prst="rect">
            <a:avLst/>
          </a:prstGeom>
          <a:noFill/>
        </p:spPr>
        <p:txBody>
          <a:bodyPr wrap="none" rtlCol="0">
            <a:spAutoFit/>
          </a:bodyPr>
          <a:lstStyle/>
          <a:p>
            <a:r>
              <a:rPr lang="en-US" sz="1200" dirty="0"/>
              <a:t>true</a:t>
            </a:r>
          </a:p>
        </p:txBody>
      </p:sp>
      <p:sp>
        <p:nvSpPr>
          <p:cNvPr id="61" name="TextBox 60">
            <a:extLst>
              <a:ext uri="{FF2B5EF4-FFF2-40B4-BE49-F238E27FC236}">
                <a16:creationId xmlns:a16="http://schemas.microsoft.com/office/drawing/2014/main" id="{B623A9BC-B1DB-9546-B528-2D2E7E807F21}"/>
              </a:ext>
            </a:extLst>
          </p:cNvPr>
          <p:cNvSpPr txBox="1"/>
          <p:nvPr/>
        </p:nvSpPr>
        <p:spPr>
          <a:xfrm>
            <a:off x="8743546" y="5058316"/>
            <a:ext cx="475002" cy="276999"/>
          </a:xfrm>
          <a:prstGeom prst="rect">
            <a:avLst/>
          </a:prstGeom>
          <a:noFill/>
        </p:spPr>
        <p:txBody>
          <a:bodyPr wrap="none" rtlCol="0">
            <a:spAutoFit/>
          </a:bodyPr>
          <a:lstStyle/>
          <a:p>
            <a:r>
              <a:rPr lang="en-US" sz="1200" dirty="0"/>
              <a:t>false</a:t>
            </a:r>
          </a:p>
        </p:txBody>
      </p:sp>
      <p:sp>
        <p:nvSpPr>
          <p:cNvPr id="62" name="TextBox 61">
            <a:extLst>
              <a:ext uri="{FF2B5EF4-FFF2-40B4-BE49-F238E27FC236}">
                <a16:creationId xmlns:a16="http://schemas.microsoft.com/office/drawing/2014/main" id="{66CA2F8A-10A2-324F-9EDF-FE9E0A84B95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3" name="TextBox 62">
            <a:extLst>
              <a:ext uri="{FF2B5EF4-FFF2-40B4-BE49-F238E27FC236}">
                <a16:creationId xmlns:a16="http://schemas.microsoft.com/office/drawing/2014/main" id="{738247DA-2AA0-9B40-BA70-54B67EA594A4}"/>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4" name="TextBox 63">
            <a:extLst>
              <a:ext uri="{FF2B5EF4-FFF2-40B4-BE49-F238E27FC236}">
                <a16:creationId xmlns:a16="http://schemas.microsoft.com/office/drawing/2014/main" id="{44394FC7-A029-E445-801B-2DAD3C05553C}"/>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5" name="TextBox 64">
            <a:extLst>
              <a:ext uri="{FF2B5EF4-FFF2-40B4-BE49-F238E27FC236}">
                <a16:creationId xmlns:a16="http://schemas.microsoft.com/office/drawing/2014/main" id="{29102807-A9DC-AC4C-8B37-F283F964C7E0}"/>
              </a:ext>
            </a:extLst>
          </p:cNvPr>
          <p:cNvSpPr txBox="1"/>
          <p:nvPr/>
        </p:nvSpPr>
        <p:spPr>
          <a:xfrm>
            <a:off x="6723994" y="5758962"/>
            <a:ext cx="301686" cy="369332"/>
          </a:xfrm>
          <a:prstGeom prst="rect">
            <a:avLst/>
          </a:prstGeom>
          <a:noFill/>
        </p:spPr>
        <p:txBody>
          <a:bodyPr wrap="square" rtlCol="0">
            <a:spAutoFit/>
          </a:bodyPr>
          <a:lstStyle/>
          <a:p>
            <a:r>
              <a:rPr lang="en-US" dirty="0"/>
              <a:t>2</a:t>
            </a:r>
          </a:p>
        </p:txBody>
      </p:sp>
      <p:sp>
        <p:nvSpPr>
          <p:cNvPr id="66" name="TextBox 65">
            <a:extLst>
              <a:ext uri="{FF2B5EF4-FFF2-40B4-BE49-F238E27FC236}">
                <a16:creationId xmlns:a16="http://schemas.microsoft.com/office/drawing/2014/main" id="{3C7F322D-90EE-B443-9BA5-07F2590A2448}"/>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7" name="TextBox 66">
            <a:extLst>
              <a:ext uri="{FF2B5EF4-FFF2-40B4-BE49-F238E27FC236}">
                <a16:creationId xmlns:a16="http://schemas.microsoft.com/office/drawing/2014/main" id="{33D271DC-4812-E64A-9B9F-B0B41FB5B5B7}"/>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8" name="TextBox 67">
            <a:extLst>
              <a:ext uri="{FF2B5EF4-FFF2-40B4-BE49-F238E27FC236}">
                <a16:creationId xmlns:a16="http://schemas.microsoft.com/office/drawing/2014/main" id="{0E3AA5C1-5A04-3D41-A5C4-C691E353E7E8}"/>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9" name="TextBox 68">
            <a:extLst>
              <a:ext uri="{FF2B5EF4-FFF2-40B4-BE49-F238E27FC236}">
                <a16:creationId xmlns:a16="http://schemas.microsoft.com/office/drawing/2014/main" id="{BBDE7352-3F88-4348-9946-D5C1396F8782}"/>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70" name="TextBox 69">
            <a:extLst>
              <a:ext uri="{FF2B5EF4-FFF2-40B4-BE49-F238E27FC236}">
                <a16:creationId xmlns:a16="http://schemas.microsoft.com/office/drawing/2014/main" id="{BFB31A60-04EF-5249-9405-2FA880ECF30F}"/>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1" name="TextBox 70">
            <a:extLst>
              <a:ext uri="{FF2B5EF4-FFF2-40B4-BE49-F238E27FC236}">
                <a16:creationId xmlns:a16="http://schemas.microsoft.com/office/drawing/2014/main" id="{B0F4C6DA-9038-7B4A-8024-9C10616D7EC8}"/>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7" name="Right Arrow 6">
            <a:extLst>
              <a:ext uri="{FF2B5EF4-FFF2-40B4-BE49-F238E27FC236}">
                <a16:creationId xmlns:a16="http://schemas.microsoft.com/office/drawing/2014/main" id="{36E9EABE-9F1B-964D-A381-4D1670A99E95}"/>
              </a:ext>
            </a:extLst>
          </p:cNvPr>
          <p:cNvSpPr/>
          <p:nvPr/>
        </p:nvSpPr>
        <p:spPr>
          <a:xfrm rot="3883751">
            <a:off x="6027171" y="3844775"/>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6" descr="Related image">
            <a:extLst>
              <a:ext uri="{FF2B5EF4-FFF2-40B4-BE49-F238E27FC236}">
                <a16:creationId xmlns:a16="http://schemas.microsoft.com/office/drawing/2014/main" id="{912EB9ED-0640-B140-946B-F3CACCA366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1687" y="1638523"/>
            <a:ext cx="2912339" cy="2089603"/>
          </a:xfrm>
          <a:prstGeom prst="rect">
            <a:avLst/>
          </a:prstGeom>
          <a:noFill/>
          <a:extLst>
            <a:ext uri="{909E8E84-426E-40DD-AFC4-6F175D3DCCD1}">
              <a14:hiddenFill xmlns:a14="http://schemas.microsoft.com/office/drawing/2010/main">
                <a:solidFill>
                  <a:srgbClr val="FFFFFF"/>
                </a:solidFill>
              </a14:hiddenFill>
            </a:ext>
          </a:extLst>
        </p:spPr>
      </p:pic>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Okay, that's how we represent numbers. But how do we represent letters and words?</a:t>
            </a:r>
            <a:br>
              <a:rPr lang="en-US" dirty="0"/>
            </a:br>
            <a:endParaRPr lang="en-US" dirty="0"/>
          </a:p>
          <a:p>
            <a:pPr marL="0" indent="0">
              <a:buNone/>
            </a:pPr>
            <a:br>
              <a:rPr lang="en-US" dirty="0"/>
            </a:br>
            <a:br>
              <a:rPr lang="en-US" dirty="0"/>
            </a:br>
            <a:endParaRPr lang="en-US" dirty="0"/>
          </a:p>
        </p:txBody>
      </p:sp>
      <p:sp>
        <p:nvSpPr>
          <p:cNvPr id="3" name="TextBox 2">
            <a:extLst>
              <a:ext uri="{FF2B5EF4-FFF2-40B4-BE49-F238E27FC236}">
                <a16:creationId xmlns:a16="http://schemas.microsoft.com/office/drawing/2014/main" id="{7FAAA6D6-1B14-B546-A0AE-54CF4AB183C5}"/>
              </a:ext>
            </a:extLst>
          </p:cNvPr>
          <p:cNvSpPr txBox="1"/>
          <p:nvPr/>
        </p:nvSpPr>
        <p:spPr>
          <a:xfrm>
            <a:off x="501805" y="4672361"/>
            <a:ext cx="4100094" cy="1200329"/>
          </a:xfrm>
          <a:prstGeom prst="rect">
            <a:avLst/>
          </a:prstGeom>
          <a:noFill/>
        </p:spPr>
        <p:txBody>
          <a:bodyPr wrap="square" rtlCol="0">
            <a:spAutoFit/>
          </a:bodyPr>
          <a:lstStyle/>
          <a:p>
            <a:r>
              <a:rPr lang="en-US" sz="1200" dirty="0"/>
              <a:t>Note: obviously these boxes aren’t all the same size – </a:t>
            </a:r>
            <a:br>
              <a:rPr lang="en-US" sz="1200" dirty="0"/>
            </a:br>
            <a:r>
              <a:rPr lang="en-US" sz="1200" dirty="0"/>
              <a:t>different types of variables take different amounts of space.</a:t>
            </a:r>
          </a:p>
          <a:p>
            <a:r>
              <a:rPr lang="en-US" sz="1200" dirty="0"/>
              <a:t>An integer generally takes 4 bytes of space (32 bits). A single character takes 1 byte. A string takes up (at least) the number of bytes required to store the number of characters in the string. </a:t>
            </a:r>
          </a:p>
        </p:txBody>
      </p:sp>
    </p:spTree>
    <p:extLst>
      <p:ext uri="{BB962C8B-B14F-4D97-AF65-F5344CB8AC3E}">
        <p14:creationId xmlns:p14="http://schemas.microsoft.com/office/powerpoint/2010/main" val="2584371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FROM NUMBERS TO LETTERS</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fontScale="77500" lnSpcReduction="20000"/>
          </a:bodyPr>
          <a:lstStyle/>
          <a:p>
            <a:r>
              <a:rPr lang="en-US" dirty="0"/>
              <a:t>Here's the trick: there's an arbitrary standard called ASCII (short for "American Standard Code for Information Interchange" that tells how to translate from </a:t>
            </a:r>
            <a:br>
              <a:rPr lang="en-US" dirty="0"/>
            </a:br>
            <a:r>
              <a:rPr lang="en-US" dirty="0"/>
              <a:t>letters to numbers.</a:t>
            </a:r>
            <a:br>
              <a:rPr lang="en-US" dirty="0"/>
            </a:br>
            <a:endParaRPr lang="en-US" dirty="0"/>
          </a:p>
          <a:p>
            <a:r>
              <a:rPr lang="en-US" dirty="0"/>
              <a:t>ASCII uses 7 bits to store each letter, plus another bit for error detection (we'll talk about this later on when we talk about networking). How many different characters can you represent in 7 bits?</a:t>
            </a:r>
            <a:br>
              <a:rPr lang="en-US" dirty="0"/>
            </a:br>
            <a:endParaRPr lang="en-US" dirty="0"/>
          </a:p>
          <a:p>
            <a:r>
              <a:rPr lang="en-US" dirty="0"/>
              <a:t>8 bits is called a byte. A single character is 1 byte. A word (or a sentence, or a paragraph, or a novel…) is a bunch of single characters put together in a </a:t>
            </a:r>
            <a:r>
              <a:rPr lang="en-US" i="1" dirty="0"/>
              <a:t>string</a:t>
            </a:r>
            <a:r>
              <a:rPr lang="en-US" dirty="0"/>
              <a:t>. </a:t>
            </a:r>
          </a:p>
          <a:p>
            <a:r>
              <a:rPr lang="en-US" dirty="0"/>
              <a:t>See </a:t>
            </a:r>
            <a:r>
              <a:rPr lang="en-US" dirty="0">
                <a:hlinkClick r:id="rId2"/>
              </a:rPr>
              <a:t>www.asciitable.com</a:t>
            </a:r>
            <a:br>
              <a:rPr lang="en-US" dirty="0"/>
            </a:br>
            <a:endParaRPr lang="en-US" dirty="0"/>
          </a:p>
        </p:txBody>
      </p:sp>
      <p:pic>
        <p:nvPicPr>
          <p:cNvPr id="5" name="Picture 4">
            <a:extLst>
              <a:ext uri="{FF2B5EF4-FFF2-40B4-BE49-F238E27FC236}">
                <a16:creationId xmlns:a16="http://schemas.microsoft.com/office/drawing/2014/main" id="{A751628B-18E8-1842-8F27-14992D6515BF}"/>
              </a:ext>
            </a:extLst>
          </p:cNvPr>
          <p:cNvPicPr>
            <a:picLocks noChangeAspect="1"/>
          </p:cNvPicPr>
          <p:nvPr/>
        </p:nvPicPr>
        <p:blipFill>
          <a:blip r:embed="rId3"/>
          <a:stretch>
            <a:fillRect/>
          </a:stretch>
        </p:blipFill>
        <p:spPr>
          <a:xfrm>
            <a:off x="8912367" y="283325"/>
            <a:ext cx="2501900" cy="6134100"/>
          </a:xfrm>
          <a:prstGeom prst="rect">
            <a:avLst/>
          </a:prstGeom>
        </p:spPr>
      </p:pic>
      <p:sp>
        <p:nvSpPr>
          <p:cNvPr id="38" name="Right Arrow 37">
            <a:extLst>
              <a:ext uri="{FF2B5EF4-FFF2-40B4-BE49-F238E27FC236}">
                <a16:creationId xmlns:a16="http://schemas.microsoft.com/office/drawing/2014/main" id="{847073F0-F68D-F047-95C1-75071627839C}"/>
              </a:ext>
            </a:extLst>
          </p:cNvPr>
          <p:cNvSpPr/>
          <p:nvPr/>
        </p:nvSpPr>
        <p:spPr>
          <a:xfrm rot="19156234">
            <a:off x="8094509" y="1177182"/>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D2745C2-38E5-1243-8DFE-D3021E334AE3}"/>
              </a:ext>
            </a:extLst>
          </p:cNvPr>
          <p:cNvSpPr txBox="1"/>
          <p:nvPr/>
        </p:nvSpPr>
        <p:spPr>
          <a:xfrm>
            <a:off x="7010399" y="2279374"/>
            <a:ext cx="1749287" cy="646331"/>
          </a:xfrm>
          <a:prstGeom prst="rect">
            <a:avLst/>
          </a:prstGeom>
          <a:noFill/>
        </p:spPr>
        <p:txBody>
          <a:bodyPr wrap="square" rtlCol="0">
            <a:spAutoFit/>
          </a:bodyPr>
          <a:lstStyle/>
          <a:p>
            <a:r>
              <a:rPr lang="en-US" dirty="0"/>
              <a:t>the number 65 means capital A.</a:t>
            </a:r>
          </a:p>
        </p:txBody>
      </p:sp>
      <p:sp>
        <p:nvSpPr>
          <p:cNvPr id="41" name="Right Arrow 40">
            <a:extLst>
              <a:ext uri="{FF2B5EF4-FFF2-40B4-BE49-F238E27FC236}">
                <a16:creationId xmlns:a16="http://schemas.microsoft.com/office/drawing/2014/main" id="{DE06A373-C3AE-B440-8265-194B67CD46A4}"/>
              </a:ext>
            </a:extLst>
          </p:cNvPr>
          <p:cNvSpPr/>
          <p:nvPr/>
        </p:nvSpPr>
        <p:spPr>
          <a:xfrm rot="20463395">
            <a:off x="8539463" y="4035028"/>
            <a:ext cx="1934116"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71217F4-78D7-FC42-A0BA-C41C0FC1378F}"/>
              </a:ext>
            </a:extLst>
          </p:cNvPr>
          <p:cNvSpPr txBox="1"/>
          <p:nvPr/>
        </p:nvSpPr>
        <p:spPr>
          <a:xfrm>
            <a:off x="6508663" y="4221433"/>
            <a:ext cx="1974964" cy="646331"/>
          </a:xfrm>
          <a:prstGeom prst="rect">
            <a:avLst/>
          </a:prstGeom>
          <a:noFill/>
        </p:spPr>
        <p:txBody>
          <a:bodyPr wrap="square" rtlCol="0">
            <a:spAutoFit/>
          </a:bodyPr>
          <a:lstStyle/>
          <a:p>
            <a:r>
              <a:rPr lang="en-US" dirty="0"/>
              <a:t>the number 113</a:t>
            </a:r>
          </a:p>
          <a:p>
            <a:r>
              <a:rPr lang="en-US" dirty="0"/>
              <a:t>means lowercase q</a:t>
            </a:r>
          </a:p>
        </p:txBody>
      </p:sp>
    </p:spTree>
    <p:extLst>
      <p:ext uri="{BB962C8B-B14F-4D97-AF65-F5344CB8AC3E}">
        <p14:creationId xmlns:p14="http://schemas.microsoft.com/office/powerpoint/2010/main" val="2403910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normAutofit/>
          </a:bodyPr>
          <a:lstStyle/>
          <a:p>
            <a:r>
              <a:rPr lang="en-US" sz="4200" dirty="0"/>
              <a:t>WHAT ABOUT</a:t>
            </a:r>
            <a:r>
              <a:rPr lang="zh-CN" altLang="en-US" sz="4200" dirty="0"/>
              <a:t>你好</a:t>
            </a:r>
            <a:r>
              <a:rPr lang="en-US" altLang="zh-CN" sz="4200" dirty="0"/>
              <a:t> and </a:t>
            </a:r>
            <a:r>
              <a:rPr lang="ar-AE" sz="4200" dirty="0"/>
              <a:t>مرحبا</a:t>
            </a:r>
            <a:r>
              <a:rPr lang="en-US" sz="4200" dirty="0"/>
              <a:t> and</a:t>
            </a:r>
            <a:r>
              <a:rPr lang="ja-JP" altLang="en-US" sz="4200"/>
              <a:t>こんにちは</a:t>
            </a:r>
            <a:r>
              <a:rPr lang="en-US" altLang="ja-JP" sz="4200" dirty="0"/>
              <a:t>?</a:t>
            </a:r>
            <a:endParaRPr lang="en-US" sz="4200" dirty="0"/>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Autofit/>
          </a:bodyPr>
          <a:lstStyle/>
          <a:p>
            <a:r>
              <a:rPr lang="en-US" sz="1800" dirty="0"/>
              <a:t>ASCII (8 bits) can only represent characters in the Latin character set </a:t>
            </a:r>
            <a:br>
              <a:rPr lang="en-US" sz="1800" dirty="0"/>
            </a:br>
            <a:endParaRPr lang="en-US" sz="1800" dirty="0"/>
          </a:p>
          <a:p>
            <a:r>
              <a:rPr lang="en-US" sz="1800" dirty="0"/>
              <a:t>What about all the other character sets in the world?</a:t>
            </a:r>
            <a:br>
              <a:rPr lang="en-US" sz="1800" dirty="0"/>
            </a:br>
            <a:endParaRPr lang="en-US" sz="1800" dirty="0"/>
          </a:p>
          <a:p>
            <a:r>
              <a:rPr lang="en-US" sz="1800" dirty="0"/>
              <a:t>Unicode is a character encoding that uses up to  32 bits (4 bytes) to represent each character.</a:t>
            </a:r>
            <a:br>
              <a:rPr lang="en-US" sz="1800" dirty="0"/>
            </a:br>
            <a:endParaRPr lang="en-US" sz="1800" dirty="0"/>
          </a:p>
          <a:p>
            <a:r>
              <a:rPr lang="en-US" sz="1800" dirty="0"/>
              <a:t>Because it's 4 bytes wide, Unicode can represent 4,294,967,296 different characters – 2</a:t>
            </a:r>
            <a:r>
              <a:rPr lang="en-US" sz="1800" baseline="30000" dirty="0"/>
              <a:t>32</a:t>
            </a:r>
            <a:r>
              <a:rPr lang="en-US" sz="1800" dirty="0"/>
              <a:t>.</a:t>
            </a:r>
            <a:br>
              <a:rPr lang="en-US" sz="1800" dirty="0"/>
            </a:br>
            <a:endParaRPr lang="en-US" sz="1800" dirty="0"/>
          </a:p>
          <a:p>
            <a:r>
              <a:rPr lang="en-US" sz="1800" dirty="0"/>
              <a:t>(Nearly) every language in the world can be represented in Unicode</a:t>
            </a:r>
            <a:br>
              <a:rPr lang="en-US" sz="1800" dirty="0"/>
            </a:br>
            <a:endParaRPr lang="en-US" sz="1800" dirty="0"/>
          </a:p>
          <a:p>
            <a:r>
              <a:rPr lang="en-US" sz="1800" dirty="0"/>
              <a:t>We'll be (mostly) just using ASCII characters in this class, because our programming tools make it easier to work in ASCII than in Unicode </a:t>
            </a:r>
            <a:r>
              <a:rPr lang="en-US" sz="1800" dirty="0">
                <a:sym typeface="Wingdings" pitchFamily="2" charset="2"/>
              </a:rPr>
              <a:t> </a:t>
            </a:r>
            <a:br>
              <a:rPr lang="en-US" sz="1800" dirty="0"/>
            </a:br>
            <a:br>
              <a:rPr lang="en-US" sz="1800" dirty="0"/>
            </a:br>
            <a:endParaRPr lang="en-US" sz="1800" dirty="0"/>
          </a:p>
        </p:txBody>
      </p:sp>
      <p:pic>
        <p:nvPicPr>
          <p:cNvPr id="23554" name="Picture 2" descr="Image result for thailand chinatown">
            <a:extLst>
              <a:ext uri="{FF2B5EF4-FFF2-40B4-BE49-F238E27FC236}">
                <a16:creationId xmlns:a16="http://schemas.microsoft.com/office/drawing/2014/main" id="{F5BAC75B-4D1A-4F41-92F3-982AC496A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3172" y="1378261"/>
            <a:ext cx="4711095" cy="31407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06ED0F3-ABB5-3043-A385-73552E95724D}"/>
              </a:ext>
            </a:extLst>
          </p:cNvPr>
          <p:cNvSpPr txBox="1"/>
          <p:nvPr/>
        </p:nvSpPr>
        <p:spPr>
          <a:xfrm>
            <a:off x="6703172" y="4967894"/>
            <a:ext cx="2628883" cy="738664"/>
          </a:xfrm>
          <a:prstGeom prst="rect">
            <a:avLst/>
          </a:prstGeom>
          <a:noFill/>
        </p:spPr>
        <p:txBody>
          <a:bodyPr wrap="square" rtlCol="0">
            <a:spAutoFit/>
          </a:bodyPr>
          <a:lstStyle/>
          <a:p>
            <a:r>
              <a:rPr lang="en-US" sz="1400" dirty="0"/>
              <a:t>it's actually a little less than this – to find out why, take systems programming</a:t>
            </a:r>
          </a:p>
        </p:txBody>
      </p:sp>
      <p:sp>
        <p:nvSpPr>
          <p:cNvPr id="7" name="Right Arrow 6">
            <a:extLst>
              <a:ext uri="{FF2B5EF4-FFF2-40B4-BE49-F238E27FC236}">
                <a16:creationId xmlns:a16="http://schemas.microsoft.com/office/drawing/2014/main" id="{CBCBDCAB-CCAF-1C49-A5E3-0F365AE0577A}"/>
              </a:ext>
            </a:extLst>
          </p:cNvPr>
          <p:cNvSpPr/>
          <p:nvPr/>
        </p:nvSpPr>
        <p:spPr>
          <a:xfrm rot="12537761">
            <a:off x="5350263" y="4276675"/>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6540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EC69E-40D9-DE40-A32C-B1A3671DE598}"/>
              </a:ext>
            </a:extLst>
          </p:cNvPr>
          <p:cNvSpPr>
            <a:spLocks noGrp="1"/>
          </p:cNvSpPr>
          <p:nvPr>
            <p:ph type="ctrTitle"/>
          </p:nvPr>
        </p:nvSpPr>
        <p:spPr/>
        <p:txBody>
          <a:bodyPr/>
          <a:lstStyle/>
          <a:p>
            <a:r>
              <a:rPr lang="en-US" dirty="0"/>
              <a:t>hello world in</a:t>
            </a:r>
            <a:r>
              <a:rPr lang="en-US" dirty="0">
                <a:solidFill>
                  <a:schemeClr val="tx1"/>
                </a:solidFill>
              </a:rPr>
              <a:t> C++</a:t>
            </a:r>
          </a:p>
        </p:txBody>
      </p:sp>
      <p:sp>
        <p:nvSpPr>
          <p:cNvPr id="3" name="Subtitle 2">
            <a:extLst>
              <a:ext uri="{FF2B5EF4-FFF2-40B4-BE49-F238E27FC236}">
                <a16:creationId xmlns:a16="http://schemas.microsoft.com/office/drawing/2014/main" id="{6B51D2CF-05B6-8A46-9512-30E6F560E6E8}"/>
              </a:ext>
            </a:extLst>
          </p:cNvPr>
          <p:cNvSpPr>
            <a:spLocks noGrp="1"/>
          </p:cNvSpPr>
          <p:nvPr>
            <p:ph type="subTitle" idx="1"/>
          </p:nvPr>
        </p:nvSpPr>
        <p:spPr/>
        <p:txBody>
          <a:bodyPr/>
          <a:lstStyle/>
          <a:p>
            <a:r>
              <a:rPr lang="en-US" dirty="0"/>
              <a:t>because some folks learned to code in Python and Java</a:t>
            </a:r>
          </a:p>
        </p:txBody>
      </p:sp>
    </p:spTree>
    <p:extLst>
      <p:ext uri="{BB962C8B-B14F-4D97-AF65-F5344CB8AC3E}">
        <p14:creationId xmlns:p14="http://schemas.microsoft.com/office/powerpoint/2010/main" val="3710299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FB5096C-6BFE-FB4C-92CE-D78453DB3473}"/>
              </a:ext>
            </a:extLst>
          </p:cNvPr>
          <p:cNvPicPr>
            <a:picLocks noChangeAspect="1"/>
          </p:cNvPicPr>
          <p:nvPr/>
        </p:nvPicPr>
        <p:blipFill>
          <a:blip r:embed="rId2"/>
          <a:stretch>
            <a:fillRect/>
          </a:stretch>
        </p:blipFill>
        <p:spPr>
          <a:xfrm>
            <a:off x="4695967" y="1678851"/>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3805741" y="2058145"/>
            <a:ext cx="978408"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2269184" y="2732409"/>
            <a:ext cx="1759478" cy="1600438"/>
          </a:xfrm>
          <a:prstGeom prst="rect">
            <a:avLst/>
          </a:prstGeom>
          <a:noFill/>
        </p:spPr>
        <p:txBody>
          <a:bodyPr wrap="square" rtlCol="0">
            <a:spAutoFit/>
          </a:bodyPr>
          <a:lstStyle/>
          <a:p>
            <a:r>
              <a:rPr lang="en-US" sz="1400" dirty="0"/>
              <a:t>you'll put this at the </a:t>
            </a:r>
          </a:p>
          <a:p>
            <a:r>
              <a:rPr lang="en-US" sz="1400" dirty="0"/>
              <a:t>top of nearly every </a:t>
            </a:r>
          </a:p>
          <a:p>
            <a:r>
              <a:rPr lang="en-US" sz="1400" dirty="0"/>
              <a:t>program in this class. it imports the code that lets you use input and output streams</a:t>
            </a:r>
          </a:p>
        </p:txBody>
      </p:sp>
      <p:sp>
        <p:nvSpPr>
          <p:cNvPr id="14" name="Frame 13">
            <a:extLst>
              <a:ext uri="{FF2B5EF4-FFF2-40B4-BE49-F238E27FC236}">
                <a16:creationId xmlns:a16="http://schemas.microsoft.com/office/drawing/2014/main" id="{41EBDFD2-BFE7-0445-90CB-8CAC4FFB884C}"/>
              </a:ext>
            </a:extLst>
          </p:cNvPr>
          <p:cNvSpPr/>
          <p:nvPr/>
        </p:nvSpPr>
        <p:spPr>
          <a:xfrm>
            <a:off x="5102087" y="1678851"/>
            <a:ext cx="2186608" cy="31805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68451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596849" y="1579453"/>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3805741" y="2058145"/>
            <a:ext cx="978408"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2269183" y="2732409"/>
            <a:ext cx="2327666" cy="2246769"/>
          </a:xfrm>
          <a:prstGeom prst="rect">
            <a:avLst/>
          </a:prstGeom>
          <a:noFill/>
        </p:spPr>
        <p:txBody>
          <a:bodyPr wrap="square" rtlCol="0">
            <a:spAutoFit/>
          </a:bodyPr>
          <a:lstStyle/>
          <a:p>
            <a:r>
              <a:rPr lang="en-US" sz="1400" dirty="0"/>
              <a:t>you'll put this at the </a:t>
            </a:r>
          </a:p>
          <a:p>
            <a:r>
              <a:rPr lang="en-US" sz="1400" dirty="0"/>
              <a:t>top of nearly every </a:t>
            </a:r>
          </a:p>
          <a:p>
            <a:r>
              <a:rPr lang="en-US" sz="1400" dirty="0"/>
              <a:t>program in this class</a:t>
            </a:r>
          </a:p>
          <a:p>
            <a:endParaRPr lang="en-US" sz="1400" dirty="0"/>
          </a:p>
          <a:p>
            <a:r>
              <a:rPr lang="en-US" sz="1400" dirty="0"/>
              <a:t>(in later C++ courses, and in industry, doing things this way is often considered bad practice. It simplifies the syntax enough that it's worth doing in this course, though.</a:t>
            </a:r>
          </a:p>
        </p:txBody>
      </p:sp>
      <p:sp>
        <p:nvSpPr>
          <p:cNvPr id="5" name="Frame 4">
            <a:extLst>
              <a:ext uri="{FF2B5EF4-FFF2-40B4-BE49-F238E27FC236}">
                <a16:creationId xmlns:a16="http://schemas.microsoft.com/office/drawing/2014/main" id="{6FA745CE-3F90-E442-AE8B-97AB8BB2062D}"/>
              </a:ext>
            </a:extLst>
          </p:cNvPr>
          <p:cNvSpPr/>
          <p:nvPr/>
        </p:nvSpPr>
        <p:spPr>
          <a:xfrm>
            <a:off x="5066493" y="2009122"/>
            <a:ext cx="2186608" cy="31805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864567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596849" y="1579453"/>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3864735" y="2475054"/>
            <a:ext cx="978408"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1604039" y="2744084"/>
            <a:ext cx="2327666" cy="3046988"/>
          </a:xfrm>
          <a:prstGeom prst="rect">
            <a:avLst/>
          </a:prstGeom>
          <a:noFill/>
        </p:spPr>
        <p:txBody>
          <a:bodyPr wrap="square" rtlCol="0">
            <a:spAutoFit/>
          </a:bodyPr>
          <a:lstStyle/>
          <a:p>
            <a:endParaRPr lang="en-US" sz="2400" dirty="0"/>
          </a:p>
          <a:p>
            <a:r>
              <a:rPr lang="en-US" sz="2400" dirty="0" err="1"/>
              <a:t>int</a:t>
            </a:r>
            <a:r>
              <a:rPr lang="en-US" sz="2400" dirty="0"/>
              <a:t> main() </a:t>
            </a:r>
          </a:p>
          <a:p>
            <a:endParaRPr lang="en-US" sz="2400" dirty="0"/>
          </a:p>
          <a:p>
            <a:r>
              <a:rPr lang="en-US" sz="2400" dirty="0"/>
              <a:t>is the function where program execution starts.</a:t>
            </a:r>
          </a:p>
          <a:p>
            <a:endParaRPr lang="en-US" sz="2400" dirty="0"/>
          </a:p>
          <a:p>
            <a:endParaRPr lang="en-US" sz="2400" dirty="0"/>
          </a:p>
        </p:txBody>
      </p:sp>
      <p:sp>
        <p:nvSpPr>
          <p:cNvPr id="5" name="Frame 4">
            <a:extLst>
              <a:ext uri="{FF2B5EF4-FFF2-40B4-BE49-F238E27FC236}">
                <a16:creationId xmlns:a16="http://schemas.microsoft.com/office/drawing/2014/main" id="{6FA745CE-3F90-E442-AE8B-97AB8BB2062D}"/>
              </a:ext>
            </a:extLst>
          </p:cNvPr>
          <p:cNvSpPr/>
          <p:nvPr/>
        </p:nvSpPr>
        <p:spPr>
          <a:xfrm>
            <a:off x="5002694" y="2414356"/>
            <a:ext cx="1436001" cy="31805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799143AA-4964-B040-B1D8-72D6E23C4A1C}"/>
              </a:ext>
            </a:extLst>
          </p:cNvPr>
          <p:cNvSpPr txBox="1"/>
          <p:nvPr/>
        </p:nvSpPr>
        <p:spPr>
          <a:xfrm>
            <a:off x="4574496" y="4669985"/>
            <a:ext cx="6566093" cy="1477328"/>
          </a:xfrm>
          <a:prstGeom prst="rect">
            <a:avLst/>
          </a:prstGeom>
          <a:noFill/>
        </p:spPr>
        <p:txBody>
          <a:bodyPr wrap="none" rtlCol="0">
            <a:spAutoFit/>
          </a:bodyPr>
          <a:lstStyle/>
          <a:p>
            <a:r>
              <a:rPr lang="en-US" dirty="0"/>
              <a:t>For python programmers: the code in </a:t>
            </a:r>
            <a:r>
              <a:rPr lang="en-US" dirty="0" err="1"/>
              <a:t>int</a:t>
            </a:r>
            <a:r>
              <a:rPr lang="en-US" dirty="0"/>
              <a:t> main() is equivalent to the </a:t>
            </a:r>
            <a:br>
              <a:rPr lang="en-US" dirty="0"/>
            </a:br>
            <a:r>
              <a:rPr lang="en-US" dirty="0"/>
              <a:t>code you call from</a:t>
            </a:r>
          </a:p>
          <a:p>
            <a:endParaRPr lang="en-US" dirty="0"/>
          </a:p>
          <a:p>
            <a:r>
              <a:rPr lang="en-US" dirty="0"/>
              <a:t>if __name__ == "__main__":</a:t>
            </a:r>
          </a:p>
          <a:p>
            <a:endParaRPr lang="en-US" dirty="0"/>
          </a:p>
        </p:txBody>
      </p:sp>
    </p:spTree>
    <p:extLst>
      <p:ext uri="{BB962C8B-B14F-4D97-AF65-F5344CB8AC3E}">
        <p14:creationId xmlns:p14="http://schemas.microsoft.com/office/powerpoint/2010/main" val="3391144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596849" y="1579453"/>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3864735" y="2475054"/>
            <a:ext cx="978408"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1604039" y="2744084"/>
            <a:ext cx="2327666" cy="3046988"/>
          </a:xfrm>
          <a:prstGeom prst="rect">
            <a:avLst/>
          </a:prstGeom>
          <a:noFill/>
        </p:spPr>
        <p:txBody>
          <a:bodyPr wrap="square" rtlCol="0">
            <a:spAutoFit/>
          </a:bodyPr>
          <a:lstStyle/>
          <a:p>
            <a:endParaRPr lang="en-US" sz="2400" dirty="0"/>
          </a:p>
          <a:p>
            <a:r>
              <a:rPr lang="en-US" sz="2400" dirty="0" err="1"/>
              <a:t>int</a:t>
            </a:r>
            <a:r>
              <a:rPr lang="en-US" sz="2400" dirty="0"/>
              <a:t> main() </a:t>
            </a:r>
          </a:p>
          <a:p>
            <a:endParaRPr lang="en-US" sz="2400" dirty="0"/>
          </a:p>
          <a:p>
            <a:r>
              <a:rPr lang="en-US" sz="2400" dirty="0"/>
              <a:t>is the function where program execution starts.</a:t>
            </a:r>
          </a:p>
          <a:p>
            <a:endParaRPr lang="en-US" sz="2400" dirty="0"/>
          </a:p>
          <a:p>
            <a:endParaRPr lang="en-US" sz="2400" dirty="0"/>
          </a:p>
        </p:txBody>
      </p:sp>
      <p:sp>
        <p:nvSpPr>
          <p:cNvPr id="5" name="Frame 4">
            <a:extLst>
              <a:ext uri="{FF2B5EF4-FFF2-40B4-BE49-F238E27FC236}">
                <a16:creationId xmlns:a16="http://schemas.microsoft.com/office/drawing/2014/main" id="{6FA745CE-3F90-E442-AE8B-97AB8BB2062D}"/>
              </a:ext>
            </a:extLst>
          </p:cNvPr>
          <p:cNvSpPr/>
          <p:nvPr/>
        </p:nvSpPr>
        <p:spPr>
          <a:xfrm>
            <a:off x="5002694" y="2414356"/>
            <a:ext cx="1436001" cy="31805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799143AA-4964-B040-B1D8-72D6E23C4A1C}"/>
              </a:ext>
            </a:extLst>
          </p:cNvPr>
          <p:cNvSpPr txBox="1"/>
          <p:nvPr/>
        </p:nvSpPr>
        <p:spPr>
          <a:xfrm>
            <a:off x="4574496" y="4669985"/>
            <a:ext cx="4248151" cy="1200329"/>
          </a:xfrm>
          <a:prstGeom prst="rect">
            <a:avLst/>
          </a:prstGeom>
          <a:noFill/>
        </p:spPr>
        <p:txBody>
          <a:bodyPr wrap="none" rtlCol="0">
            <a:spAutoFit/>
          </a:bodyPr>
          <a:lstStyle/>
          <a:p>
            <a:r>
              <a:rPr lang="en-US" dirty="0"/>
              <a:t>For Java programmers: this is equivalent to </a:t>
            </a:r>
          </a:p>
          <a:p>
            <a:endParaRPr lang="en-US" dirty="0"/>
          </a:p>
          <a:p>
            <a:r>
              <a:rPr lang="en-US" dirty="0"/>
              <a:t>public static void main(String[] </a:t>
            </a:r>
            <a:r>
              <a:rPr lang="en-US" dirty="0" err="1"/>
              <a:t>args</a:t>
            </a:r>
            <a:r>
              <a:rPr lang="en-US" dirty="0"/>
              <a:t>)</a:t>
            </a:r>
          </a:p>
          <a:p>
            <a:endParaRPr lang="en-US" dirty="0"/>
          </a:p>
        </p:txBody>
      </p:sp>
    </p:spTree>
    <p:extLst>
      <p:ext uri="{BB962C8B-B14F-4D97-AF65-F5344CB8AC3E}">
        <p14:creationId xmlns:p14="http://schemas.microsoft.com/office/powerpoint/2010/main" val="33248382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596849" y="1579453"/>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3864735" y="2475054"/>
            <a:ext cx="978408"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1604039" y="2744084"/>
            <a:ext cx="2327666" cy="3785652"/>
          </a:xfrm>
          <a:prstGeom prst="rect">
            <a:avLst/>
          </a:prstGeom>
          <a:noFill/>
        </p:spPr>
        <p:txBody>
          <a:bodyPr wrap="square" rtlCol="0">
            <a:spAutoFit/>
          </a:bodyPr>
          <a:lstStyle/>
          <a:p>
            <a:r>
              <a:rPr lang="en-US" sz="2400" dirty="0" err="1"/>
              <a:t>int</a:t>
            </a:r>
            <a:r>
              <a:rPr lang="en-US" sz="2400" dirty="0"/>
              <a:t>, here, is the </a:t>
            </a:r>
            <a:r>
              <a:rPr lang="en-US" sz="2400" i="1" dirty="0"/>
              <a:t>return type</a:t>
            </a:r>
            <a:r>
              <a:rPr lang="en-US" sz="2400" dirty="0"/>
              <a:t> of the function. When this function ends, it passes back an </a:t>
            </a:r>
            <a:r>
              <a:rPr lang="en-US" sz="2400" dirty="0" err="1"/>
              <a:t>int</a:t>
            </a:r>
            <a:r>
              <a:rPr lang="en-US" sz="2400" dirty="0"/>
              <a:t>: an integer value</a:t>
            </a:r>
          </a:p>
          <a:p>
            <a:endParaRPr lang="en-US" sz="2400" dirty="0"/>
          </a:p>
          <a:p>
            <a:endParaRPr lang="en-US" sz="2400" dirty="0"/>
          </a:p>
        </p:txBody>
      </p:sp>
      <p:sp>
        <p:nvSpPr>
          <p:cNvPr id="5" name="Frame 4">
            <a:extLst>
              <a:ext uri="{FF2B5EF4-FFF2-40B4-BE49-F238E27FC236}">
                <a16:creationId xmlns:a16="http://schemas.microsoft.com/office/drawing/2014/main" id="{6FA745CE-3F90-E442-AE8B-97AB8BB2062D}"/>
              </a:ext>
            </a:extLst>
          </p:cNvPr>
          <p:cNvSpPr/>
          <p:nvPr/>
        </p:nvSpPr>
        <p:spPr>
          <a:xfrm>
            <a:off x="5058697" y="2338851"/>
            <a:ext cx="508283" cy="40523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93780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596849" y="1579453"/>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4343355" y="3699190"/>
            <a:ext cx="978408"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1604039" y="2744084"/>
            <a:ext cx="2327666" cy="3785652"/>
          </a:xfrm>
          <a:prstGeom prst="rect">
            <a:avLst/>
          </a:prstGeom>
          <a:noFill/>
        </p:spPr>
        <p:txBody>
          <a:bodyPr wrap="square" rtlCol="0">
            <a:spAutoFit/>
          </a:bodyPr>
          <a:lstStyle/>
          <a:p>
            <a:r>
              <a:rPr lang="en-US" sz="2400" dirty="0" err="1"/>
              <a:t>int</a:t>
            </a:r>
            <a:r>
              <a:rPr lang="en-US" sz="2400" dirty="0"/>
              <a:t>, here, is the </a:t>
            </a:r>
            <a:r>
              <a:rPr lang="en-US" sz="2400" i="1" dirty="0"/>
              <a:t>return type</a:t>
            </a:r>
            <a:r>
              <a:rPr lang="en-US" sz="2400" dirty="0"/>
              <a:t> of the function. When this function ends, it passes back an </a:t>
            </a:r>
            <a:r>
              <a:rPr lang="en-US" sz="2400" dirty="0" err="1"/>
              <a:t>int</a:t>
            </a:r>
            <a:r>
              <a:rPr lang="en-US" sz="2400" dirty="0"/>
              <a:t>: an integer value.</a:t>
            </a:r>
          </a:p>
          <a:p>
            <a:endParaRPr lang="en-US" sz="2400" dirty="0"/>
          </a:p>
          <a:p>
            <a:endParaRPr lang="en-US" sz="2400" dirty="0"/>
          </a:p>
        </p:txBody>
      </p:sp>
      <p:sp>
        <p:nvSpPr>
          <p:cNvPr id="5" name="Frame 4">
            <a:extLst>
              <a:ext uri="{FF2B5EF4-FFF2-40B4-BE49-F238E27FC236}">
                <a16:creationId xmlns:a16="http://schemas.microsoft.com/office/drawing/2014/main" id="{6FA745CE-3F90-E442-AE8B-97AB8BB2062D}"/>
              </a:ext>
            </a:extLst>
          </p:cNvPr>
          <p:cNvSpPr/>
          <p:nvPr/>
        </p:nvSpPr>
        <p:spPr>
          <a:xfrm>
            <a:off x="5438501" y="3421551"/>
            <a:ext cx="1108010" cy="457275"/>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83F8C9AC-9476-7E40-818E-DC73A08E8F9D}"/>
              </a:ext>
            </a:extLst>
          </p:cNvPr>
          <p:cNvSpPr txBox="1"/>
          <p:nvPr/>
        </p:nvSpPr>
        <p:spPr>
          <a:xfrm>
            <a:off x="3793736" y="4775686"/>
            <a:ext cx="8087791" cy="2031325"/>
          </a:xfrm>
          <a:prstGeom prst="rect">
            <a:avLst/>
          </a:prstGeom>
          <a:noFill/>
        </p:spPr>
        <p:txBody>
          <a:bodyPr wrap="none" rtlCol="0">
            <a:spAutoFit/>
          </a:bodyPr>
          <a:lstStyle/>
          <a:p>
            <a:r>
              <a:rPr lang="en-US" dirty="0"/>
              <a:t>By convention, main() always returns 0.</a:t>
            </a:r>
          </a:p>
          <a:p>
            <a:endParaRPr lang="en-US" dirty="0"/>
          </a:p>
          <a:p>
            <a:r>
              <a:rPr lang="en-US" dirty="0"/>
              <a:t>Why? When the program ends, the operating system can do different things</a:t>
            </a:r>
            <a:br>
              <a:rPr lang="en-US" dirty="0"/>
            </a:br>
            <a:r>
              <a:rPr lang="en-US" dirty="0"/>
              <a:t>based on what value your program returns. If your program runs successfully</a:t>
            </a:r>
            <a:br>
              <a:rPr lang="en-US" dirty="0"/>
            </a:br>
            <a:r>
              <a:rPr lang="en-US" dirty="0"/>
              <a:t>and gets to the end of main(), it will return 0 – which (again by convention) indicates</a:t>
            </a:r>
            <a:br>
              <a:rPr lang="en-US" dirty="0"/>
            </a:br>
            <a:r>
              <a:rPr lang="en-US" dirty="0"/>
              <a:t>that your program has run successfully. If something causes your program </a:t>
            </a:r>
            <a:r>
              <a:rPr lang="en-US" i="1" dirty="0"/>
              <a:t>not</a:t>
            </a:r>
            <a:r>
              <a:rPr lang="en-US" dirty="0"/>
              <a:t> to run</a:t>
            </a:r>
            <a:br>
              <a:rPr lang="en-US" dirty="0"/>
            </a:br>
            <a:r>
              <a:rPr lang="en-US" dirty="0"/>
              <a:t>successfully – say that it crashes – it will return some value other than 0.</a:t>
            </a:r>
          </a:p>
        </p:txBody>
      </p:sp>
    </p:spTree>
    <p:extLst>
      <p:ext uri="{BB962C8B-B14F-4D97-AF65-F5344CB8AC3E}">
        <p14:creationId xmlns:p14="http://schemas.microsoft.com/office/powerpoint/2010/main" val="1933614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596849" y="1579453"/>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4066462" y="2918943"/>
            <a:ext cx="978408"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1604039" y="2744084"/>
            <a:ext cx="2327666" cy="3416320"/>
          </a:xfrm>
          <a:prstGeom prst="rect">
            <a:avLst/>
          </a:prstGeom>
          <a:noFill/>
        </p:spPr>
        <p:txBody>
          <a:bodyPr wrap="square" rtlCol="0">
            <a:spAutoFit/>
          </a:bodyPr>
          <a:lstStyle/>
          <a:p>
            <a:r>
              <a:rPr lang="en-US" sz="2400" dirty="0"/>
              <a:t>Here I'm </a:t>
            </a:r>
            <a:r>
              <a:rPr lang="en-US" sz="2400" i="1" dirty="0"/>
              <a:t>declaring a variable</a:t>
            </a:r>
            <a:r>
              <a:rPr lang="en-US" sz="2400" dirty="0"/>
              <a:t>.  In C++, unlike in Python, you must declare a variable before you use it.</a:t>
            </a:r>
          </a:p>
          <a:p>
            <a:endParaRPr lang="en-US" sz="2400" dirty="0"/>
          </a:p>
          <a:p>
            <a:endParaRPr lang="en-US" sz="2400" dirty="0"/>
          </a:p>
        </p:txBody>
      </p:sp>
      <p:sp>
        <p:nvSpPr>
          <p:cNvPr id="5" name="Frame 4">
            <a:extLst>
              <a:ext uri="{FF2B5EF4-FFF2-40B4-BE49-F238E27FC236}">
                <a16:creationId xmlns:a16="http://schemas.microsoft.com/office/drawing/2014/main" id="{6FA745CE-3F90-E442-AE8B-97AB8BB2062D}"/>
              </a:ext>
            </a:extLst>
          </p:cNvPr>
          <p:cNvSpPr/>
          <p:nvPr/>
        </p:nvSpPr>
        <p:spPr>
          <a:xfrm>
            <a:off x="5438501" y="2774466"/>
            <a:ext cx="2437138" cy="40523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8787613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596849" y="1579453"/>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3864735" y="2475054"/>
            <a:ext cx="978408"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1604039" y="2744084"/>
            <a:ext cx="2327666" cy="2677656"/>
          </a:xfrm>
          <a:prstGeom prst="rect">
            <a:avLst/>
          </a:prstGeom>
          <a:noFill/>
        </p:spPr>
        <p:txBody>
          <a:bodyPr wrap="square" rtlCol="0">
            <a:spAutoFit/>
          </a:bodyPr>
          <a:lstStyle/>
          <a:p>
            <a:r>
              <a:rPr lang="en-US" sz="2400" dirty="0"/>
              <a:t>This is the type of the variable – an </a:t>
            </a:r>
            <a:r>
              <a:rPr lang="en-US" sz="2400" dirty="0" err="1"/>
              <a:t>int</a:t>
            </a:r>
            <a:r>
              <a:rPr lang="en-US" sz="2400" dirty="0"/>
              <a:t>, same as main()'s return type</a:t>
            </a:r>
          </a:p>
          <a:p>
            <a:endParaRPr lang="en-US" sz="2400" dirty="0"/>
          </a:p>
          <a:p>
            <a:endParaRPr lang="en-US" sz="2400" dirty="0"/>
          </a:p>
        </p:txBody>
      </p:sp>
      <p:sp>
        <p:nvSpPr>
          <p:cNvPr id="5" name="Frame 4">
            <a:extLst>
              <a:ext uri="{FF2B5EF4-FFF2-40B4-BE49-F238E27FC236}">
                <a16:creationId xmlns:a16="http://schemas.microsoft.com/office/drawing/2014/main" id="{6FA745CE-3F90-E442-AE8B-97AB8BB2062D}"/>
              </a:ext>
            </a:extLst>
          </p:cNvPr>
          <p:cNvSpPr/>
          <p:nvPr/>
        </p:nvSpPr>
        <p:spPr>
          <a:xfrm>
            <a:off x="5438501" y="2774466"/>
            <a:ext cx="460854" cy="40523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241451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353939" y="1616861"/>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3980770" y="3335832"/>
            <a:ext cx="2643989"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1604039" y="2744084"/>
            <a:ext cx="2327666" cy="2308324"/>
          </a:xfrm>
          <a:prstGeom prst="rect">
            <a:avLst/>
          </a:prstGeom>
          <a:noFill/>
        </p:spPr>
        <p:txBody>
          <a:bodyPr wrap="square" rtlCol="0">
            <a:spAutoFit/>
          </a:bodyPr>
          <a:lstStyle/>
          <a:p>
            <a:r>
              <a:rPr lang="en-US" sz="2400" dirty="0"/>
              <a:t>And here I'm initializing the variable – setting it equal to 137</a:t>
            </a:r>
          </a:p>
          <a:p>
            <a:endParaRPr lang="en-US" sz="2400" dirty="0"/>
          </a:p>
          <a:p>
            <a:endParaRPr lang="en-US" sz="2400" dirty="0"/>
          </a:p>
        </p:txBody>
      </p:sp>
      <p:sp>
        <p:nvSpPr>
          <p:cNvPr id="5" name="Frame 4">
            <a:extLst>
              <a:ext uri="{FF2B5EF4-FFF2-40B4-BE49-F238E27FC236}">
                <a16:creationId xmlns:a16="http://schemas.microsoft.com/office/drawing/2014/main" id="{6FA745CE-3F90-E442-AE8B-97AB8BB2062D}"/>
              </a:ext>
            </a:extLst>
          </p:cNvPr>
          <p:cNvSpPr/>
          <p:nvPr/>
        </p:nvSpPr>
        <p:spPr>
          <a:xfrm>
            <a:off x="6873412" y="2946015"/>
            <a:ext cx="608738" cy="203304"/>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4585380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353939" y="1616861"/>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3980770" y="3335832"/>
            <a:ext cx="2643989"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1604039" y="2744084"/>
            <a:ext cx="2327666" cy="4524315"/>
          </a:xfrm>
          <a:prstGeom prst="rect">
            <a:avLst/>
          </a:prstGeom>
          <a:noFill/>
        </p:spPr>
        <p:txBody>
          <a:bodyPr wrap="square" rtlCol="0">
            <a:spAutoFit/>
          </a:bodyPr>
          <a:lstStyle/>
          <a:p>
            <a:r>
              <a:rPr lang="en-US" sz="2400" dirty="0"/>
              <a:t>As in most languages, you assign a value to a variable by using a single = </a:t>
            </a:r>
            <a:br>
              <a:rPr lang="en-US" sz="2400" dirty="0"/>
            </a:br>
            <a:r>
              <a:rPr lang="en-US" sz="2400" dirty="0"/>
              <a:t>sign. If you want to test whether two variables are equal, use == instead.</a:t>
            </a:r>
          </a:p>
          <a:p>
            <a:endParaRPr lang="en-US" sz="2400" dirty="0"/>
          </a:p>
          <a:p>
            <a:endParaRPr lang="en-US" sz="2400" dirty="0"/>
          </a:p>
        </p:txBody>
      </p:sp>
      <p:sp>
        <p:nvSpPr>
          <p:cNvPr id="5" name="Frame 4">
            <a:extLst>
              <a:ext uri="{FF2B5EF4-FFF2-40B4-BE49-F238E27FC236}">
                <a16:creationId xmlns:a16="http://schemas.microsoft.com/office/drawing/2014/main" id="{6FA745CE-3F90-E442-AE8B-97AB8BB2062D}"/>
              </a:ext>
            </a:extLst>
          </p:cNvPr>
          <p:cNvSpPr/>
          <p:nvPr/>
        </p:nvSpPr>
        <p:spPr>
          <a:xfrm>
            <a:off x="6873412" y="2946015"/>
            <a:ext cx="608738" cy="203304"/>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106747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353939" y="1616861"/>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2658040" y="3482982"/>
            <a:ext cx="2643989"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652950" y="3752012"/>
            <a:ext cx="2327666" cy="1200329"/>
          </a:xfrm>
          <a:prstGeom prst="rect">
            <a:avLst/>
          </a:prstGeom>
          <a:noFill/>
        </p:spPr>
        <p:txBody>
          <a:bodyPr wrap="square" rtlCol="0">
            <a:spAutoFit/>
          </a:bodyPr>
          <a:lstStyle/>
          <a:p>
            <a:endParaRPr lang="en-US" sz="2400" dirty="0"/>
          </a:p>
          <a:p>
            <a:r>
              <a:rPr lang="en-US" sz="2400" dirty="0"/>
              <a:t>Here's how you do output in C++</a:t>
            </a:r>
          </a:p>
        </p:txBody>
      </p:sp>
      <p:sp>
        <p:nvSpPr>
          <p:cNvPr id="5" name="Frame 4">
            <a:extLst>
              <a:ext uri="{FF2B5EF4-FFF2-40B4-BE49-F238E27FC236}">
                <a16:creationId xmlns:a16="http://schemas.microsoft.com/office/drawing/2014/main" id="{6FA745CE-3F90-E442-AE8B-97AB8BB2062D}"/>
              </a:ext>
            </a:extLst>
          </p:cNvPr>
          <p:cNvSpPr/>
          <p:nvPr/>
        </p:nvSpPr>
        <p:spPr>
          <a:xfrm>
            <a:off x="5206181" y="3130675"/>
            <a:ext cx="5866058" cy="373930"/>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1C31EE51-8D58-304E-82F0-AD32B43625DE}"/>
              </a:ext>
            </a:extLst>
          </p:cNvPr>
          <p:cNvSpPr txBox="1"/>
          <p:nvPr/>
        </p:nvSpPr>
        <p:spPr>
          <a:xfrm>
            <a:off x="1067707" y="4906421"/>
            <a:ext cx="10170564" cy="1938992"/>
          </a:xfrm>
          <a:prstGeom prst="rect">
            <a:avLst/>
          </a:prstGeom>
          <a:noFill/>
        </p:spPr>
        <p:txBody>
          <a:bodyPr wrap="square" rtlCol="0">
            <a:spAutoFit/>
          </a:bodyPr>
          <a:lstStyle/>
          <a:p>
            <a:endParaRPr lang="en-US" sz="2400" dirty="0"/>
          </a:p>
          <a:p>
            <a:r>
              <a:rPr lang="en-US" sz="2400" dirty="0" err="1"/>
              <a:t>cout</a:t>
            </a:r>
            <a:r>
              <a:rPr lang="en-US" sz="2400" dirty="0"/>
              <a:t> is short for </a:t>
            </a:r>
            <a:r>
              <a:rPr lang="en-US" sz="2400" b="1" dirty="0"/>
              <a:t>c</a:t>
            </a:r>
            <a:r>
              <a:rPr lang="en-US" sz="2400" dirty="0"/>
              <a:t>onsole </a:t>
            </a:r>
            <a:r>
              <a:rPr lang="en-US" sz="2400" b="1" dirty="0"/>
              <a:t>out</a:t>
            </a:r>
            <a:r>
              <a:rPr lang="en-US" sz="2400" dirty="0"/>
              <a:t>. It means "print to the screen." </a:t>
            </a:r>
            <a:r>
              <a:rPr lang="en-US" sz="2400" dirty="0" err="1"/>
              <a:t>cout</a:t>
            </a:r>
            <a:r>
              <a:rPr lang="en-US" sz="2400" dirty="0"/>
              <a:t> is a "stream" – for now, just think of a stream as something you can write to or read from. </a:t>
            </a:r>
            <a:br>
              <a:rPr lang="en-US" sz="2400" dirty="0"/>
            </a:br>
            <a:r>
              <a:rPr lang="en-US" sz="2400" dirty="0"/>
              <a:t>&lt;&lt; is the </a:t>
            </a:r>
            <a:r>
              <a:rPr lang="en-US" sz="2400" b="1" dirty="0"/>
              <a:t>stream insertion operator</a:t>
            </a:r>
            <a:r>
              <a:rPr lang="en-US" sz="2400" dirty="0"/>
              <a:t>. It means "put everything on the right hand side of &lt;&lt; into the stream on the left hand side of &lt;&lt;</a:t>
            </a:r>
          </a:p>
        </p:txBody>
      </p:sp>
    </p:spTree>
    <p:extLst>
      <p:ext uri="{BB962C8B-B14F-4D97-AF65-F5344CB8AC3E}">
        <p14:creationId xmlns:p14="http://schemas.microsoft.com/office/powerpoint/2010/main" val="842683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353939" y="1616861"/>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2658040" y="3482982"/>
            <a:ext cx="2643989"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652950" y="3752012"/>
            <a:ext cx="2327666" cy="1200329"/>
          </a:xfrm>
          <a:prstGeom prst="rect">
            <a:avLst/>
          </a:prstGeom>
          <a:noFill/>
        </p:spPr>
        <p:txBody>
          <a:bodyPr wrap="square" rtlCol="0">
            <a:spAutoFit/>
          </a:bodyPr>
          <a:lstStyle/>
          <a:p>
            <a:endParaRPr lang="en-US" sz="2400" dirty="0"/>
          </a:p>
          <a:p>
            <a:r>
              <a:rPr lang="en-US" sz="2400" dirty="0"/>
              <a:t>Here's how you do output in C++</a:t>
            </a:r>
          </a:p>
        </p:txBody>
      </p:sp>
      <p:sp>
        <p:nvSpPr>
          <p:cNvPr id="5" name="Frame 4">
            <a:extLst>
              <a:ext uri="{FF2B5EF4-FFF2-40B4-BE49-F238E27FC236}">
                <a16:creationId xmlns:a16="http://schemas.microsoft.com/office/drawing/2014/main" id="{6FA745CE-3F90-E442-AE8B-97AB8BB2062D}"/>
              </a:ext>
            </a:extLst>
          </p:cNvPr>
          <p:cNvSpPr/>
          <p:nvPr/>
        </p:nvSpPr>
        <p:spPr>
          <a:xfrm>
            <a:off x="5206181" y="3130675"/>
            <a:ext cx="5866058" cy="373930"/>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1C31EE51-8D58-304E-82F0-AD32B43625DE}"/>
              </a:ext>
            </a:extLst>
          </p:cNvPr>
          <p:cNvSpPr txBox="1"/>
          <p:nvPr/>
        </p:nvSpPr>
        <p:spPr>
          <a:xfrm>
            <a:off x="1067707" y="4906421"/>
            <a:ext cx="10170564" cy="830997"/>
          </a:xfrm>
          <a:prstGeom prst="rect">
            <a:avLst/>
          </a:prstGeom>
          <a:noFill/>
        </p:spPr>
        <p:txBody>
          <a:bodyPr wrap="square" rtlCol="0">
            <a:spAutoFit/>
          </a:bodyPr>
          <a:lstStyle/>
          <a:p>
            <a:endParaRPr lang="en-US" sz="2400" dirty="0"/>
          </a:p>
          <a:p>
            <a:r>
              <a:rPr lang="en-US" sz="2400" dirty="0" err="1"/>
              <a:t>endl</a:t>
            </a:r>
            <a:r>
              <a:rPr lang="en-US" sz="2400" dirty="0"/>
              <a:t> means "end line" – this inserts a newline character into the stream </a:t>
            </a:r>
          </a:p>
        </p:txBody>
      </p:sp>
    </p:spTree>
    <p:extLst>
      <p:ext uri="{BB962C8B-B14F-4D97-AF65-F5344CB8AC3E}">
        <p14:creationId xmlns:p14="http://schemas.microsoft.com/office/powerpoint/2010/main" val="2579645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9011A28-A7E0-F94E-8E15-217DE197B1CA}"/>
              </a:ext>
            </a:extLst>
          </p:cNvPr>
          <p:cNvPicPr>
            <a:picLocks noChangeAspect="1"/>
          </p:cNvPicPr>
          <p:nvPr/>
        </p:nvPicPr>
        <p:blipFill>
          <a:blip r:embed="rId2"/>
          <a:stretch>
            <a:fillRect/>
          </a:stretch>
        </p:blipFill>
        <p:spPr>
          <a:xfrm>
            <a:off x="4353939" y="1616861"/>
            <a:ext cx="6718300" cy="27940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2658040" y="3482982"/>
            <a:ext cx="2643989"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1067707" y="5325865"/>
            <a:ext cx="9432160" cy="830997"/>
          </a:xfrm>
          <a:prstGeom prst="rect">
            <a:avLst/>
          </a:prstGeom>
          <a:noFill/>
        </p:spPr>
        <p:txBody>
          <a:bodyPr wrap="square" rtlCol="0">
            <a:spAutoFit/>
          </a:bodyPr>
          <a:lstStyle/>
          <a:p>
            <a:r>
              <a:rPr lang="en-US" sz="2400" dirty="0"/>
              <a:t>If we </a:t>
            </a:r>
            <a:r>
              <a:rPr lang="en-US" sz="2400" i="1" dirty="0"/>
              <a:t>didn't</a:t>
            </a:r>
            <a:r>
              <a:rPr lang="en-US" sz="2400" dirty="0"/>
              <a:t> include using namespace </a:t>
            </a:r>
            <a:r>
              <a:rPr lang="en-US" sz="2400" dirty="0" err="1"/>
              <a:t>std</a:t>
            </a:r>
            <a:r>
              <a:rPr lang="en-US" sz="2400" dirty="0"/>
              <a:t> at the top of this file, we'd have to use somewhat more complicated syntax here: </a:t>
            </a:r>
          </a:p>
        </p:txBody>
      </p:sp>
      <p:sp>
        <p:nvSpPr>
          <p:cNvPr id="5" name="Frame 4">
            <a:extLst>
              <a:ext uri="{FF2B5EF4-FFF2-40B4-BE49-F238E27FC236}">
                <a16:creationId xmlns:a16="http://schemas.microsoft.com/office/drawing/2014/main" id="{6FA745CE-3F90-E442-AE8B-97AB8BB2062D}"/>
              </a:ext>
            </a:extLst>
          </p:cNvPr>
          <p:cNvSpPr/>
          <p:nvPr/>
        </p:nvSpPr>
        <p:spPr>
          <a:xfrm>
            <a:off x="5206181" y="3130675"/>
            <a:ext cx="5866058" cy="373930"/>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Frame 9">
            <a:extLst>
              <a:ext uri="{FF2B5EF4-FFF2-40B4-BE49-F238E27FC236}">
                <a16:creationId xmlns:a16="http://schemas.microsoft.com/office/drawing/2014/main" id="{2DBBC36B-E300-9444-931C-EFA3195EAE2E}"/>
              </a:ext>
            </a:extLst>
          </p:cNvPr>
          <p:cNvSpPr/>
          <p:nvPr/>
        </p:nvSpPr>
        <p:spPr>
          <a:xfrm>
            <a:off x="4780060" y="2028292"/>
            <a:ext cx="2240172" cy="373930"/>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6244322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5B9FB3-6E33-084E-9D4D-7A9ED54FCAC3}"/>
              </a:ext>
            </a:extLst>
          </p:cNvPr>
          <p:cNvPicPr>
            <a:picLocks noChangeAspect="1"/>
          </p:cNvPicPr>
          <p:nvPr/>
        </p:nvPicPr>
        <p:blipFill>
          <a:blip r:embed="rId2"/>
          <a:stretch>
            <a:fillRect/>
          </a:stretch>
        </p:blipFill>
        <p:spPr>
          <a:xfrm>
            <a:off x="4406900" y="2066791"/>
            <a:ext cx="7785100" cy="24638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3180" y="1579453"/>
            <a:ext cx="5878111" cy="4837972"/>
          </a:xfrm>
        </p:spPr>
        <p:txBody>
          <a:bodyPr>
            <a:normAutofit/>
          </a:bodyPr>
          <a:lstStyle/>
          <a:p>
            <a:r>
              <a:rPr lang="en-US" dirty="0"/>
              <a:t>Here's a sample program:</a:t>
            </a:r>
          </a:p>
        </p:txBody>
      </p:sp>
      <p:sp>
        <p:nvSpPr>
          <p:cNvPr id="12" name="Right Arrow 11">
            <a:extLst>
              <a:ext uri="{FF2B5EF4-FFF2-40B4-BE49-F238E27FC236}">
                <a16:creationId xmlns:a16="http://schemas.microsoft.com/office/drawing/2014/main" id="{48B7194A-57F0-F847-AA9D-E05BE96F67BE}"/>
              </a:ext>
            </a:extLst>
          </p:cNvPr>
          <p:cNvSpPr/>
          <p:nvPr/>
        </p:nvSpPr>
        <p:spPr>
          <a:xfrm rot="20536178" flipV="1">
            <a:off x="1925155" y="3633318"/>
            <a:ext cx="2643989"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30D47B-F71D-2849-A32E-0A1B1CE7828A}"/>
              </a:ext>
            </a:extLst>
          </p:cNvPr>
          <p:cNvSpPr txBox="1"/>
          <p:nvPr/>
        </p:nvSpPr>
        <p:spPr>
          <a:xfrm>
            <a:off x="1067707" y="5325865"/>
            <a:ext cx="9432160" cy="830997"/>
          </a:xfrm>
          <a:prstGeom prst="rect">
            <a:avLst/>
          </a:prstGeom>
          <a:noFill/>
        </p:spPr>
        <p:txBody>
          <a:bodyPr wrap="square" rtlCol="0">
            <a:spAutoFit/>
          </a:bodyPr>
          <a:lstStyle/>
          <a:p>
            <a:r>
              <a:rPr lang="en-US" sz="2400" dirty="0"/>
              <a:t>If we </a:t>
            </a:r>
            <a:r>
              <a:rPr lang="en-US" sz="2400" i="1" dirty="0"/>
              <a:t>didn't</a:t>
            </a:r>
            <a:r>
              <a:rPr lang="en-US" sz="2400" dirty="0"/>
              <a:t> include using namespace </a:t>
            </a:r>
            <a:r>
              <a:rPr lang="en-US" sz="2400" dirty="0" err="1"/>
              <a:t>std</a:t>
            </a:r>
            <a:r>
              <a:rPr lang="en-US" sz="2400" dirty="0"/>
              <a:t> at the top of this file, we'd have to use somewhat more complicated syntax here: </a:t>
            </a:r>
          </a:p>
        </p:txBody>
      </p:sp>
      <p:sp>
        <p:nvSpPr>
          <p:cNvPr id="5" name="Frame 4">
            <a:extLst>
              <a:ext uri="{FF2B5EF4-FFF2-40B4-BE49-F238E27FC236}">
                <a16:creationId xmlns:a16="http://schemas.microsoft.com/office/drawing/2014/main" id="{6FA745CE-3F90-E442-AE8B-97AB8BB2062D}"/>
              </a:ext>
            </a:extLst>
          </p:cNvPr>
          <p:cNvSpPr/>
          <p:nvPr/>
        </p:nvSpPr>
        <p:spPr>
          <a:xfrm>
            <a:off x="5148102" y="3353855"/>
            <a:ext cx="6798091" cy="373930"/>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Frame 9">
            <a:extLst>
              <a:ext uri="{FF2B5EF4-FFF2-40B4-BE49-F238E27FC236}">
                <a16:creationId xmlns:a16="http://schemas.microsoft.com/office/drawing/2014/main" id="{2DBBC36B-E300-9444-931C-EFA3195EAE2E}"/>
              </a:ext>
            </a:extLst>
          </p:cNvPr>
          <p:cNvSpPr/>
          <p:nvPr/>
        </p:nvSpPr>
        <p:spPr>
          <a:xfrm>
            <a:off x="4780060" y="2028292"/>
            <a:ext cx="2240172" cy="373930"/>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571641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51" name="Rectangle 50">
            <a:extLst>
              <a:ext uri="{FF2B5EF4-FFF2-40B4-BE49-F238E27FC236}">
                <a16:creationId xmlns:a16="http://schemas.microsoft.com/office/drawing/2014/main" id="{310DEDEF-66DB-0C41-8FF0-5CC1BB806215}"/>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4425324" cy="3509382"/>
          </a:xfrm>
        </p:spPr>
        <p:txBody>
          <a:bodyPr>
            <a:normAutofit lnSpcReduction="10000"/>
          </a:bodyPr>
          <a:lstStyle/>
          <a:p>
            <a:r>
              <a:rPr lang="en-US" dirty="0"/>
              <a:t>Karel (deliberately) doesn't include variables. </a:t>
            </a:r>
            <a:br>
              <a:rPr lang="en-US" dirty="0"/>
            </a:br>
            <a:endParaRPr lang="en-US" dirty="0"/>
          </a:p>
          <a:p>
            <a:r>
              <a:rPr lang="en-US" dirty="0"/>
              <a:t>(that's what makes </a:t>
            </a:r>
            <a:br>
              <a:rPr lang="en-US" dirty="0"/>
            </a:br>
            <a:r>
              <a:rPr lang="en-US" dirty="0"/>
              <a:t>the puzzles interesting)</a:t>
            </a:r>
            <a:br>
              <a:rPr lang="en-US" dirty="0"/>
            </a:br>
            <a:endParaRPr lang="en-US" dirty="0"/>
          </a:p>
          <a:p>
            <a:r>
              <a:rPr lang="en-US" dirty="0"/>
              <a:t>What does it mean to "declare a variable" in C++?</a:t>
            </a:r>
            <a:br>
              <a:rPr lang="en-US" dirty="0"/>
            </a:br>
            <a:endParaRPr lang="en-US" dirty="0"/>
          </a:p>
        </p:txBody>
      </p:sp>
      <p:pic>
        <p:nvPicPr>
          <p:cNvPr id="3" name="Picture 2">
            <a:extLst>
              <a:ext uri="{FF2B5EF4-FFF2-40B4-BE49-F238E27FC236}">
                <a16:creationId xmlns:a16="http://schemas.microsoft.com/office/drawing/2014/main" id="{DC8259F4-5AED-D740-AE5A-0A7A1BF24A31}"/>
              </a:ext>
            </a:extLst>
          </p:cNvPr>
          <p:cNvPicPr>
            <a:picLocks noChangeAspect="1"/>
          </p:cNvPicPr>
          <p:nvPr/>
        </p:nvPicPr>
        <p:blipFill>
          <a:blip r:embed="rId2"/>
          <a:stretch>
            <a:fillRect/>
          </a:stretch>
        </p:blipFill>
        <p:spPr>
          <a:xfrm>
            <a:off x="4842842" y="1698516"/>
            <a:ext cx="6667500" cy="2413000"/>
          </a:xfrm>
          <a:prstGeom prst="rect">
            <a:avLst/>
          </a:prstGeom>
        </p:spPr>
      </p:pic>
      <p:sp>
        <p:nvSpPr>
          <p:cNvPr id="12" name="Right Arrow 11">
            <a:extLst>
              <a:ext uri="{FF2B5EF4-FFF2-40B4-BE49-F238E27FC236}">
                <a16:creationId xmlns:a16="http://schemas.microsoft.com/office/drawing/2014/main" id="{48B7194A-57F0-F847-AA9D-E05BE96F67BE}"/>
              </a:ext>
            </a:extLst>
          </p:cNvPr>
          <p:cNvSpPr/>
          <p:nvPr/>
        </p:nvSpPr>
        <p:spPr>
          <a:xfrm rot="7229129" flipV="1">
            <a:off x="7031412" y="1689987"/>
            <a:ext cx="1692682"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ame 4">
            <a:extLst>
              <a:ext uri="{FF2B5EF4-FFF2-40B4-BE49-F238E27FC236}">
                <a16:creationId xmlns:a16="http://schemas.microsoft.com/office/drawing/2014/main" id="{6FA745CE-3F90-E442-AE8B-97AB8BB2062D}"/>
              </a:ext>
            </a:extLst>
          </p:cNvPr>
          <p:cNvSpPr/>
          <p:nvPr/>
        </p:nvSpPr>
        <p:spPr>
          <a:xfrm>
            <a:off x="5163996" y="2761702"/>
            <a:ext cx="2681291" cy="31805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ontent Placeholder 2">
            <a:extLst>
              <a:ext uri="{FF2B5EF4-FFF2-40B4-BE49-F238E27FC236}">
                <a16:creationId xmlns:a16="http://schemas.microsoft.com/office/drawing/2014/main" id="{C2506966-A779-5142-A589-51DC9791EAC0}"/>
              </a:ext>
            </a:extLst>
          </p:cNvPr>
          <p:cNvSpPr txBox="1">
            <a:spLocks/>
          </p:cNvSpPr>
          <p:nvPr/>
        </p:nvSpPr>
        <p:spPr>
          <a:xfrm>
            <a:off x="271668" y="4573689"/>
            <a:ext cx="11920332" cy="15532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It means to </a:t>
            </a:r>
            <a:r>
              <a:rPr lang="en-US" i="1" dirty="0"/>
              <a:t>set aside space in memory</a:t>
            </a:r>
            <a:r>
              <a:rPr lang="en-US" dirty="0"/>
              <a:t> for that type of variable.</a:t>
            </a:r>
            <a:br>
              <a:rPr lang="en-US" dirty="0"/>
            </a:br>
            <a:endParaRPr lang="en-US" dirty="0"/>
          </a:p>
          <a:p>
            <a:r>
              <a:rPr lang="en-US" dirty="0"/>
              <a:t>So this command means set aside space in memory for an </a:t>
            </a:r>
            <a:r>
              <a:rPr lang="en-US" dirty="0" err="1"/>
              <a:t>int</a:t>
            </a:r>
            <a:r>
              <a:rPr lang="en-US" dirty="0"/>
              <a:t> (a whole number; something without a decimal point) and then stores the number 137 there. </a:t>
            </a:r>
          </a:p>
        </p:txBody>
      </p:sp>
    </p:spTree>
    <p:extLst>
      <p:ext uri="{BB962C8B-B14F-4D97-AF65-F5344CB8AC3E}">
        <p14:creationId xmlns:p14="http://schemas.microsoft.com/office/powerpoint/2010/main" val="9709347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4425324" cy="3509382"/>
          </a:xfrm>
        </p:spPr>
        <p:txBody>
          <a:bodyPr>
            <a:normAutofit/>
          </a:bodyPr>
          <a:lstStyle/>
          <a:p>
            <a:r>
              <a:rPr lang="en-US" dirty="0"/>
              <a:t>When the compiler sees this command, it grabs a box that isn't storing anything yet (one that's the appropriate size for an </a:t>
            </a:r>
            <a:r>
              <a:rPr lang="en-US" dirty="0" err="1"/>
              <a:t>int</a:t>
            </a:r>
            <a:r>
              <a:rPr lang="en-US" dirty="0"/>
              <a:t>) and then stores the number 137 there.</a:t>
            </a:r>
            <a:br>
              <a:rPr lang="en-US" dirty="0"/>
            </a:br>
            <a:endParaRPr lang="en-US" dirty="0"/>
          </a:p>
        </p:txBody>
      </p:sp>
      <p:pic>
        <p:nvPicPr>
          <p:cNvPr id="3" name="Picture 2">
            <a:extLst>
              <a:ext uri="{FF2B5EF4-FFF2-40B4-BE49-F238E27FC236}">
                <a16:creationId xmlns:a16="http://schemas.microsoft.com/office/drawing/2014/main" id="{DC8259F4-5AED-D740-AE5A-0A7A1BF24A31}"/>
              </a:ext>
            </a:extLst>
          </p:cNvPr>
          <p:cNvPicPr>
            <a:picLocks noChangeAspect="1"/>
          </p:cNvPicPr>
          <p:nvPr/>
        </p:nvPicPr>
        <p:blipFill>
          <a:blip r:embed="rId2"/>
          <a:stretch>
            <a:fillRect/>
          </a:stretch>
        </p:blipFill>
        <p:spPr>
          <a:xfrm>
            <a:off x="4997954" y="1228077"/>
            <a:ext cx="6667500" cy="2413000"/>
          </a:xfrm>
          <a:prstGeom prst="rect">
            <a:avLst/>
          </a:prstGeom>
        </p:spPr>
      </p:pic>
      <p:sp>
        <p:nvSpPr>
          <p:cNvPr id="12" name="Right Arrow 11">
            <a:extLst>
              <a:ext uri="{FF2B5EF4-FFF2-40B4-BE49-F238E27FC236}">
                <a16:creationId xmlns:a16="http://schemas.microsoft.com/office/drawing/2014/main" id="{48B7194A-57F0-F847-AA9D-E05BE96F67BE}"/>
              </a:ext>
            </a:extLst>
          </p:cNvPr>
          <p:cNvSpPr/>
          <p:nvPr/>
        </p:nvSpPr>
        <p:spPr>
          <a:xfrm rot="7229129" flipV="1">
            <a:off x="7397372" y="892339"/>
            <a:ext cx="1692682"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ame 4">
            <a:extLst>
              <a:ext uri="{FF2B5EF4-FFF2-40B4-BE49-F238E27FC236}">
                <a16:creationId xmlns:a16="http://schemas.microsoft.com/office/drawing/2014/main" id="{6FA745CE-3F90-E442-AE8B-97AB8BB2062D}"/>
              </a:ext>
            </a:extLst>
          </p:cNvPr>
          <p:cNvSpPr/>
          <p:nvPr/>
        </p:nvSpPr>
        <p:spPr>
          <a:xfrm>
            <a:off x="5319108" y="2291263"/>
            <a:ext cx="2681291" cy="31805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Frame 40">
            <a:extLst>
              <a:ext uri="{FF2B5EF4-FFF2-40B4-BE49-F238E27FC236}">
                <a16:creationId xmlns:a16="http://schemas.microsoft.com/office/drawing/2014/main" id="{2A16D8B7-F90E-F34C-9B58-F90E21D521DC}"/>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Frame 41">
            <a:extLst>
              <a:ext uri="{FF2B5EF4-FFF2-40B4-BE49-F238E27FC236}">
                <a16:creationId xmlns:a16="http://schemas.microsoft.com/office/drawing/2014/main" id="{E3E12EF2-CDD0-A745-93F4-E62BA1EFB22E}"/>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ame 42">
            <a:extLst>
              <a:ext uri="{FF2B5EF4-FFF2-40B4-BE49-F238E27FC236}">
                <a16:creationId xmlns:a16="http://schemas.microsoft.com/office/drawing/2014/main" id="{06FCE978-CAA5-C245-B168-3FA6C362A168}"/>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69B2A7CC-D85A-D946-9DD1-D3A5BBAA6EE1}"/>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C526EB70-E934-4947-B5FF-CA29A86E4B86}"/>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F5EB4B8B-46A9-AE40-A3B1-CB5EC80B57DF}"/>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BAE03EB0-9E24-0749-B357-FFEA3B78DDD8}"/>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7633D81D-CEB3-954A-B118-499F32E72399}"/>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Rectangle 48">
            <a:extLst>
              <a:ext uri="{FF2B5EF4-FFF2-40B4-BE49-F238E27FC236}">
                <a16:creationId xmlns:a16="http://schemas.microsoft.com/office/drawing/2014/main" id="{7A4FCF02-1BE7-EF42-8F4C-D3444811B097}"/>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DA98E8F-5BE9-354A-B0BE-5DA1DEE5F8FF}"/>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2" name="Rectangle 51">
            <a:extLst>
              <a:ext uri="{FF2B5EF4-FFF2-40B4-BE49-F238E27FC236}">
                <a16:creationId xmlns:a16="http://schemas.microsoft.com/office/drawing/2014/main" id="{ABA7CE8F-5377-D245-AAAF-37467F19C68A}"/>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12CB6BB-6270-FD45-9926-C84F2C917AEA}"/>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a:extLst>
              <a:ext uri="{FF2B5EF4-FFF2-40B4-BE49-F238E27FC236}">
                <a16:creationId xmlns:a16="http://schemas.microsoft.com/office/drawing/2014/main" id="{A0EC07ED-027E-AE4F-A708-A6F3B8B0A5F2}"/>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11522CA-E3D7-0249-B1FE-01D56ECBD3DE}"/>
              </a:ext>
            </a:extLst>
          </p:cNvPr>
          <p:cNvSpPr txBox="1"/>
          <p:nvPr/>
        </p:nvSpPr>
        <p:spPr>
          <a:xfrm>
            <a:off x="5116359" y="4999512"/>
            <a:ext cx="418704" cy="369332"/>
          </a:xfrm>
          <a:prstGeom prst="rect">
            <a:avLst/>
          </a:prstGeom>
          <a:noFill/>
        </p:spPr>
        <p:txBody>
          <a:bodyPr wrap="none" rtlCol="0">
            <a:spAutoFit/>
          </a:bodyPr>
          <a:lstStyle/>
          <a:p>
            <a:r>
              <a:rPr lang="en-US" dirty="0"/>
              <a:t>23</a:t>
            </a:r>
          </a:p>
        </p:txBody>
      </p:sp>
      <p:sp>
        <p:nvSpPr>
          <p:cNvPr id="56" name="TextBox 55">
            <a:extLst>
              <a:ext uri="{FF2B5EF4-FFF2-40B4-BE49-F238E27FC236}">
                <a16:creationId xmlns:a16="http://schemas.microsoft.com/office/drawing/2014/main" id="{715B2414-82EF-2744-A4A8-4C3D32D39E34}"/>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9" name="TextBox 58">
            <a:extLst>
              <a:ext uri="{FF2B5EF4-FFF2-40B4-BE49-F238E27FC236}">
                <a16:creationId xmlns:a16="http://schemas.microsoft.com/office/drawing/2014/main" id="{5ED5717B-645A-624E-A68A-73A4C992B69A}"/>
              </a:ext>
            </a:extLst>
          </p:cNvPr>
          <p:cNvSpPr txBox="1"/>
          <p:nvPr/>
        </p:nvSpPr>
        <p:spPr>
          <a:xfrm>
            <a:off x="8144784" y="5055168"/>
            <a:ext cx="445956" cy="276999"/>
          </a:xfrm>
          <a:prstGeom prst="rect">
            <a:avLst/>
          </a:prstGeom>
          <a:noFill/>
        </p:spPr>
        <p:txBody>
          <a:bodyPr wrap="none" rtlCol="0">
            <a:spAutoFit/>
          </a:bodyPr>
          <a:lstStyle/>
          <a:p>
            <a:r>
              <a:rPr lang="en-US" sz="1200" dirty="0"/>
              <a:t>true</a:t>
            </a:r>
          </a:p>
        </p:txBody>
      </p:sp>
      <p:sp>
        <p:nvSpPr>
          <p:cNvPr id="60" name="TextBox 59">
            <a:extLst>
              <a:ext uri="{FF2B5EF4-FFF2-40B4-BE49-F238E27FC236}">
                <a16:creationId xmlns:a16="http://schemas.microsoft.com/office/drawing/2014/main" id="{A747AA37-2FE8-8348-A1BA-F507F5191CED}"/>
              </a:ext>
            </a:extLst>
          </p:cNvPr>
          <p:cNvSpPr txBox="1"/>
          <p:nvPr/>
        </p:nvSpPr>
        <p:spPr>
          <a:xfrm>
            <a:off x="8743546" y="5058316"/>
            <a:ext cx="475002" cy="276999"/>
          </a:xfrm>
          <a:prstGeom prst="rect">
            <a:avLst/>
          </a:prstGeom>
          <a:noFill/>
        </p:spPr>
        <p:txBody>
          <a:bodyPr wrap="none" rtlCol="0">
            <a:spAutoFit/>
          </a:bodyPr>
          <a:lstStyle/>
          <a:p>
            <a:r>
              <a:rPr lang="en-US" sz="1200" dirty="0"/>
              <a:t>false</a:t>
            </a:r>
          </a:p>
        </p:txBody>
      </p:sp>
      <p:sp>
        <p:nvSpPr>
          <p:cNvPr id="61" name="TextBox 60">
            <a:extLst>
              <a:ext uri="{FF2B5EF4-FFF2-40B4-BE49-F238E27FC236}">
                <a16:creationId xmlns:a16="http://schemas.microsoft.com/office/drawing/2014/main" id="{40D9B277-6A17-FB46-8212-BC48E5BEEC7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2" name="TextBox 61">
            <a:extLst>
              <a:ext uri="{FF2B5EF4-FFF2-40B4-BE49-F238E27FC236}">
                <a16:creationId xmlns:a16="http://schemas.microsoft.com/office/drawing/2014/main" id="{7D31C9A4-8A48-514A-BB19-782C0C12DC4E}"/>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3" name="TextBox 62">
            <a:extLst>
              <a:ext uri="{FF2B5EF4-FFF2-40B4-BE49-F238E27FC236}">
                <a16:creationId xmlns:a16="http://schemas.microsoft.com/office/drawing/2014/main" id="{82DC134A-80FA-084F-BA33-9A9DE65AAD87}"/>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4" name="TextBox 63">
            <a:extLst>
              <a:ext uri="{FF2B5EF4-FFF2-40B4-BE49-F238E27FC236}">
                <a16:creationId xmlns:a16="http://schemas.microsoft.com/office/drawing/2014/main" id="{0E64FE62-5890-904C-9691-1CC1B1CAA5B4}"/>
              </a:ext>
            </a:extLst>
          </p:cNvPr>
          <p:cNvSpPr txBox="1"/>
          <p:nvPr/>
        </p:nvSpPr>
        <p:spPr>
          <a:xfrm>
            <a:off x="6723994" y="5758962"/>
            <a:ext cx="301686" cy="369332"/>
          </a:xfrm>
          <a:prstGeom prst="rect">
            <a:avLst/>
          </a:prstGeom>
          <a:noFill/>
        </p:spPr>
        <p:txBody>
          <a:bodyPr wrap="square" rtlCol="0">
            <a:spAutoFit/>
          </a:bodyPr>
          <a:lstStyle/>
          <a:p>
            <a:r>
              <a:rPr lang="en-US" dirty="0"/>
              <a:t>2</a:t>
            </a:r>
          </a:p>
        </p:txBody>
      </p:sp>
      <p:sp>
        <p:nvSpPr>
          <p:cNvPr id="65" name="TextBox 64">
            <a:extLst>
              <a:ext uri="{FF2B5EF4-FFF2-40B4-BE49-F238E27FC236}">
                <a16:creationId xmlns:a16="http://schemas.microsoft.com/office/drawing/2014/main" id="{5CA465AF-21FD-004B-88C0-94FCD1599E22}"/>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6" name="TextBox 65">
            <a:extLst>
              <a:ext uri="{FF2B5EF4-FFF2-40B4-BE49-F238E27FC236}">
                <a16:creationId xmlns:a16="http://schemas.microsoft.com/office/drawing/2014/main" id="{3075322A-109D-EA4A-8FF2-6E419894AC25}"/>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7" name="TextBox 66">
            <a:extLst>
              <a:ext uri="{FF2B5EF4-FFF2-40B4-BE49-F238E27FC236}">
                <a16:creationId xmlns:a16="http://schemas.microsoft.com/office/drawing/2014/main" id="{096A62DF-40FB-B343-8CE1-2BA78F6AEDCA}"/>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8" name="TextBox 67">
            <a:extLst>
              <a:ext uri="{FF2B5EF4-FFF2-40B4-BE49-F238E27FC236}">
                <a16:creationId xmlns:a16="http://schemas.microsoft.com/office/drawing/2014/main" id="{0F87E5B1-BCA3-2C42-8D7E-6DA0BBCB1FED}"/>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69" name="TextBox 68">
            <a:extLst>
              <a:ext uri="{FF2B5EF4-FFF2-40B4-BE49-F238E27FC236}">
                <a16:creationId xmlns:a16="http://schemas.microsoft.com/office/drawing/2014/main" id="{9874F8A7-C905-864C-8B36-D7136A7B8832}"/>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0" name="TextBox 69">
            <a:extLst>
              <a:ext uri="{FF2B5EF4-FFF2-40B4-BE49-F238E27FC236}">
                <a16:creationId xmlns:a16="http://schemas.microsoft.com/office/drawing/2014/main" id="{EC0C6C00-B7E7-F246-A912-7BBFC3CEECA5}"/>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71" name="Right Arrow 70">
            <a:extLst>
              <a:ext uri="{FF2B5EF4-FFF2-40B4-BE49-F238E27FC236}">
                <a16:creationId xmlns:a16="http://schemas.microsoft.com/office/drawing/2014/main" id="{13008DFD-08E4-8542-83E9-8E40AED11A28}"/>
              </a:ext>
            </a:extLst>
          </p:cNvPr>
          <p:cNvSpPr/>
          <p:nvPr/>
        </p:nvSpPr>
        <p:spPr>
          <a:xfrm rot="18450625" flipV="1">
            <a:off x="6174608" y="5673608"/>
            <a:ext cx="583000"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8432218-3968-E045-8389-3ABEBE357234}"/>
              </a:ext>
            </a:extLst>
          </p:cNvPr>
          <p:cNvSpPr txBox="1"/>
          <p:nvPr/>
        </p:nvSpPr>
        <p:spPr>
          <a:xfrm>
            <a:off x="5297468" y="6309676"/>
            <a:ext cx="1969325" cy="307777"/>
          </a:xfrm>
          <a:prstGeom prst="rect">
            <a:avLst/>
          </a:prstGeom>
          <a:noFill/>
        </p:spPr>
        <p:txBody>
          <a:bodyPr wrap="square" rtlCol="0">
            <a:spAutoFit/>
          </a:bodyPr>
          <a:lstStyle/>
          <a:p>
            <a:r>
              <a:rPr lang="en-US" sz="1400" dirty="0"/>
              <a:t>done!</a:t>
            </a:r>
          </a:p>
        </p:txBody>
      </p:sp>
      <p:sp>
        <p:nvSpPr>
          <p:cNvPr id="6" name="TextBox 5">
            <a:extLst>
              <a:ext uri="{FF2B5EF4-FFF2-40B4-BE49-F238E27FC236}">
                <a16:creationId xmlns:a16="http://schemas.microsoft.com/office/drawing/2014/main" id="{8DE3E552-562D-FB49-88D1-5444BE006B4C}"/>
              </a:ext>
            </a:extLst>
          </p:cNvPr>
          <p:cNvSpPr txBox="1"/>
          <p:nvPr/>
        </p:nvSpPr>
        <p:spPr>
          <a:xfrm>
            <a:off x="6613726" y="4995405"/>
            <a:ext cx="535724" cy="369332"/>
          </a:xfrm>
          <a:prstGeom prst="rect">
            <a:avLst/>
          </a:prstGeom>
          <a:noFill/>
        </p:spPr>
        <p:txBody>
          <a:bodyPr wrap="none" rtlCol="0">
            <a:spAutoFit/>
          </a:bodyPr>
          <a:lstStyle/>
          <a:p>
            <a:r>
              <a:rPr lang="en-US" dirty="0">
                <a:solidFill>
                  <a:srgbClr val="FF0000"/>
                </a:solidFill>
              </a:rPr>
              <a:t>137</a:t>
            </a:r>
          </a:p>
        </p:txBody>
      </p:sp>
    </p:spTree>
    <p:extLst>
      <p:ext uri="{BB962C8B-B14F-4D97-AF65-F5344CB8AC3E}">
        <p14:creationId xmlns:p14="http://schemas.microsoft.com/office/powerpoint/2010/main" val="35080388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a:t>
            </a:r>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4425324" cy="5221510"/>
          </a:xfrm>
        </p:spPr>
        <p:txBody>
          <a:bodyPr>
            <a:normAutofit fontScale="85000" lnSpcReduction="20000"/>
          </a:bodyPr>
          <a:lstStyle/>
          <a:p>
            <a:r>
              <a:rPr lang="en-US" dirty="0"/>
              <a:t>When the compiler sees this command, it grabs a box that isn't storing anything yet (one that's the appropriate size for an </a:t>
            </a:r>
            <a:r>
              <a:rPr lang="en-US" dirty="0" err="1"/>
              <a:t>int</a:t>
            </a:r>
            <a:r>
              <a:rPr lang="en-US" dirty="0"/>
              <a:t>) and then stores the number 137 there.</a:t>
            </a:r>
            <a:br>
              <a:rPr lang="en-US" dirty="0"/>
            </a:br>
            <a:endParaRPr lang="en-US" dirty="0"/>
          </a:p>
          <a:p>
            <a:r>
              <a:rPr lang="en-US" dirty="0"/>
              <a:t>It would be pretty inconvenient to have to refer to this variable by its address, so we give it a name: </a:t>
            </a:r>
            <a:r>
              <a:rPr lang="en-US" dirty="0" err="1"/>
              <a:t>magicNumber</a:t>
            </a:r>
            <a:r>
              <a:rPr lang="en-US" dirty="0"/>
              <a:t>.</a:t>
            </a:r>
            <a:br>
              <a:rPr lang="en-US" dirty="0"/>
            </a:br>
            <a:endParaRPr lang="en-US" dirty="0"/>
          </a:p>
          <a:p>
            <a:r>
              <a:rPr lang="en-US" dirty="0"/>
              <a:t>Now whenever we want to refer to the variable at address 2 (or whatever address the compiler assigns), we can use its name: </a:t>
            </a:r>
            <a:r>
              <a:rPr lang="en-US" dirty="0" err="1"/>
              <a:t>magicNumber</a:t>
            </a:r>
            <a:endParaRPr lang="en-US" dirty="0"/>
          </a:p>
        </p:txBody>
      </p:sp>
      <p:pic>
        <p:nvPicPr>
          <p:cNvPr id="3" name="Picture 2">
            <a:extLst>
              <a:ext uri="{FF2B5EF4-FFF2-40B4-BE49-F238E27FC236}">
                <a16:creationId xmlns:a16="http://schemas.microsoft.com/office/drawing/2014/main" id="{DC8259F4-5AED-D740-AE5A-0A7A1BF24A31}"/>
              </a:ext>
            </a:extLst>
          </p:cNvPr>
          <p:cNvPicPr>
            <a:picLocks noChangeAspect="1"/>
          </p:cNvPicPr>
          <p:nvPr/>
        </p:nvPicPr>
        <p:blipFill>
          <a:blip r:embed="rId2"/>
          <a:stretch>
            <a:fillRect/>
          </a:stretch>
        </p:blipFill>
        <p:spPr>
          <a:xfrm>
            <a:off x="4997954" y="1228077"/>
            <a:ext cx="6667500" cy="2413000"/>
          </a:xfrm>
          <a:prstGeom prst="rect">
            <a:avLst/>
          </a:prstGeom>
        </p:spPr>
      </p:pic>
      <p:sp>
        <p:nvSpPr>
          <p:cNvPr id="12" name="Right Arrow 11">
            <a:extLst>
              <a:ext uri="{FF2B5EF4-FFF2-40B4-BE49-F238E27FC236}">
                <a16:creationId xmlns:a16="http://schemas.microsoft.com/office/drawing/2014/main" id="{48B7194A-57F0-F847-AA9D-E05BE96F67BE}"/>
              </a:ext>
            </a:extLst>
          </p:cNvPr>
          <p:cNvSpPr/>
          <p:nvPr/>
        </p:nvSpPr>
        <p:spPr>
          <a:xfrm rot="15516859" flipV="1">
            <a:off x="9068969" y="3224719"/>
            <a:ext cx="1345050" cy="558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ame 4">
            <a:extLst>
              <a:ext uri="{FF2B5EF4-FFF2-40B4-BE49-F238E27FC236}">
                <a16:creationId xmlns:a16="http://schemas.microsoft.com/office/drawing/2014/main" id="{6FA745CE-3F90-E442-AE8B-97AB8BB2062D}"/>
              </a:ext>
            </a:extLst>
          </p:cNvPr>
          <p:cNvSpPr/>
          <p:nvPr/>
        </p:nvSpPr>
        <p:spPr>
          <a:xfrm>
            <a:off x="9166503" y="2508959"/>
            <a:ext cx="1322636" cy="31805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Frame 40">
            <a:extLst>
              <a:ext uri="{FF2B5EF4-FFF2-40B4-BE49-F238E27FC236}">
                <a16:creationId xmlns:a16="http://schemas.microsoft.com/office/drawing/2014/main" id="{2A16D8B7-F90E-F34C-9B58-F90E21D521DC}"/>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Frame 41">
            <a:extLst>
              <a:ext uri="{FF2B5EF4-FFF2-40B4-BE49-F238E27FC236}">
                <a16:creationId xmlns:a16="http://schemas.microsoft.com/office/drawing/2014/main" id="{E3E12EF2-CDD0-A745-93F4-E62BA1EFB22E}"/>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ame 42">
            <a:extLst>
              <a:ext uri="{FF2B5EF4-FFF2-40B4-BE49-F238E27FC236}">
                <a16:creationId xmlns:a16="http://schemas.microsoft.com/office/drawing/2014/main" id="{06FCE978-CAA5-C245-B168-3FA6C362A168}"/>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69B2A7CC-D85A-D946-9DD1-D3A5BBAA6EE1}"/>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C526EB70-E934-4947-B5FF-CA29A86E4B86}"/>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F5EB4B8B-46A9-AE40-A3B1-CB5EC80B57DF}"/>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BAE03EB0-9E24-0749-B357-FFEA3B78DDD8}"/>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7633D81D-CEB3-954A-B118-499F32E72399}"/>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Rectangle 48">
            <a:extLst>
              <a:ext uri="{FF2B5EF4-FFF2-40B4-BE49-F238E27FC236}">
                <a16:creationId xmlns:a16="http://schemas.microsoft.com/office/drawing/2014/main" id="{7A4FCF02-1BE7-EF42-8F4C-D3444811B097}"/>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DA98E8F-5BE9-354A-B0BE-5DA1DEE5F8FF}"/>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2" name="Rectangle 51">
            <a:extLst>
              <a:ext uri="{FF2B5EF4-FFF2-40B4-BE49-F238E27FC236}">
                <a16:creationId xmlns:a16="http://schemas.microsoft.com/office/drawing/2014/main" id="{ABA7CE8F-5377-D245-AAAF-37467F19C68A}"/>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12CB6BB-6270-FD45-9926-C84F2C917AEA}"/>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a:extLst>
              <a:ext uri="{FF2B5EF4-FFF2-40B4-BE49-F238E27FC236}">
                <a16:creationId xmlns:a16="http://schemas.microsoft.com/office/drawing/2014/main" id="{A0EC07ED-027E-AE4F-A708-A6F3B8B0A5F2}"/>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11522CA-E3D7-0249-B1FE-01D56ECBD3DE}"/>
              </a:ext>
            </a:extLst>
          </p:cNvPr>
          <p:cNvSpPr txBox="1"/>
          <p:nvPr/>
        </p:nvSpPr>
        <p:spPr>
          <a:xfrm>
            <a:off x="5116359" y="4999512"/>
            <a:ext cx="418704" cy="369332"/>
          </a:xfrm>
          <a:prstGeom prst="rect">
            <a:avLst/>
          </a:prstGeom>
          <a:noFill/>
        </p:spPr>
        <p:txBody>
          <a:bodyPr wrap="none" rtlCol="0">
            <a:spAutoFit/>
          </a:bodyPr>
          <a:lstStyle/>
          <a:p>
            <a:r>
              <a:rPr lang="en-US" dirty="0"/>
              <a:t>23</a:t>
            </a:r>
          </a:p>
        </p:txBody>
      </p:sp>
      <p:sp>
        <p:nvSpPr>
          <p:cNvPr id="56" name="TextBox 55">
            <a:extLst>
              <a:ext uri="{FF2B5EF4-FFF2-40B4-BE49-F238E27FC236}">
                <a16:creationId xmlns:a16="http://schemas.microsoft.com/office/drawing/2014/main" id="{715B2414-82EF-2744-A4A8-4C3D32D39E34}"/>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9" name="TextBox 58">
            <a:extLst>
              <a:ext uri="{FF2B5EF4-FFF2-40B4-BE49-F238E27FC236}">
                <a16:creationId xmlns:a16="http://schemas.microsoft.com/office/drawing/2014/main" id="{5ED5717B-645A-624E-A68A-73A4C992B69A}"/>
              </a:ext>
            </a:extLst>
          </p:cNvPr>
          <p:cNvSpPr txBox="1"/>
          <p:nvPr/>
        </p:nvSpPr>
        <p:spPr>
          <a:xfrm>
            <a:off x="8144784" y="5055168"/>
            <a:ext cx="445956" cy="276999"/>
          </a:xfrm>
          <a:prstGeom prst="rect">
            <a:avLst/>
          </a:prstGeom>
          <a:noFill/>
        </p:spPr>
        <p:txBody>
          <a:bodyPr wrap="none" rtlCol="0">
            <a:spAutoFit/>
          </a:bodyPr>
          <a:lstStyle/>
          <a:p>
            <a:r>
              <a:rPr lang="en-US" sz="1200" dirty="0"/>
              <a:t>true</a:t>
            </a:r>
          </a:p>
        </p:txBody>
      </p:sp>
      <p:sp>
        <p:nvSpPr>
          <p:cNvPr id="60" name="TextBox 59">
            <a:extLst>
              <a:ext uri="{FF2B5EF4-FFF2-40B4-BE49-F238E27FC236}">
                <a16:creationId xmlns:a16="http://schemas.microsoft.com/office/drawing/2014/main" id="{A747AA37-2FE8-8348-A1BA-F507F5191CED}"/>
              </a:ext>
            </a:extLst>
          </p:cNvPr>
          <p:cNvSpPr txBox="1"/>
          <p:nvPr/>
        </p:nvSpPr>
        <p:spPr>
          <a:xfrm>
            <a:off x="8743546" y="5058316"/>
            <a:ext cx="475002" cy="276999"/>
          </a:xfrm>
          <a:prstGeom prst="rect">
            <a:avLst/>
          </a:prstGeom>
          <a:noFill/>
        </p:spPr>
        <p:txBody>
          <a:bodyPr wrap="none" rtlCol="0">
            <a:spAutoFit/>
          </a:bodyPr>
          <a:lstStyle/>
          <a:p>
            <a:r>
              <a:rPr lang="en-US" sz="1200" dirty="0"/>
              <a:t>false</a:t>
            </a:r>
          </a:p>
        </p:txBody>
      </p:sp>
      <p:sp>
        <p:nvSpPr>
          <p:cNvPr id="61" name="TextBox 60">
            <a:extLst>
              <a:ext uri="{FF2B5EF4-FFF2-40B4-BE49-F238E27FC236}">
                <a16:creationId xmlns:a16="http://schemas.microsoft.com/office/drawing/2014/main" id="{40D9B277-6A17-FB46-8212-BC48E5BEEC7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2" name="TextBox 61">
            <a:extLst>
              <a:ext uri="{FF2B5EF4-FFF2-40B4-BE49-F238E27FC236}">
                <a16:creationId xmlns:a16="http://schemas.microsoft.com/office/drawing/2014/main" id="{7D31C9A4-8A48-514A-BB19-782C0C12DC4E}"/>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3" name="TextBox 62">
            <a:extLst>
              <a:ext uri="{FF2B5EF4-FFF2-40B4-BE49-F238E27FC236}">
                <a16:creationId xmlns:a16="http://schemas.microsoft.com/office/drawing/2014/main" id="{82DC134A-80FA-084F-BA33-9A9DE65AAD87}"/>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4" name="TextBox 63">
            <a:extLst>
              <a:ext uri="{FF2B5EF4-FFF2-40B4-BE49-F238E27FC236}">
                <a16:creationId xmlns:a16="http://schemas.microsoft.com/office/drawing/2014/main" id="{0E64FE62-5890-904C-9691-1CC1B1CAA5B4}"/>
              </a:ext>
            </a:extLst>
          </p:cNvPr>
          <p:cNvSpPr txBox="1"/>
          <p:nvPr/>
        </p:nvSpPr>
        <p:spPr>
          <a:xfrm>
            <a:off x="6723994" y="5758962"/>
            <a:ext cx="301686" cy="369332"/>
          </a:xfrm>
          <a:prstGeom prst="rect">
            <a:avLst/>
          </a:prstGeom>
          <a:noFill/>
        </p:spPr>
        <p:txBody>
          <a:bodyPr wrap="square" rtlCol="0">
            <a:spAutoFit/>
          </a:bodyPr>
          <a:lstStyle/>
          <a:p>
            <a:r>
              <a:rPr lang="en-US" dirty="0">
                <a:solidFill>
                  <a:srgbClr val="FF0000"/>
                </a:solidFill>
              </a:rPr>
              <a:t>2</a:t>
            </a:r>
          </a:p>
        </p:txBody>
      </p:sp>
      <p:sp>
        <p:nvSpPr>
          <p:cNvPr id="65" name="TextBox 64">
            <a:extLst>
              <a:ext uri="{FF2B5EF4-FFF2-40B4-BE49-F238E27FC236}">
                <a16:creationId xmlns:a16="http://schemas.microsoft.com/office/drawing/2014/main" id="{5CA465AF-21FD-004B-88C0-94FCD1599E22}"/>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6" name="TextBox 65">
            <a:extLst>
              <a:ext uri="{FF2B5EF4-FFF2-40B4-BE49-F238E27FC236}">
                <a16:creationId xmlns:a16="http://schemas.microsoft.com/office/drawing/2014/main" id="{3075322A-109D-EA4A-8FF2-6E419894AC25}"/>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7" name="TextBox 66">
            <a:extLst>
              <a:ext uri="{FF2B5EF4-FFF2-40B4-BE49-F238E27FC236}">
                <a16:creationId xmlns:a16="http://schemas.microsoft.com/office/drawing/2014/main" id="{096A62DF-40FB-B343-8CE1-2BA78F6AEDCA}"/>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8" name="TextBox 67">
            <a:extLst>
              <a:ext uri="{FF2B5EF4-FFF2-40B4-BE49-F238E27FC236}">
                <a16:creationId xmlns:a16="http://schemas.microsoft.com/office/drawing/2014/main" id="{0F87E5B1-BCA3-2C42-8D7E-6DA0BBCB1FED}"/>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69" name="TextBox 68">
            <a:extLst>
              <a:ext uri="{FF2B5EF4-FFF2-40B4-BE49-F238E27FC236}">
                <a16:creationId xmlns:a16="http://schemas.microsoft.com/office/drawing/2014/main" id="{9874F8A7-C905-864C-8B36-D7136A7B8832}"/>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0" name="TextBox 69">
            <a:extLst>
              <a:ext uri="{FF2B5EF4-FFF2-40B4-BE49-F238E27FC236}">
                <a16:creationId xmlns:a16="http://schemas.microsoft.com/office/drawing/2014/main" id="{EC0C6C00-B7E7-F246-A912-7BBFC3CEECA5}"/>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71" name="Right Arrow 70">
            <a:extLst>
              <a:ext uri="{FF2B5EF4-FFF2-40B4-BE49-F238E27FC236}">
                <a16:creationId xmlns:a16="http://schemas.microsoft.com/office/drawing/2014/main" id="{13008DFD-08E4-8542-83E9-8E40AED11A28}"/>
              </a:ext>
            </a:extLst>
          </p:cNvPr>
          <p:cNvSpPr/>
          <p:nvPr/>
        </p:nvSpPr>
        <p:spPr>
          <a:xfrm rot="18450625" flipV="1">
            <a:off x="6216215" y="6040646"/>
            <a:ext cx="583000"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DE3E552-562D-FB49-88D1-5444BE006B4C}"/>
              </a:ext>
            </a:extLst>
          </p:cNvPr>
          <p:cNvSpPr txBox="1"/>
          <p:nvPr/>
        </p:nvSpPr>
        <p:spPr>
          <a:xfrm>
            <a:off x="6613726" y="4995405"/>
            <a:ext cx="535724" cy="369332"/>
          </a:xfrm>
          <a:prstGeom prst="rect">
            <a:avLst/>
          </a:prstGeom>
          <a:noFill/>
        </p:spPr>
        <p:txBody>
          <a:bodyPr wrap="none" rtlCol="0">
            <a:spAutoFit/>
          </a:bodyPr>
          <a:lstStyle/>
          <a:p>
            <a:r>
              <a:rPr lang="en-US" dirty="0">
                <a:solidFill>
                  <a:srgbClr val="FF0000"/>
                </a:solidFill>
              </a:rPr>
              <a:t>137</a:t>
            </a:r>
          </a:p>
        </p:txBody>
      </p:sp>
    </p:spTree>
    <p:extLst>
      <p:ext uri="{BB962C8B-B14F-4D97-AF65-F5344CB8AC3E}">
        <p14:creationId xmlns:p14="http://schemas.microsoft.com/office/powerpoint/2010/main" val="23984393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 (syntax note)</a:t>
            </a:r>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4425324" cy="5221510"/>
          </a:xfrm>
        </p:spPr>
        <p:txBody>
          <a:bodyPr>
            <a:normAutofit fontScale="85000" lnSpcReduction="10000"/>
          </a:bodyPr>
          <a:lstStyle/>
          <a:p>
            <a:r>
              <a:rPr lang="en-US" dirty="0"/>
              <a:t>Syntax note: remember how in Karel when we defined a function we used the </a:t>
            </a:r>
            <a:r>
              <a:rPr lang="en-US" dirty="0">
                <a:solidFill>
                  <a:srgbClr val="FF0000"/>
                </a:solidFill>
              </a:rPr>
              <a:t>function</a:t>
            </a:r>
            <a:r>
              <a:rPr lang="en-US" dirty="0"/>
              <a:t> keyword, followed by the function's name:</a:t>
            </a:r>
            <a:br>
              <a:rPr lang="en-US" dirty="0"/>
            </a:br>
            <a:br>
              <a:rPr lang="en-US" dirty="0"/>
            </a:br>
            <a:r>
              <a:rPr lang="en-US" dirty="0">
                <a:solidFill>
                  <a:srgbClr val="FF0000"/>
                </a:solidFill>
              </a:rPr>
              <a:t>function</a:t>
            </a:r>
            <a:r>
              <a:rPr lang="en-US" dirty="0"/>
              <a:t> </a:t>
            </a:r>
            <a:r>
              <a:rPr lang="en-US" dirty="0" err="1"/>
              <a:t>safeMove</a:t>
            </a:r>
            <a:r>
              <a:rPr lang="en-US" dirty="0"/>
              <a:t>() {</a:t>
            </a:r>
            <a:br>
              <a:rPr lang="en-US" dirty="0"/>
            </a:br>
            <a:r>
              <a:rPr lang="en-US" dirty="0"/>
              <a:t>	if(</a:t>
            </a:r>
            <a:r>
              <a:rPr lang="en-US" dirty="0" err="1"/>
              <a:t>frontIsClear</a:t>
            </a:r>
            <a:r>
              <a:rPr lang="en-US" dirty="0"/>
              <a:t>()){</a:t>
            </a:r>
            <a:br>
              <a:rPr lang="en-US" dirty="0"/>
            </a:br>
            <a:r>
              <a:rPr lang="en-US" dirty="0"/>
              <a:t>	     move();</a:t>
            </a:r>
            <a:br>
              <a:rPr lang="en-US" dirty="0"/>
            </a:br>
            <a:r>
              <a:rPr lang="en-US" dirty="0"/>
              <a:t>	}</a:t>
            </a:r>
            <a:br>
              <a:rPr lang="en-US" dirty="0"/>
            </a:br>
            <a:r>
              <a:rPr lang="en-US" dirty="0"/>
              <a:t>}</a:t>
            </a:r>
            <a:br>
              <a:rPr lang="en-US" dirty="0"/>
            </a:br>
            <a:endParaRPr lang="en-US" dirty="0"/>
          </a:p>
          <a:p>
            <a:r>
              <a:rPr lang="en-US" dirty="0"/>
              <a:t>But when we used the function we just used its name: </a:t>
            </a:r>
            <a:br>
              <a:rPr lang="en-US" dirty="0"/>
            </a:br>
            <a:r>
              <a:rPr lang="en-US" dirty="0"/>
              <a:t>	function main(){</a:t>
            </a:r>
            <a:br>
              <a:rPr lang="en-US" dirty="0"/>
            </a:br>
            <a:r>
              <a:rPr lang="en-US" dirty="0"/>
              <a:t>	      </a:t>
            </a:r>
            <a:r>
              <a:rPr lang="en-US" dirty="0" err="1">
                <a:solidFill>
                  <a:srgbClr val="FF0000"/>
                </a:solidFill>
              </a:rPr>
              <a:t>safeMove</a:t>
            </a:r>
            <a:r>
              <a:rPr lang="en-US" dirty="0"/>
              <a:t>();</a:t>
            </a:r>
            <a:br>
              <a:rPr lang="en-US" dirty="0"/>
            </a:br>
            <a:r>
              <a:rPr lang="en-US" dirty="0"/>
              <a:t>          }</a:t>
            </a:r>
          </a:p>
        </p:txBody>
      </p:sp>
      <p:pic>
        <p:nvPicPr>
          <p:cNvPr id="3" name="Picture 2">
            <a:extLst>
              <a:ext uri="{FF2B5EF4-FFF2-40B4-BE49-F238E27FC236}">
                <a16:creationId xmlns:a16="http://schemas.microsoft.com/office/drawing/2014/main" id="{DC8259F4-5AED-D740-AE5A-0A7A1BF24A31}"/>
              </a:ext>
            </a:extLst>
          </p:cNvPr>
          <p:cNvPicPr>
            <a:picLocks noChangeAspect="1"/>
          </p:cNvPicPr>
          <p:nvPr/>
        </p:nvPicPr>
        <p:blipFill>
          <a:blip r:embed="rId2"/>
          <a:stretch>
            <a:fillRect/>
          </a:stretch>
        </p:blipFill>
        <p:spPr>
          <a:xfrm>
            <a:off x="4997954" y="1228077"/>
            <a:ext cx="6667500" cy="2413000"/>
          </a:xfrm>
          <a:prstGeom prst="rect">
            <a:avLst/>
          </a:prstGeom>
        </p:spPr>
      </p:pic>
      <p:sp>
        <p:nvSpPr>
          <p:cNvPr id="5" name="Frame 4">
            <a:extLst>
              <a:ext uri="{FF2B5EF4-FFF2-40B4-BE49-F238E27FC236}">
                <a16:creationId xmlns:a16="http://schemas.microsoft.com/office/drawing/2014/main" id="{6FA745CE-3F90-E442-AE8B-97AB8BB2062D}"/>
              </a:ext>
            </a:extLst>
          </p:cNvPr>
          <p:cNvSpPr/>
          <p:nvPr/>
        </p:nvSpPr>
        <p:spPr>
          <a:xfrm>
            <a:off x="5643972" y="2275550"/>
            <a:ext cx="2529693" cy="31805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Frame 40">
            <a:extLst>
              <a:ext uri="{FF2B5EF4-FFF2-40B4-BE49-F238E27FC236}">
                <a16:creationId xmlns:a16="http://schemas.microsoft.com/office/drawing/2014/main" id="{2A16D8B7-F90E-F34C-9B58-F90E21D521DC}"/>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Frame 41">
            <a:extLst>
              <a:ext uri="{FF2B5EF4-FFF2-40B4-BE49-F238E27FC236}">
                <a16:creationId xmlns:a16="http://schemas.microsoft.com/office/drawing/2014/main" id="{E3E12EF2-CDD0-A745-93F4-E62BA1EFB22E}"/>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ame 42">
            <a:extLst>
              <a:ext uri="{FF2B5EF4-FFF2-40B4-BE49-F238E27FC236}">
                <a16:creationId xmlns:a16="http://schemas.microsoft.com/office/drawing/2014/main" id="{06FCE978-CAA5-C245-B168-3FA6C362A168}"/>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69B2A7CC-D85A-D946-9DD1-D3A5BBAA6EE1}"/>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C526EB70-E934-4947-B5FF-CA29A86E4B86}"/>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F5EB4B8B-46A9-AE40-A3B1-CB5EC80B57DF}"/>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BAE03EB0-9E24-0749-B357-FFEA3B78DDD8}"/>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7633D81D-CEB3-954A-B118-499F32E72399}"/>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Rectangle 48">
            <a:extLst>
              <a:ext uri="{FF2B5EF4-FFF2-40B4-BE49-F238E27FC236}">
                <a16:creationId xmlns:a16="http://schemas.microsoft.com/office/drawing/2014/main" id="{7A4FCF02-1BE7-EF42-8F4C-D3444811B097}"/>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DA98E8F-5BE9-354A-B0BE-5DA1DEE5F8FF}"/>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2" name="Rectangle 51">
            <a:extLst>
              <a:ext uri="{FF2B5EF4-FFF2-40B4-BE49-F238E27FC236}">
                <a16:creationId xmlns:a16="http://schemas.microsoft.com/office/drawing/2014/main" id="{ABA7CE8F-5377-D245-AAAF-37467F19C68A}"/>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12CB6BB-6270-FD45-9926-C84F2C917AEA}"/>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a:extLst>
              <a:ext uri="{FF2B5EF4-FFF2-40B4-BE49-F238E27FC236}">
                <a16:creationId xmlns:a16="http://schemas.microsoft.com/office/drawing/2014/main" id="{A0EC07ED-027E-AE4F-A708-A6F3B8B0A5F2}"/>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11522CA-E3D7-0249-B1FE-01D56ECBD3DE}"/>
              </a:ext>
            </a:extLst>
          </p:cNvPr>
          <p:cNvSpPr txBox="1"/>
          <p:nvPr/>
        </p:nvSpPr>
        <p:spPr>
          <a:xfrm>
            <a:off x="5116359" y="4999512"/>
            <a:ext cx="418704" cy="369332"/>
          </a:xfrm>
          <a:prstGeom prst="rect">
            <a:avLst/>
          </a:prstGeom>
          <a:noFill/>
        </p:spPr>
        <p:txBody>
          <a:bodyPr wrap="none" rtlCol="0">
            <a:spAutoFit/>
          </a:bodyPr>
          <a:lstStyle/>
          <a:p>
            <a:r>
              <a:rPr lang="en-US" dirty="0"/>
              <a:t>23</a:t>
            </a:r>
          </a:p>
        </p:txBody>
      </p:sp>
      <p:sp>
        <p:nvSpPr>
          <p:cNvPr id="56" name="TextBox 55">
            <a:extLst>
              <a:ext uri="{FF2B5EF4-FFF2-40B4-BE49-F238E27FC236}">
                <a16:creationId xmlns:a16="http://schemas.microsoft.com/office/drawing/2014/main" id="{715B2414-82EF-2744-A4A8-4C3D32D39E34}"/>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9" name="TextBox 58">
            <a:extLst>
              <a:ext uri="{FF2B5EF4-FFF2-40B4-BE49-F238E27FC236}">
                <a16:creationId xmlns:a16="http://schemas.microsoft.com/office/drawing/2014/main" id="{5ED5717B-645A-624E-A68A-73A4C992B69A}"/>
              </a:ext>
            </a:extLst>
          </p:cNvPr>
          <p:cNvSpPr txBox="1"/>
          <p:nvPr/>
        </p:nvSpPr>
        <p:spPr>
          <a:xfrm>
            <a:off x="8144784" y="5055168"/>
            <a:ext cx="445956" cy="276999"/>
          </a:xfrm>
          <a:prstGeom prst="rect">
            <a:avLst/>
          </a:prstGeom>
          <a:noFill/>
        </p:spPr>
        <p:txBody>
          <a:bodyPr wrap="none" rtlCol="0">
            <a:spAutoFit/>
          </a:bodyPr>
          <a:lstStyle/>
          <a:p>
            <a:r>
              <a:rPr lang="en-US" sz="1200" dirty="0"/>
              <a:t>true</a:t>
            </a:r>
          </a:p>
        </p:txBody>
      </p:sp>
      <p:sp>
        <p:nvSpPr>
          <p:cNvPr id="60" name="TextBox 59">
            <a:extLst>
              <a:ext uri="{FF2B5EF4-FFF2-40B4-BE49-F238E27FC236}">
                <a16:creationId xmlns:a16="http://schemas.microsoft.com/office/drawing/2014/main" id="{A747AA37-2FE8-8348-A1BA-F507F5191CED}"/>
              </a:ext>
            </a:extLst>
          </p:cNvPr>
          <p:cNvSpPr txBox="1"/>
          <p:nvPr/>
        </p:nvSpPr>
        <p:spPr>
          <a:xfrm>
            <a:off x="8743546" y="5058316"/>
            <a:ext cx="475002" cy="276999"/>
          </a:xfrm>
          <a:prstGeom prst="rect">
            <a:avLst/>
          </a:prstGeom>
          <a:noFill/>
        </p:spPr>
        <p:txBody>
          <a:bodyPr wrap="none" rtlCol="0">
            <a:spAutoFit/>
          </a:bodyPr>
          <a:lstStyle/>
          <a:p>
            <a:r>
              <a:rPr lang="en-US" sz="1200" dirty="0"/>
              <a:t>false</a:t>
            </a:r>
          </a:p>
        </p:txBody>
      </p:sp>
      <p:sp>
        <p:nvSpPr>
          <p:cNvPr id="61" name="TextBox 60">
            <a:extLst>
              <a:ext uri="{FF2B5EF4-FFF2-40B4-BE49-F238E27FC236}">
                <a16:creationId xmlns:a16="http://schemas.microsoft.com/office/drawing/2014/main" id="{40D9B277-6A17-FB46-8212-BC48E5BEEC7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2" name="TextBox 61">
            <a:extLst>
              <a:ext uri="{FF2B5EF4-FFF2-40B4-BE49-F238E27FC236}">
                <a16:creationId xmlns:a16="http://schemas.microsoft.com/office/drawing/2014/main" id="{7D31C9A4-8A48-514A-BB19-782C0C12DC4E}"/>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3" name="TextBox 62">
            <a:extLst>
              <a:ext uri="{FF2B5EF4-FFF2-40B4-BE49-F238E27FC236}">
                <a16:creationId xmlns:a16="http://schemas.microsoft.com/office/drawing/2014/main" id="{82DC134A-80FA-084F-BA33-9A9DE65AAD87}"/>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4" name="TextBox 63">
            <a:extLst>
              <a:ext uri="{FF2B5EF4-FFF2-40B4-BE49-F238E27FC236}">
                <a16:creationId xmlns:a16="http://schemas.microsoft.com/office/drawing/2014/main" id="{0E64FE62-5890-904C-9691-1CC1B1CAA5B4}"/>
              </a:ext>
            </a:extLst>
          </p:cNvPr>
          <p:cNvSpPr txBox="1"/>
          <p:nvPr/>
        </p:nvSpPr>
        <p:spPr>
          <a:xfrm>
            <a:off x="6723994" y="5758962"/>
            <a:ext cx="301686" cy="369332"/>
          </a:xfrm>
          <a:prstGeom prst="rect">
            <a:avLst/>
          </a:prstGeom>
          <a:noFill/>
        </p:spPr>
        <p:txBody>
          <a:bodyPr wrap="square" rtlCol="0">
            <a:spAutoFit/>
          </a:bodyPr>
          <a:lstStyle/>
          <a:p>
            <a:r>
              <a:rPr lang="en-US" dirty="0">
                <a:solidFill>
                  <a:srgbClr val="FF0000"/>
                </a:solidFill>
              </a:rPr>
              <a:t>2</a:t>
            </a:r>
          </a:p>
        </p:txBody>
      </p:sp>
      <p:sp>
        <p:nvSpPr>
          <p:cNvPr id="65" name="TextBox 64">
            <a:extLst>
              <a:ext uri="{FF2B5EF4-FFF2-40B4-BE49-F238E27FC236}">
                <a16:creationId xmlns:a16="http://schemas.microsoft.com/office/drawing/2014/main" id="{5CA465AF-21FD-004B-88C0-94FCD1599E22}"/>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6" name="TextBox 65">
            <a:extLst>
              <a:ext uri="{FF2B5EF4-FFF2-40B4-BE49-F238E27FC236}">
                <a16:creationId xmlns:a16="http://schemas.microsoft.com/office/drawing/2014/main" id="{3075322A-109D-EA4A-8FF2-6E419894AC25}"/>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7" name="TextBox 66">
            <a:extLst>
              <a:ext uri="{FF2B5EF4-FFF2-40B4-BE49-F238E27FC236}">
                <a16:creationId xmlns:a16="http://schemas.microsoft.com/office/drawing/2014/main" id="{096A62DF-40FB-B343-8CE1-2BA78F6AEDCA}"/>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8" name="TextBox 67">
            <a:extLst>
              <a:ext uri="{FF2B5EF4-FFF2-40B4-BE49-F238E27FC236}">
                <a16:creationId xmlns:a16="http://schemas.microsoft.com/office/drawing/2014/main" id="{0F87E5B1-BCA3-2C42-8D7E-6DA0BBCB1FED}"/>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69" name="TextBox 68">
            <a:extLst>
              <a:ext uri="{FF2B5EF4-FFF2-40B4-BE49-F238E27FC236}">
                <a16:creationId xmlns:a16="http://schemas.microsoft.com/office/drawing/2014/main" id="{9874F8A7-C905-864C-8B36-D7136A7B8832}"/>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0" name="TextBox 69">
            <a:extLst>
              <a:ext uri="{FF2B5EF4-FFF2-40B4-BE49-F238E27FC236}">
                <a16:creationId xmlns:a16="http://schemas.microsoft.com/office/drawing/2014/main" id="{EC0C6C00-B7E7-F246-A912-7BBFC3CEECA5}"/>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71" name="Right Arrow 70">
            <a:extLst>
              <a:ext uri="{FF2B5EF4-FFF2-40B4-BE49-F238E27FC236}">
                <a16:creationId xmlns:a16="http://schemas.microsoft.com/office/drawing/2014/main" id="{13008DFD-08E4-8542-83E9-8E40AED11A28}"/>
              </a:ext>
            </a:extLst>
          </p:cNvPr>
          <p:cNvSpPr/>
          <p:nvPr/>
        </p:nvSpPr>
        <p:spPr>
          <a:xfrm rot="18450625" flipV="1">
            <a:off x="6216215" y="6040646"/>
            <a:ext cx="583000"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DE3E552-562D-FB49-88D1-5444BE006B4C}"/>
              </a:ext>
            </a:extLst>
          </p:cNvPr>
          <p:cNvSpPr txBox="1"/>
          <p:nvPr/>
        </p:nvSpPr>
        <p:spPr>
          <a:xfrm>
            <a:off x="6613726" y="4995405"/>
            <a:ext cx="535724" cy="369332"/>
          </a:xfrm>
          <a:prstGeom prst="rect">
            <a:avLst/>
          </a:prstGeom>
          <a:noFill/>
        </p:spPr>
        <p:txBody>
          <a:bodyPr wrap="none" rtlCol="0">
            <a:spAutoFit/>
          </a:bodyPr>
          <a:lstStyle/>
          <a:p>
            <a:r>
              <a:rPr lang="en-US" dirty="0">
                <a:solidFill>
                  <a:srgbClr val="FF0000"/>
                </a:solidFill>
              </a:rPr>
              <a:t>137</a:t>
            </a:r>
          </a:p>
        </p:txBody>
      </p:sp>
      <p:sp>
        <p:nvSpPr>
          <p:cNvPr id="38" name="Right Arrow 37">
            <a:extLst>
              <a:ext uri="{FF2B5EF4-FFF2-40B4-BE49-F238E27FC236}">
                <a16:creationId xmlns:a16="http://schemas.microsoft.com/office/drawing/2014/main" id="{E8F25658-F330-6849-BCA7-6BDB6F21E105}"/>
              </a:ext>
            </a:extLst>
          </p:cNvPr>
          <p:cNvSpPr/>
          <p:nvPr/>
        </p:nvSpPr>
        <p:spPr>
          <a:xfrm rot="15516859" flipV="1">
            <a:off x="7182877" y="3260892"/>
            <a:ext cx="1345050" cy="558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06437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 (syntax note)</a:t>
            </a:r>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4425324" cy="5221510"/>
          </a:xfrm>
        </p:spPr>
        <p:txBody>
          <a:bodyPr>
            <a:normAutofit fontScale="92500" lnSpcReduction="20000"/>
          </a:bodyPr>
          <a:lstStyle/>
          <a:p>
            <a:r>
              <a:rPr lang="en-US" dirty="0"/>
              <a:t>Syntax note:</a:t>
            </a:r>
            <a:br>
              <a:rPr lang="en-US" dirty="0"/>
            </a:br>
            <a:endParaRPr lang="en-US" dirty="0"/>
          </a:p>
          <a:p>
            <a:r>
              <a:rPr lang="en-US" dirty="0"/>
              <a:t>C++ works the same:</a:t>
            </a:r>
            <a:br>
              <a:rPr lang="en-US" dirty="0"/>
            </a:br>
            <a:br>
              <a:rPr lang="en-US" dirty="0"/>
            </a:br>
            <a:r>
              <a:rPr lang="en-US" dirty="0"/>
              <a:t>When you </a:t>
            </a:r>
            <a:r>
              <a:rPr lang="en-US" i="1" dirty="0"/>
              <a:t>define</a:t>
            </a:r>
            <a:r>
              <a:rPr lang="en-US" dirty="0"/>
              <a:t> a variable, you use the </a:t>
            </a:r>
            <a:r>
              <a:rPr lang="en-US" i="1" dirty="0"/>
              <a:t>type </a:t>
            </a:r>
            <a:r>
              <a:rPr lang="en-US" dirty="0"/>
              <a:t>of the variable, followed by the variable's name</a:t>
            </a:r>
          </a:p>
          <a:p>
            <a:r>
              <a:rPr lang="en-US" dirty="0"/>
              <a:t>(this tells the compiler how much space in memory it needs to set aside for the variable)</a:t>
            </a:r>
            <a:br>
              <a:rPr lang="en-US" dirty="0"/>
            </a:br>
            <a:endParaRPr lang="en-US" dirty="0"/>
          </a:p>
          <a:p>
            <a:r>
              <a:rPr lang="en-US" dirty="0"/>
              <a:t>In this case, the type is </a:t>
            </a:r>
            <a:r>
              <a:rPr lang="en-US" dirty="0" err="1">
                <a:solidFill>
                  <a:srgbClr val="FF0000"/>
                </a:solidFill>
              </a:rPr>
              <a:t>int</a:t>
            </a:r>
            <a:br>
              <a:rPr lang="en-US" dirty="0"/>
            </a:br>
            <a:endParaRPr lang="en-US" dirty="0"/>
          </a:p>
        </p:txBody>
      </p:sp>
      <p:pic>
        <p:nvPicPr>
          <p:cNvPr id="3" name="Picture 2">
            <a:extLst>
              <a:ext uri="{FF2B5EF4-FFF2-40B4-BE49-F238E27FC236}">
                <a16:creationId xmlns:a16="http://schemas.microsoft.com/office/drawing/2014/main" id="{DC8259F4-5AED-D740-AE5A-0A7A1BF24A31}"/>
              </a:ext>
            </a:extLst>
          </p:cNvPr>
          <p:cNvPicPr>
            <a:picLocks noChangeAspect="1"/>
          </p:cNvPicPr>
          <p:nvPr/>
        </p:nvPicPr>
        <p:blipFill>
          <a:blip r:embed="rId2"/>
          <a:stretch>
            <a:fillRect/>
          </a:stretch>
        </p:blipFill>
        <p:spPr>
          <a:xfrm>
            <a:off x="4997954" y="1228077"/>
            <a:ext cx="6667500" cy="2413000"/>
          </a:xfrm>
          <a:prstGeom prst="rect">
            <a:avLst/>
          </a:prstGeom>
        </p:spPr>
      </p:pic>
      <p:sp>
        <p:nvSpPr>
          <p:cNvPr id="5" name="Frame 4">
            <a:extLst>
              <a:ext uri="{FF2B5EF4-FFF2-40B4-BE49-F238E27FC236}">
                <a16:creationId xmlns:a16="http://schemas.microsoft.com/office/drawing/2014/main" id="{6FA745CE-3F90-E442-AE8B-97AB8BB2062D}"/>
              </a:ext>
            </a:extLst>
          </p:cNvPr>
          <p:cNvSpPr/>
          <p:nvPr/>
        </p:nvSpPr>
        <p:spPr>
          <a:xfrm>
            <a:off x="5643973" y="2275550"/>
            <a:ext cx="1622820" cy="31805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Frame 40">
            <a:extLst>
              <a:ext uri="{FF2B5EF4-FFF2-40B4-BE49-F238E27FC236}">
                <a16:creationId xmlns:a16="http://schemas.microsoft.com/office/drawing/2014/main" id="{2A16D8B7-F90E-F34C-9B58-F90E21D521DC}"/>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Frame 41">
            <a:extLst>
              <a:ext uri="{FF2B5EF4-FFF2-40B4-BE49-F238E27FC236}">
                <a16:creationId xmlns:a16="http://schemas.microsoft.com/office/drawing/2014/main" id="{E3E12EF2-CDD0-A745-93F4-E62BA1EFB22E}"/>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ame 42">
            <a:extLst>
              <a:ext uri="{FF2B5EF4-FFF2-40B4-BE49-F238E27FC236}">
                <a16:creationId xmlns:a16="http://schemas.microsoft.com/office/drawing/2014/main" id="{06FCE978-CAA5-C245-B168-3FA6C362A168}"/>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69B2A7CC-D85A-D946-9DD1-D3A5BBAA6EE1}"/>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C526EB70-E934-4947-B5FF-CA29A86E4B86}"/>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F5EB4B8B-46A9-AE40-A3B1-CB5EC80B57DF}"/>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BAE03EB0-9E24-0749-B357-FFEA3B78DDD8}"/>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7633D81D-CEB3-954A-B118-499F32E72399}"/>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Rectangle 48">
            <a:extLst>
              <a:ext uri="{FF2B5EF4-FFF2-40B4-BE49-F238E27FC236}">
                <a16:creationId xmlns:a16="http://schemas.microsoft.com/office/drawing/2014/main" id="{7A4FCF02-1BE7-EF42-8F4C-D3444811B097}"/>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DA98E8F-5BE9-354A-B0BE-5DA1DEE5F8FF}"/>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2" name="Rectangle 51">
            <a:extLst>
              <a:ext uri="{FF2B5EF4-FFF2-40B4-BE49-F238E27FC236}">
                <a16:creationId xmlns:a16="http://schemas.microsoft.com/office/drawing/2014/main" id="{ABA7CE8F-5377-D245-AAAF-37467F19C68A}"/>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12CB6BB-6270-FD45-9926-C84F2C917AEA}"/>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a:extLst>
              <a:ext uri="{FF2B5EF4-FFF2-40B4-BE49-F238E27FC236}">
                <a16:creationId xmlns:a16="http://schemas.microsoft.com/office/drawing/2014/main" id="{A0EC07ED-027E-AE4F-A708-A6F3B8B0A5F2}"/>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11522CA-E3D7-0249-B1FE-01D56ECBD3DE}"/>
              </a:ext>
            </a:extLst>
          </p:cNvPr>
          <p:cNvSpPr txBox="1"/>
          <p:nvPr/>
        </p:nvSpPr>
        <p:spPr>
          <a:xfrm>
            <a:off x="5116359" y="4999512"/>
            <a:ext cx="418704" cy="369332"/>
          </a:xfrm>
          <a:prstGeom prst="rect">
            <a:avLst/>
          </a:prstGeom>
          <a:noFill/>
        </p:spPr>
        <p:txBody>
          <a:bodyPr wrap="none" rtlCol="0">
            <a:spAutoFit/>
          </a:bodyPr>
          <a:lstStyle/>
          <a:p>
            <a:r>
              <a:rPr lang="en-US" dirty="0"/>
              <a:t>23</a:t>
            </a:r>
          </a:p>
        </p:txBody>
      </p:sp>
      <p:sp>
        <p:nvSpPr>
          <p:cNvPr id="56" name="TextBox 55">
            <a:extLst>
              <a:ext uri="{FF2B5EF4-FFF2-40B4-BE49-F238E27FC236}">
                <a16:creationId xmlns:a16="http://schemas.microsoft.com/office/drawing/2014/main" id="{715B2414-82EF-2744-A4A8-4C3D32D39E34}"/>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9" name="TextBox 58">
            <a:extLst>
              <a:ext uri="{FF2B5EF4-FFF2-40B4-BE49-F238E27FC236}">
                <a16:creationId xmlns:a16="http://schemas.microsoft.com/office/drawing/2014/main" id="{5ED5717B-645A-624E-A68A-73A4C992B69A}"/>
              </a:ext>
            </a:extLst>
          </p:cNvPr>
          <p:cNvSpPr txBox="1"/>
          <p:nvPr/>
        </p:nvSpPr>
        <p:spPr>
          <a:xfrm>
            <a:off x="8144784" y="5055168"/>
            <a:ext cx="445956" cy="276999"/>
          </a:xfrm>
          <a:prstGeom prst="rect">
            <a:avLst/>
          </a:prstGeom>
          <a:noFill/>
        </p:spPr>
        <p:txBody>
          <a:bodyPr wrap="none" rtlCol="0">
            <a:spAutoFit/>
          </a:bodyPr>
          <a:lstStyle/>
          <a:p>
            <a:r>
              <a:rPr lang="en-US" sz="1200" dirty="0"/>
              <a:t>true</a:t>
            </a:r>
          </a:p>
        </p:txBody>
      </p:sp>
      <p:sp>
        <p:nvSpPr>
          <p:cNvPr id="60" name="TextBox 59">
            <a:extLst>
              <a:ext uri="{FF2B5EF4-FFF2-40B4-BE49-F238E27FC236}">
                <a16:creationId xmlns:a16="http://schemas.microsoft.com/office/drawing/2014/main" id="{A747AA37-2FE8-8348-A1BA-F507F5191CED}"/>
              </a:ext>
            </a:extLst>
          </p:cNvPr>
          <p:cNvSpPr txBox="1"/>
          <p:nvPr/>
        </p:nvSpPr>
        <p:spPr>
          <a:xfrm>
            <a:off x="8743546" y="5058316"/>
            <a:ext cx="475002" cy="276999"/>
          </a:xfrm>
          <a:prstGeom prst="rect">
            <a:avLst/>
          </a:prstGeom>
          <a:noFill/>
        </p:spPr>
        <p:txBody>
          <a:bodyPr wrap="none" rtlCol="0">
            <a:spAutoFit/>
          </a:bodyPr>
          <a:lstStyle/>
          <a:p>
            <a:r>
              <a:rPr lang="en-US" sz="1200" dirty="0"/>
              <a:t>false</a:t>
            </a:r>
          </a:p>
        </p:txBody>
      </p:sp>
      <p:sp>
        <p:nvSpPr>
          <p:cNvPr id="61" name="TextBox 60">
            <a:extLst>
              <a:ext uri="{FF2B5EF4-FFF2-40B4-BE49-F238E27FC236}">
                <a16:creationId xmlns:a16="http://schemas.microsoft.com/office/drawing/2014/main" id="{40D9B277-6A17-FB46-8212-BC48E5BEEC7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2" name="TextBox 61">
            <a:extLst>
              <a:ext uri="{FF2B5EF4-FFF2-40B4-BE49-F238E27FC236}">
                <a16:creationId xmlns:a16="http://schemas.microsoft.com/office/drawing/2014/main" id="{7D31C9A4-8A48-514A-BB19-782C0C12DC4E}"/>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3" name="TextBox 62">
            <a:extLst>
              <a:ext uri="{FF2B5EF4-FFF2-40B4-BE49-F238E27FC236}">
                <a16:creationId xmlns:a16="http://schemas.microsoft.com/office/drawing/2014/main" id="{82DC134A-80FA-084F-BA33-9A9DE65AAD87}"/>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4" name="TextBox 63">
            <a:extLst>
              <a:ext uri="{FF2B5EF4-FFF2-40B4-BE49-F238E27FC236}">
                <a16:creationId xmlns:a16="http://schemas.microsoft.com/office/drawing/2014/main" id="{0E64FE62-5890-904C-9691-1CC1B1CAA5B4}"/>
              </a:ext>
            </a:extLst>
          </p:cNvPr>
          <p:cNvSpPr txBox="1"/>
          <p:nvPr/>
        </p:nvSpPr>
        <p:spPr>
          <a:xfrm>
            <a:off x="6723994" y="5758962"/>
            <a:ext cx="301686" cy="369332"/>
          </a:xfrm>
          <a:prstGeom prst="rect">
            <a:avLst/>
          </a:prstGeom>
          <a:noFill/>
        </p:spPr>
        <p:txBody>
          <a:bodyPr wrap="square" rtlCol="0">
            <a:spAutoFit/>
          </a:bodyPr>
          <a:lstStyle/>
          <a:p>
            <a:r>
              <a:rPr lang="en-US" dirty="0">
                <a:solidFill>
                  <a:srgbClr val="FF0000"/>
                </a:solidFill>
              </a:rPr>
              <a:t>2</a:t>
            </a:r>
          </a:p>
        </p:txBody>
      </p:sp>
      <p:sp>
        <p:nvSpPr>
          <p:cNvPr id="65" name="TextBox 64">
            <a:extLst>
              <a:ext uri="{FF2B5EF4-FFF2-40B4-BE49-F238E27FC236}">
                <a16:creationId xmlns:a16="http://schemas.microsoft.com/office/drawing/2014/main" id="{5CA465AF-21FD-004B-88C0-94FCD1599E22}"/>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6" name="TextBox 65">
            <a:extLst>
              <a:ext uri="{FF2B5EF4-FFF2-40B4-BE49-F238E27FC236}">
                <a16:creationId xmlns:a16="http://schemas.microsoft.com/office/drawing/2014/main" id="{3075322A-109D-EA4A-8FF2-6E419894AC25}"/>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7" name="TextBox 66">
            <a:extLst>
              <a:ext uri="{FF2B5EF4-FFF2-40B4-BE49-F238E27FC236}">
                <a16:creationId xmlns:a16="http://schemas.microsoft.com/office/drawing/2014/main" id="{096A62DF-40FB-B343-8CE1-2BA78F6AEDCA}"/>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8" name="TextBox 67">
            <a:extLst>
              <a:ext uri="{FF2B5EF4-FFF2-40B4-BE49-F238E27FC236}">
                <a16:creationId xmlns:a16="http://schemas.microsoft.com/office/drawing/2014/main" id="{0F87E5B1-BCA3-2C42-8D7E-6DA0BBCB1FED}"/>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69" name="TextBox 68">
            <a:extLst>
              <a:ext uri="{FF2B5EF4-FFF2-40B4-BE49-F238E27FC236}">
                <a16:creationId xmlns:a16="http://schemas.microsoft.com/office/drawing/2014/main" id="{9874F8A7-C905-864C-8B36-D7136A7B8832}"/>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0" name="TextBox 69">
            <a:extLst>
              <a:ext uri="{FF2B5EF4-FFF2-40B4-BE49-F238E27FC236}">
                <a16:creationId xmlns:a16="http://schemas.microsoft.com/office/drawing/2014/main" id="{EC0C6C00-B7E7-F246-A912-7BBFC3CEECA5}"/>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71" name="Right Arrow 70">
            <a:extLst>
              <a:ext uri="{FF2B5EF4-FFF2-40B4-BE49-F238E27FC236}">
                <a16:creationId xmlns:a16="http://schemas.microsoft.com/office/drawing/2014/main" id="{13008DFD-08E4-8542-83E9-8E40AED11A28}"/>
              </a:ext>
            </a:extLst>
          </p:cNvPr>
          <p:cNvSpPr/>
          <p:nvPr/>
        </p:nvSpPr>
        <p:spPr>
          <a:xfrm rot="18450625" flipV="1">
            <a:off x="6216215" y="6040646"/>
            <a:ext cx="583000"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DE3E552-562D-FB49-88D1-5444BE006B4C}"/>
              </a:ext>
            </a:extLst>
          </p:cNvPr>
          <p:cNvSpPr txBox="1"/>
          <p:nvPr/>
        </p:nvSpPr>
        <p:spPr>
          <a:xfrm>
            <a:off x="6613726" y="4995405"/>
            <a:ext cx="535724" cy="369332"/>
          </a:xfrm>
          <a:prstGeom prst="rect">
            <a:avLst/>
          </a:prstGeom>
          <a:noFill/>
        </p:spPr>
        <p:txBody>
          <a:bodyPr wrap="none" rtlCol="0">
            <a:spAutoFit/>
          </a:bodyPr>
          <a:lstStyle/>
          <a:p>
            <a:r>
              <a:rPr lang="en-US" dirty="0">
                <a:solidFill>
                  <a:srgbClr val="FF0000"/>
                </a:solidFill>
              </a:rPr>
              <a:t>137</a:t>
            </a:r>
          </a:p>
        </p:txBody>
      </p:sp>
      <p:sp>
        <p:nvSpPr>
          <p:cNvPr id="38" name="Right Arrow 37">
            <a:extLst>
              <a:ext uri="{FF2B5EF4-FFF2-40B4-BE49-F238E27FC236}">
                <a16:creationId xmlns:a16="http://schemas.microsoft.com/office/drawing/2014/main" id="{E8F25658-F330-6849-BCA7-6BDB6F21E105}"/>
              </a:ext>
            </a:extLst>
          </p:cNvPr>
          <p:cNvSpPr/>
          <p:nvPr/>
        </p:nvSpPr>
        <p:spPr>
          <a:xfrm rot="15516859" flipV="1">
            <a:off x="5378020" y="3249742"/>
            <a:ext cx="1345050" cy="558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93431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 (syntax note)</a:t>
            </a:r>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4425324" cy="5221510"/>
          </a:xfrm>
        </p:spPr>
        <p:txBody>
          <a:bodyPr>
            <a:normAutofit/>
          </a:bodyPr>
          <a:lstStyle/>
          <a:p>
            <a:r>
              <a:rPr lang="en-US" dirty="0"/>
              <a:t>Syntax note:</a:t>
            </a:r>
            <a:br>
              <a:rPr lang="en-US" dirty="0"/>
            </a:br>
            <a:endParaRPr lang="en-US" dirty="0"/>
          </a:p>
          <a:p>
            <a:r>
              <a:rPr lang="en-US" dirty="0"/>
              <a:t>But when you </a:t>
            </a:r>
            <a:r>
              <a:rPr lang="en-US" i="1" dirty="0"/>
              <a:t>use </a:t>
            </a:r>
            <a:r>
              <a:rPr lang="en-US" dirty="0"/>
              <a:t>the variable, you just give its name.</a:t>
            </a:r>
            <a:br>
              <a:rPr lang="en-US" dirty="0"/>
            </a:br>
            <a:endParaRPr lang="en-US" dirty="0"/>
          </a:p>
          <a:p>
            <a:r>
              <a:rPr lang="en-US" dirty="0"/>
              <a:t>Using a variable means "go fetch the thing that's in the box you've set aside for this name." </a:t>
            </a:r>
            <a:br>
              <a:rPr lang="en-US" dirty="0"/>
            </a:br>
            <a:endParaRPr lang="en-US" dirty="0"/>
          </a:p>
        </p:txBody>
      </p:sp>
      <p:pic>
        <p:nvPicPr>
          <p:cNvPr id="3" name="Picture 2">
            <a:extLst>
              <a:ext uri="{FF2B5EF4-FFF2-40B4-BE49-F238E27FC236}">
                <a16:creationId xmlns:a16="http://schemas.microsoft.com/office/drawing/2014/main" id="{DC8259F4-5AED-D740-AE5A-0A7A1BF24A31}"/>
              </a:ext>
            </a:extLst>
          </p:cNvPr>
          <p:cNvPicPr>
            <a:picLocks noChangeAspect="1"/>
          </p:cNvPicPr>
          <p:nvPr/>
        </p:nvPicPr>
        <p:blipFill>
          <a:blip r:embed="rId2"/>
          <a:stretch>
            <a:fillRect/>
          </a:stretch>
        </p:blipFill>
        <p:spPr>
          <a:xfrm>
            <a:off x="4997954" y="1228077"/>
            <a:ext cx="6667500" cy="2413000"/>
          </a:xfrm>
          <a:prstGeom prst="rect">
            <a:avLst/>
          </a:prstGeom>
        </p:spPr>
      </p:pic>
      <p:sp>
        <p:nvSpPr>
          <p:cNvPr id="5" name="Frame 4">
            <a:extLst>
              <a:ext uri="{FF2B5EF4-FFF2-40B4-BE49-F238E27FC236}">
                <a16:creationId xmlns:a16="http://schemas.microsoft.com/office/drawing/2014/main" id="{6FA745CE-3F90-E442-AE8B-97AB8BB2062D}"/>
              </a:ext>
            </a:extLst>
          </p:cNvPr>
          <p:cNvSpPr/>
          <p:nvPr/>
        </p:nvSpPr>
        <p:spPr>
          <a:xfrm>
            <a:off x="9203557" y="2515570"/>
            <a:ext cx="1296309" cy="318053"/>
          </a:xfrm>
          <a:prstGeom prst="fram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Frame 40">
            <a:extLst>
              <a:ext uri="{FF2B5EF4-FFF2-40B4-BE49-F238E27FC236}">
                <a16:creationId xmlns:a16="http://schemas.microsoft.com/office/drawing/2014/main" id="{2A16D8B7-F90E-F34C-9B58-F90E21D521DC}"/>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Frame 41">
            <a:extLst>
              <a:ext uri="{FF2B5EF4-FFF2-40B4-BE49-F238E27FC236}">
                <a16:creationId xmlns:a16="http://schemas.microsoft.com/office/drawing/2014/main" id="{E3E12EF2-CDD0-A745-93F4-E62BA1EFB22E}"/>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ame 42">
            <a:extLst>
              <a:ext uri="{FF2B5EF4-FFF2-40B4-BE49-F238E27FC236}">
                <a16:creationId xmlns:a16="http://schemas.microsoft.com/office/drawing/2014/main" id="{06FCE978-CAA5-C245-B168-3FA6C362A168}"/>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69B2A7CC-D85A-D946-9DD1-D3A5BBAA6EE1}"/>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C526EB70-E934-4947-B5FF-CA29A86E4B86}"/>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F5EB4B8B-46A9-AE40-A3B1-CB5EC80B57DF}"/>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BAE03EB0-9E24-0749-B357-FFEA3B78DDD8}"/>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7633D81D-CEB3-954A-B118-499F32E72399}"/>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Rectangle 48">
            <a:extLst>
              <a:ext uri="{FF2B5EF4-FFF2-40B4-BE49-F238E27FC236}">
                <a16:creationId xmlns:a16="http://schemas.microsoft.com/office/drawing/2014/main" id="{7A4FCF02-1BE7-EF42-8F4C-D3444811B097}"/>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DA98E8F-5BE9-354A-B0BE-5DA1DEE5F8FF}"/>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2" name="Rectangle 51">
            <a:extLst>
              <a:ext uri="{FF2B5EF4-FFF2-40B4-BE49-F238E27FC236}">
                <a16:creationId xmlns:a16="http://schemas.microsoft.com/office/drawing/2014/main" id="{ABA7CE8F-5377-D245-AAAF-37467F19C68A}"/>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12CB6BB-6270-FD45-9926-C84F2C917AEA}"/>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a:extLst>
              <a:ext uri="{FF2B5EF4-FFF2-40B4-BE49-F238E27FC236}">
                <a16:creationId xmlns:a16="http://schemas.microsoft.com/office/drawing/2014/main" id="{A0EC07ED-027E-AE4F-A708-A6F3B8B0A5F2}"/>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11522CA-E3D7-0249-B1FE-01D56ECBD3DE}"/>
              </a:ext>
            </a:extLst>
          </p:cNvPr>
          <p:cNvSpPr txBox="1"/>
          <p:nvPr/>
        </p:nvSpPr>
        <p:spPr>
          <a:xfrm>
            <a:off x="5116359" y="4999512"/>
            <a:ext cx="418704" cy="369332"/>
          </a:xfrm>
          <a:prstGeom prst="rect">
            <a:avLst/>
          </a:prstGeom>
          <a:noFill/>
        </p:spPr>
        <p:txBody>
          <a:bodyPr wrap="none" rtlCol="0">
            <a:spAutoFit/>
          </a:bodyPr>
          <a:lstStyle/>
          <a:p>
            <a:r>
              <a:rPr lang="en-US" dirty="0"/>
              <a:t>23</a:t>
            </a:r>
          </a:p>
        </p:txBody>
      </p:sp>
      <p:sp>
        <p:nvSpPr>
          <p:cNvPr id="56" name="TextBox 55">
            <a:extLst>
              <a:ext uri="{FF2B5EF4-FFF2-40B4-BE49-F238E27FC236}">
                <a16:creationId xmlns:a16="http://schemas.microsoft.com/office/drawing/2014/main" id="{715B2414-82EF-2744-A4A8-4C3D32D39E34}"/>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9" name="TextBox 58">
            <a:extLst>
              <a:ext uri="{FF2B5EF4-FFF2-40B4-BE49-F238E27FC236}">
                <a16:creationId xmlns:a16="http://schemas.microsoft.com/office/drawing/2014/main" id="{5ED5717B-645A-624E-A68A-73A4C992B69A}"/>
              </a:ext>
            </a:extLst>
          </p:cNvPr>
          <p:cNvSpPr txBox="1"/>
          <p:nvPr/>
        </p:nvSpPr>
        <p:spPr>
          <a:xfrm>
            <a:off x="8144784" y="5055168"/>
            <a:ext cx="445956" cy="276999"/>
          </a:xfrm>
          <a:prstGeom prst="rect">
            <a:avLst/>
          </a:prstGeom>
          <a:noFill/>
        </p:spPr>
        <p:txBody>
          <a:bodyPr wrap="none" rtlCol="0">
            <a:spAutoFit/>
          </a:bodyPr>
          <a:lstStyle/>
          <a:p>
            <a:r>
              <a:rPr lang="en-US" sz="1200" dirty="0"/>
              <a:t>true</a:t>
            </a:r>
          </a:p>
        </p:txBody>
      </p:sp>
      <p:sp>
        <p:nvSpPr>
          <p:cNvPr id="60" name="TextBox 59">
            <a:extLst>
              <a:ext uri="{FF2B5EF4-FFF2-40B4-BE49-F238E27FC236}">
                <a16:creationId xmlns:a16="http://schemas.microsoft.com/office/drawing/2014/main" id="{A747AA37-2FE8-8348-A1BA-F507F5191CED}"/>
              </a:ext>
            </a:extLst>
          </p:cNvPr>
          <p:cNvSpPr txBox="1"/>
          <p:nvPr/>
        </p:nvSpPr>
        <p:spPr>
          <a:xfrm>
            <a:off x="8743546" y="5058316"/>
            <a:ext cx="475002" cy="276999"/>
          </a:xfrm>
          <a:prstGeom prst="rect">
            <a:avLst/>
          </a:prstGeom>
          <a:noFill/>
        </p:spPr>
        <p:txBody>
          <a:bodyPr wrap="none" rtlCol="0">
            <a:spAutoFit/>
          </a:bodyPr>
          <a:lstStyle/>
          <a:p>
            <a:r>
              <a:rPr lang="en-US" sz="1200" dirty="0"/>
              <a:t>false</a:t>
            </a:r>
          </a:p>
        </p:txBody>
      </p:sp>
      <p:sp>
        <p:nvSpPr>
          <p:cNvPr id="61" name="TextBox 60">
            <a:extLst>
              <a:ext uri="{FF2B5EF4-FFF2-40B4-BE49-F238E27FC236}">
                <a16:creationId xmlns:a16="http://schemas.microsoft.com/office/drawing/2014/main" id="{40D9B277-6A17-FB46-8212-BC48E5BEEC7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2" name="TextBox 61">
            <a:extLst>
              <a:ext uri="{FF2B5EF4-FFF2-40B4-BE49-F238E27FC236}">
                <a16:creationId xmlns:a16="http://schemas.microsoft.com/office/drawing/2014/main" id="{7D31C9A4-8A48-514A-BB19-782C0C12DC4E}"/>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3" name="TextBox 62">
            <a:extLst>
              <a:ext uri="{FF2B5EF4-FFF2-40B4-BE49-F238E27FC236}">
                <a16:creationId xmlns:a16="http://schemas.microsoft.com/office/drawing/2014/main" id="{82DC134A-80FA-084F-BA33-9A9DE65AAD87}"/>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4" name="TextBox 63">
            <a:extLst>
              <a:ext uri="{FF2B5EF4-FFF2-40B4-BE49-F238E27FC236}">
                <a16:creationId xmlns:a16="http://schemas.microsoft.com/office/drawing/2014/main" id="{0E64FE62-5890-904C-9691-1CC1B1CAA5B4}"/>
              </a:ext>
            </a:extLst>
          </p:cNvPr>
          <p:cNvSpPr txBox="1"/>
          <p:nvPr/>
        </p:nvSpPr>
        <p:spPr>
          <a:xfrm>
            <a:off x="6723994" y="5758962"/>
            <a:ext cx="301686" cy="369332"/>
          </a:xfrm>
          <a:prstGeom prst="rect">
            <a:avLst/>
          </a:prstGeom>
          <a:noFill/>
        </p:spPr>
        <p:txBody>
          <a:bodyPr wrap="square" rtlCol="0">
            <a:spAutoFit/>
          </a:bodyPr>
          <a:lstStyle/>
          <a:p>
            <a:r>
              <a:rPr lang="en-US" dirty="0">
                <a:solidFill>
                  <a:srgbClr val="FF0000"/>
                </a:solidFill>
              </a:rPr>
              <a:t>2</a:t>
            </a:r>
          </a:p>
        </p:txBody>
      </p:sp>
      <p:sp>
        <p:nvSpPr>
          <p:cNvPr id="65" name="TextBox 64">
            <a:extLst>
              <a:ext uri="{FF2B5EF4-FFF2-40B4-BE49-F238E27FC236}">
                <a16:creationId xmlns:a16="http://schemas.microsoft.com/office/drawing/2014/main" id="{5CA465AF-21FD-004B-88C0-94FCD1599E22}"/>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6" name="TextBox 65">
            <a:extLst>
              <a:ext uri="{FF2B5EF4-FFF2-40B4-BE49-F238E27FC236}">
                <a16:creationId xmlns:a16="http://schemas.microsoft.com/office/drawing/2014/main" id="{3075322A-109D-EA4A-8FF2-6E419894AC25}"/>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7" name="TextBox 66">
            <a:extLst>
              <a:ext uri="{FF2B5EF4-FFF2-40B4-BE49-F238E27FC236}">
                <a16:creationId xmlns:a16="http://schemas.microsoft.com/office/drawing/2014/main" id="{096A62DF-40FB-B343-8CE1-2BA78F6AEDCA}"/>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8" name="TextBox 67">
            <a:extLst>
              <a:ext uri="{FF2B5EF4-FFF2-40B4-BE49-F238E27FC236}">
                <a16:creationId xmlns:a16="http://schemas.microsoft.com/office/drawing/2014/main" id="{0F87E5B1-BCA3-2C42-8D7E-6DA0BBCB1FED}"/>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69" name="TextBox 68">
            <a:extLst>
              <a:ext uri="{FF2B5EF4-FFF2-40B4-BE49-F238E27FC236}">
                <a16:creationId xmlns:a16="http://schemas.microsoft.com/office/drawing/2014/main" id="{9874F8A7-C905-864C-8B36-D7136A7B8832}"/>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0" name="TextBox 69">
            <a:extLst>
              <a:ext uri="{FF2B5EF4-FFF2-40B4-BE49-F238E27FC236}">
                <a16:creationId xmlns:a16="http://schemas.microsoft.com/office/drawing/2014/main" id="{EC0C6C00-B7E7-F246-A912-7BBFC3CEECA5}"/>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71" name="Right Arrow 70">
            <a:extLst>
              <a:ext uri="{FF2B5EF4-FFF2-40B4-BE49-F238E27FC236}">
                <a16:creationId xmlns:a16="http://schemas.microsoft.com/office/drawing/2014/main" id="{13008DFD-08E4-8542-83E9-8E40AED11A28}"/>
              </a:ext>
            </a:extLst>
          </p:cNvPr>
          <p:cNvSpPr/>
          <p:nvPr/>
        </p:nvSpPr>
        <p:spPr>
          <a:xfrm rot="18450625" flipV="1">
            <a:off x="6216215" y="6040646"/>
            <a:ext cx="583000"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DE3E552-562D-FB49-88D1-5444BE006B4C}"/>
              </a:ext>
            </a:extLst>
          </p:cNvPr>
          <p:cNvSpPr txBox="1"/>
          <p:nvPr/>
        </p:nvSpPr>
        <p:spPr>
          <a:xfrm>
            <a:off x="6613726" y="4995405"/>
            <a:ext cx="535724" cy="369332"/>
          </a:xfrm>
          <a:prstGeom prst="rect">
            <a:avLst/>
          </a:prstGeom>
          <a:noFill/>
        </p:spPr>
        <p:txBody>
          <a:bodyPr wrap="none" rtlCol="0">
            <a:spAutoFit/>
          </a:bodyPr>
          <a:lstStyle/>
          <a:p>
            <a:r>
              <a:rPr lang="en-US" dirty="0">
                <a:solidFill>
                  <a:srgbClr val="FF0000"/>
                </a:solidFill>
              </a:rPr>
              <a:t>137</a:t>
            </a:r>
          </a:p>
        </p:txBody>
      </p:sp>
      <p:sp>
        <p:nvSpPr>
          <p:cNvPr id="38" name="Right Arrow 37">
            <a:extLst>
              <a:ext uri="{FF2B5EF4-FFF2-40B4-BE49-F238E27FC236}">
                <a16:creationId xmlns:a16="http://schemas.microsoft.com/office/drawing/2014/main" id="{E8F25658-F330-6849-BCA7-6BDB6F21E105}"/>
              </a:ext>
            </a:extLst>
          </p:cNvPr>
          <p:cNvSpPr/>
          <p:nvPr/>
        </p:nvSpPr>
        <p:spPr>
          <a:xfrm rot="15516859" flipV="1">
            <a:off x="9386997" y="3287747"/>
            <a:ext cx="1345050" cy="5586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05153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 (now with characters)</a:t>
            </a:r>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4425324" cy="5221510"/>
          </a:xfrm>
        </p:spPr>
        <p:txBody>
          <a:bodyPr>
            <a:normAutofit fontScale="70000" lnSpcReduction="20000"/>
          </a:bodyPr>
          <a:lstStyle/>
          <a:p>
            <a:r>
              <a:rPr lang="en-US" dirty="0"/>
              <a:t>Okay, but what if we want to store something other than numbers?</a:t>
            </a:r>
            <a:br>
              <a:rPr lang="en-US" dirty="0"/>
            </a:br>
            <a:endParaRPr lang="en-US" dirty="0"/>
          </a:p>
          <a:p>
            <a:r>
              <a:rPr lang="en-US" dirty="0"/>
              <a:t>If we want to store a single character, we use the </a:t>
            </a:r>
            <a:r>
              <a:rPr lang="en-US" dirty="0">
                <a:solidFill>
                  <a:srgbClr val="FF0000"/>
                </a:solidFill>
              </a:rPr>
              <a:t>char</a:t>
            </a:r>
            <a:r>
              <a:rPr lang="en-US" dirty="0"/>
              <a:t> type</a:t>
            </a:r>
            <a:br>
              <a:rPr lang="en-US" dirty="0"/>
            </a:br>
            <a:endParaRPr lang="en-US" dirty="0"/>
          </a:p>
          <a:p>
            <a:r>
              <a:rPr lang="en-US" dirty="0"/>
              <a:t>This command means "set aside space in memory for the character 'c'</a:t>
            </a:r>
            <a:br>
              <a:rPr lang="en-US" dirty="0"/>
            </a:br>
            <a:endParaRPr lang="en-US" dirty="0"/>
          </a:p>
          <a:p>
            <a:r>
              <a:rPr lang="en-US" dirty="0"/>
              <a:t>You might remember that characters are just numbers</a:t>
            </a:r>
            <a:br>
              <a:rPr lang="en-US" dirty="0"/>
            </a:br>
            <a:endParaRPr lang="en-US" dirty="0"/>
          </a:p>
          <a:p>
            <a:r>
              <a:rPr lang="en-US" dirty="0"/>
              <a:t>So when you use the</a:t>
            </a:r>
            <a:r>
              <a:rPr lang="en-US" dirty="0">
                <a:solidFill>
                  <a:srgbClr val="FF0000"/>
                </a:solidFill>
              </a:rPr>
              <a:t> char</a:t>
            </a:r>
            <a:r>
              <a:rPr lang="en-US" dirty="0"/>
              <a:t> type, it also means "when you use this type later on, look up its value in the ASCII table and use the letter associated with that number</a:t>
            </a:r>
          </a:p>
          <a:p>
            <a:pPr marL="0" indent="0">
              <a:buNone/>
            </a:pPr>
            <a:br>
              <a:rPr lang="en-US" dirty="0"/>
            </a:br>
            <a:endParaRPr lang="en-US" dirty="0"/>
          </a:p>
        </p:txBody>
      </p:sp>
      <p:sp>
        <p:nvSpPr>
          <p:cNvPr id="41" name="Frame 40">
            <a:extLst>
              <a:ext uri="{FF2B5EF4-FFF2-40B4-BE49-F238E27FC236}">
                <a16:creationId xmlns:a16="http://schemas.microsoft.com/office/drawing/2014/main" id="{2A16D8B7-F90E-F34C-9B58-F90E21D521DC}"/>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Frame 41">
            <a:extLst>
              <a:ext uri="{FF2B5EF4-FFF2-40B4-BE49-F238E27FC236}">
                <a16:creationId xmlns:a16="http://schemas.microsoft.com/office/drawing/2014/main" id="{E3E12EF2-CDD0-A745-93F4-E62BA1EFB22E}"/>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ame 42">
            <a:extLst>
              <a:ext uri="{FF2B5EF4-FFF2-40B4-BE49-F238E27FC236}">
                <a16:creationId xmlns:a16="http://schemas.microsoft.com/office/drawing/2014/main" id="{06FCE978-CAA5-C245-B168-3FA6C362A168}"/>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69B2A7CC-D85A-D946-9DD1-D3A5BBAA6EE1}"/>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C526EB70-E934-4947-B5FF-CA29A86E4B86}"/>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F5EB4B8B-46A9-AE40-A3B1-CB5EC80B57DF}"/>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BAE03EB0-9E24-0749-B357-FFEA3B78DDD8}"/>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7633D81D-CEB3-954A-B118-499F32E72399}"/>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Rectangle 48">
            <a:extLst>
              <a:ext uri="{FF2B5EF4-FFF2-40B4-BE49-F238E27FC236}">
                <a16:creationId xmlns:a16="http://schemas.microsoft.com/office/drawing/2014/main" id="{7A4FCF02-1BE7-EF42-8F4C-D3444811B097}"/>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DA98E8F-5BE9-354A-B0BE-5DA1DEE5F8FF}"/>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2" name="Rectangle 51">
            <a:extLst>
              <a:ext uri="{FF2B5EF4-FFF2-40B4-BE49-F238E27FC236}">
                <a16:creationId xmlns:a16="http://schemas.microsoft.com/office/drawing/2014/main" id="{ABA7CE8F-5377-D245-AAAF-37467F19C68A}"/>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12CB6BB-6270-FD45-9926-C84F2C917AEA}"/>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a:extLst>
              <a:ext uri="{FF2B5EF4-FFF2-40B4-BE49-F238E27FC236}">
                <a16:creationId xmlns:a16="http://schemas.microsoft.com/office/drawing/2014/main" id="{A0EC07ED-027E-AE4F-A708-A6F3B8B0A5F2}"/>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11522CA-E3D7-0249-B1FE-01D56ECBD3DE}"/>
              </a:ext>
            </a:extLst>
          </p:cNvPr>
          <p:cNvSpPr txBox="1"/>
          <p:nvPr/>
        </p:nvSpPr>
        <p:spPr>
          <a:xfrm>
            <a:off x="5116359" y="4999512"/>
            <a:ext cx="418704" cy="369332"/>
          </a:xfrm>
          <a:prstGeom prst="rect">
            <a:avLst/>
          </a:prstGeom>
          <a:noFill/>
        </p:spPr>
        <p:txBody>
          <a:bodyPr wrap="none" rtlCol="0">
            <a:spAutoFit/>
          </a:bodyPr>
          <a:lstStyle/>
          <a:p>
            <a:r>
              <a:rPr lang="en-US" dirty="0"/>
              <a:t>23</a:t>
            </a:r>
          </a:p>
        </p:txBody>
      </p:sp>
      <p:sp>
        <p:nvSpPr>
          <p:cNvPr id="56" name="TextBox 55">
            <a:extLst>
              <a:ext uri="{FF2B5EF4-FFF2-40B4-BE49-F238E27FC236}">
                <a16:creationId xmlns:a16="http://schemas.microsoft.com/office/drawing/2014/main" id="{715B2414-82EF-2744-A4A8-4C3D32D39E34}"/>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61" name="TextBox 60">
            <a:extLst>
              <a:ext uri="{FF2B5EF4-FFF2-40B4-BE49-F238E27FC236}">
                <a16:creationId xmlns:a16="http://schemas.microsoft.com/office/drawing/2014/main" id="{40D9B277-6A17-FB46-8212-BC48E5BEEC7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2" name="TextBox 61">
            <a:extLst>
              <a:ext uri="{FF2B5EF4-FFF2-40B4-BE49-F238E27FC236}">
                <a16:creationId xmlns:a16="http://schemas.microsoft.com/office/drawing/2014/main" id="{7D31C9A4-8A48-514A-BB19-782C0C12DC4E}"/>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3" name="TextBox 62">
            <a:extLst>
              <a:ext uri="{FF2B5EF4-FFF2-40B4-BE49-F238E27FC236}">
                <a16:creationId xmlns:a16="http://schemas.microsoft.com/office/drawing/2014/main" id="{82DC134A-80FA-084F-BA33-9A9DE65AAD87}"/>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4" name="TextBox 63">
            <a:extLst>
              <a:ext uri="{FF2B5EF4-FFF2-40B4-BE49-F238E27FC236}">
                <a16:creationId xmlns:a16="http://schemas.microsoft.com/office/drawing/2014/main" id="{0E64FE62-5890-904C-9691-1CC1B1CAA5B4}"/>
              </a:ext>
            </a:extLst>
          </p:cNvPr>
          <p:cNvSpPr txBox="1"/>
          <p:nvPr/>
        </p:nvSpPr>
        <p:spPr>
          <a:xfrm>
            <a:off x="6723994" y="5758962"/>
            <a:ext cx="301686" cy="369332"/>
          </a:xfrm>
          <a:prstGeom prst="rect">
            <a:avLst/>
          </a:prstGeom>
          <a:noFill/>
        </p:spPr>
        <p:txBody>
          <a:bodyPr wrap="square" rtlCol="0">
            <a:spAutoFit/>
          </a:bodyPr>
          <a:lstStyle/>
          <a:p>
            <a:r>
              <a:rPr lang="en-US" dirty="0"/>
              <a:t>2</a:t>
            </a:r>
          </a:p>
        </p:txBody>
      </p:sp>
      <p:sp>
        <p:nvSpPr>
          <p:cNvPr id="65" name="TextBox 64">
            <a:extLst>
              <a:ext uri="{FF2B5EF4-FFF2-40B4-BE49-F238E27FC236}">
                <a16:creationId xmlns:a16="http://schemas.microsoft.com/office/drawing/2014/main" id="{5CA465AF-21FD-004B-88C0-94FCD1599E22}"/>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6" name="TextBox 65">
            <a:extLst>
              <a:ext uri="{FF2B5EF4-FFF2-40B4-BE49-F238E27FC236}">
                <a16:creationId xmlns:a16="http://schemas.microsoft.com/office/drawing/2014/main" id="{3075322A-109D-EA4A-8FF2-6E419894AC25}"/>
              </a:ext>
            </a:extLst>
          </p:cNvPr>
          <p:cNvSpPr txBox="1"/>
          <p:nvPr/>
        </p:nvSpPr>
        <p:spPr>
          <a:xfrm>
            <a:off x="8173666" y="5758962"/>
            <a:ext cx="301686" cy="369332"/>
          </a:xfrm>
          <a:prstGeom prst="rect">
            <a:avLst/>
          </a:prstGeom>
          <a:noFill/>
        </p:spPr>
        <p:txBody>
          <a:bodyPr wrap="square" rtlCol="0">
            <a:spAutoFit/>
          </a:bodyPr>
          <a:lstStyle/>
          <a:p>
            <a:r>
              <a:rPr lang="en-US" dirty="0">
                <a:solidFill>
                  <a:srgbClr val="FF0000"/>
                </a:solidFill>
              </a:rPr>
              <a:t>4</a:t>
            </a:r>
          </a:p>
        </p:txBody>
      </p:sp>
      <p:sp>
        <p:nvSpPr>
          <p:cNvPr id="67" name="TextBox 66">
            <a:extLst>
              <a:ext uri="{FF2B5EF4-FFF2-40B4-BE49-F238E27FC236}">
                <a16:creationId xmlns:a16="http://schemas.microsoft.com/office/drawing/2014/main" id="{096A62DF-40FB-B343-8CE1-2BA78F6AEDCA}"/>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8" name="TextBox 67">
            <a:extLst>
              <a:ext uri="{FF2B5EF4-FFF2-40B4-BE49-F238E27FC236}">
                <a16:creationId xmlns:a16="http://schemas.microsoft.com/office/drawing/2014/main" id="{0F87E5B1-BCA3-2C42-8D7E-6DA0BBCB1FED}"/>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69" name="TextBox 68">
            <a:extLst>
              <a:ext uri="{FF2B5EF4-FFF2-40B4-BE49-F238E27FC236}">
                <a16:creationId xmlns:a16="http://schemas.microsoft.com/office/drawing/2014/main" id="{9874F8A7-C905-864C-8B36-D7136A7B8832}"/>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0" name="TextBox 69">
            <a:extLst>
              <a:ext uri="{FF2B5EF4-FFF2-40B4-BE49-F238E27FC236}">
                <a16:creationId xmlns:a16="http://schemas.microsoft.com/office/drawing/2014/main" id="{EC0C6C00-B7E7-F246-A912-7BBFC3CEECA5}"/>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6" name="TextBox 5">
            <a:extLst>
              <a:ext uri="{FF2B5EF4-FFF2-40B4-BE49-F238E27FC236}">
                <a16:creationId xmlns:a16="http://schemas.microsoft.com/office/drawing/2014/main" id="{8DE3E552-562D-FB49-88D1-5444BE006B4C}"/>
              </a:ext>
            </a:extLst>
          </p:cNvPr>
          <p:cNvSpPr txBox="1"/>
          <p:nvPr/>
        </p:nvSpPr>
        <p:spPr>
          <a:xfrm>
            <a:off x="6613726" y="4995405"/>
            <a:ext cx="535724" cy="369332"/>
          </a:xfrm>
          <a:prstGeom prst="rect">
            <a:avLst/>
          </a:prstGeom>
          <a:noFill/>
        </p:spPr>
        <p:txBody>
          <a:bodyPr wrap="none" rtlCol="0">
            <a:spAutoFit/>
          </a:bodyPr>
          <a:lstStyle/>
          <a:p>
            <a:r>
              <a:rPr lang="en-US" dirty="0"/>
              <a:t>137</a:t>
            </a:r>
          </a:p>
        </p:txBody>
      </p:sp>
      <p:pic>
        <p:nvPicPr>
          <p:cNvPr id="8" name="Picture 7">
            <a:extLst>
              <a:ext uri="{FF2B5EF4-FFF2-40B4-BE49-F238E27FC236}">
                <a16:creationId xmlns:a16="http://schemas.microsoft.com/office/drawing/2014/main" id="{1A131326-9525-104C-B8F4-778F7D2A1513}"/>
              </a:ext>
            </a:extLst>
          </p:cNvPr>
          <p:cNvPicPr>
            <a:picLocks noChangeAspect="1"/>
          </p:cNvPicPr>
          <p:nvPr/>
        </p:nvPicPr>
        <p:blipFill>
          <a:blip r:embed="rId2"/>
          <a:stretch>
            <a:fillRect/>
          </a:stretch>
        </p:blipFill>
        <p:spPr>
          <a:xfrm>
            <a:off x="5066417" y="1325064"/>
            <a:ext cx="5829300" cy="2679700"/>
          </a:xfrm>
          <a:prstGeom prst="rect">
            <a:avLst/>
          </a:prstGeom>
        </p:spPr>
      </p:pic>
      <p:sp>
        <p:nvSpPr>
          <p:cNvPr id="9" name="TextBox 8">
            <a:extLst>
              <a:ext uri="{FF2B5EF4-FFF2-40B4-BE49-F238E27FC236}">
                <a16:creationId xmlns:a16="http://schemas.microsoft.com/office/drawing/2014/main" id="{02736085-4349-1D46-A32B-C44922F4F569}"/>
              </a:ext>
            </a:extLst>
          </p:cNvPr>
          <p:cNvSpPr txBox="1"/>
          <p:nvPr/>
        </p:nvSpPr>
        <p:spPr>
          <a:xfrm>
            <a:off x="8136034" y="4995405"/>
            <a:ext cx="385042" cy="369332"/>
          </a:xfrm>
          <a:prstGeom prst="rect">
            <a:avLst/>
          </a:prstGeom>
          <a:noFill/>
        </p:spPr>
        <p:txBody>
          <a:bodyPr wrap="none" rtlCol="0">
            <a:spAutoFit/>
          </a:bodyPr>
          <a:lstStyle/>
          <a:p>
            <a:r>
              <a:rPr lang="en-US" dirty="0">
                <a:solidFill>
                  <a:srgbClr val="FF0000"/>
                </a:solidFill>
              </a:rPr>
              <a:t>'c'</a:t>
            </a:r>
          </a:p>
        </p:txBody>
      </p:sp>
      <p:sp>
        <p:nvSpPr>
          <p:cNvPr id="51" name="Right Arrow 50">
            <a:extLst>
              <a:ext uri="{FF2B5EF4-FFF2-40B4-BE49-F238E27FC236}">
                <a16:creationId xmlns:a16="http://schemas.microsoft.com/office/drawing/2014/main" id="{362FE4A7-F2E4-614F-9896-82DE8A2DFDFE}"/>
              </a:ext>
            </a:extLst>
          </p:cNvPr>
          <p:cNvSpPr/>
          <p:nvPr/>
        </p:nvSpPr>
        <p:spPr>
          <a:xfrm rot="20321728" flipV="1">
            <a:off x="7276076" y="5955574"/>
            <a:ext cx="957884" cy="4983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A468C69-4737-A043-B24C-523D89B14CD1}"/>
              </a:ext>
            </a:extLst>
          </p:cNvPr>
          <p:cNvSpPr txBox="1"/>
          <p:nvPr/>
        </p:nvSpPr>
        <p:spPr>
          <a:xfrm>
            <a:off x="5630073" y="6513224"/>
            <a:ext cx="2211824" cy="307777"/>
          </a:xfrm>
          <a:prstGeom prst="rect">
            <a:avLst/>
          </a:prstGeom>
          <a:noFill/>
        </p:spPr>
        <p:txBody>
          <a:bodyPr wrap="none" rtlCol="0">
            <a:spAutoFit/>
          </a:bodyPr>
          <a:lstStyle/>
          <a:p>
            <a:r>
              <a:rPr lang="en-US" sz="1400" dirty="0"/>
              <a:t>this looks like a good space!</a:t>
            </a:r>
          </a:p>
        </p:txBody>
      </p:sp>
    </p:spTree>
    <p:extLst>
      <p:ext uri="{BB962C8B-B14F-4D97-AF65-F5344CB8AC3E}">
        <p14:creationId xmlns:p14="http://schemas.microsoft.com/office/powerpoint/2010/main" val="12964695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 (now with characters)</a:t>
            </a:r>
          </a:p>
        </p:txBody>
      </p:sp>
      <p:sp>
        <p:nvSpPr>
          <p:cNvPr id="41" name="Frame 40">
            <a:extLst>
              <a:ext uri="{FF2B5EF4-FFF2-40B4-BE49-F238E27FC236}">
                <a16:creationId xmlns:a16="http://schemas.microsoft.com/office/drawing/2014/main" id="{2A16D8B7-F90E-F34C-9B58-F90E21D521DC}"/>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Frame 41">
            <a:extLst>
              <a:ext uri="{FF2B5EF4-FFF2-40B4-BE49-F238E27FC236}">
                <a16:creationId xmlns:a16="http://schemas.microsoft.com/office/drawing/2014/main" id="{E3E12EF2-CDD0-A745-93F4-E62BA1EFB22E}"/>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ame 42">
            <a:extLst>
              <a:ext uri="{FF2B5EF4-FFF2-40B4-BE49-F238E27FC236}">
                <a16:creationId xmlns:a16="http://schemas.microsoft.com/office/drawing/2014/main" id="{06FCE978-CAA5-C245-B168-3FA6C362A168}"/>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69B2A7CC-D85A-D946-9DD1-D3A5BBAA6EE1}"/>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C526EB70-E934-4947-B5FF-CA29A86E4B86}"/>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F5EB4B8B-46A9-AE40-A3B1-CB5EC80B57DF}"/>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BAE03EB0-9E24-0749-B357-FFEA3B78DDD8}"/>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7633D81D-CEB3-954A-B118-499F32E72399}"/>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Rectangle 48">
            <a:extLst>
              <a:ext uri="{FF2B5EF4-FFF2-40B4-BE49-F238E27FC236}">
                <a16:creationId xmlns:a16="http://schemas.microsoft.com/office/drawing/2014/main" id="{7A4FCF02-1BE7-EF42-8F4C-D3444811B097}"/>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DA98E8F-5BE9-354A-B0BE-5DA1DEE5F8FF}"/>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2" name="Rectangle 51">
            <a:extLst>
              <a:ext uri="{FF2B5EF4-FFF2-40B4-BE49-F238E27FC236}">
                <a16:creationId xmlns:a16="http://schemas.microsoft.com/office/drawing/2014/main" id="{ABA7CE8F-5377-D245-AAAF-37467F19C68A}"/>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12CB6BB-6270-FD45-9926-C84F2C917AEA}"/>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a:extLst>
              <a:ext uri="{FF2B5EF4-FFF2-40B4-BE49-F238E27FC236}">
                <a16:creationId xmlns:a16="http://schemas.microsoft.com/office/drawing/2014/main" id="{A0EC07ED-027E-AE4F-A708-A6F3B8B0A5F2}"/>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11522CA-E3D7-0249-B1FE-01D56ECBD3DE}"/>
              </a:ext>
            </a:extLst>
          </p:cNvPr>
          <p:cNvSpPr txBox="1"/>
          <p:nvPr/>
        </p:nvSpPr>
        <p:spPr>
          <a:xfrm>
            <a:off x="5116359" y="4999512"/>
            <a:ext cx="418704" cy="369332"/>
          </a:xfrm>
          <a:prstGeom prst="rect">
            <a:avLst/>
          </a:prstGeom>
          <a:noFill/>
        </p:spPr>
        <p:txBody>
          <a:bodyPr wrap="none" rtlCol="0">
            <a:spAutoFit/>
          </a:bodyPr>
          <a:lstStyle/>
          <a:p>
            <a:r>
              <a:rPr lang="en-US" dirty="0"/>
              <a:t>23</a:t>
            </a:r>
          </a:p>
        </p:txBody>
      </p:sp>
      <p:sp>
        <p:nvSpPr>
          <p:cNvPr id="56" name="TextBox 55">
            <a:extLst>
              <a:ext uri="{FF2B5EF4-FFF2-40B4-BE49-F238E27FC236}">
                <a16:creationId xmlns:a16="http://schemas.microsoft.com/office/drawing/2014/main" id="{715B2414-82EF-2744-A4A8-4C3D32D39E34}"/>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8" name="TextBox 57">
            <a:extLst>
              <a:ext uri="{FF2B5EF4-FFF2-40B4-BE49-F238E27FC236}">
                <a16:creationId xmlns:a16="http://schemas.microsoft.com/office/drawing/2014/main" id="{AFC65253-6504-A643-B7EF-7604F8B5B70E}"/>
              </a:ext>
            </a:extLst>
          </p:cNvPr>
          <p:cNvSpPr txBox="1"/>
          <p:nvPr/>
        </p:nvSpPr>
        <p:spPr>
          <a:xfrm>
            <a:off x="7266793" y="5036509"/>
            <a:ext cx="665760" cy="276999"/>
          </a:xfrm>
          <a:prstGeom prst="rect">
            <a:avLst/>
          </a:prstGeom>
          <a:noFill/>
        </p:spPr>
        <p:txBody>
          <a:bodyPr wrap="none" rtlCol="0">
            <a:spAutoFit/>
          </a:bodyPr>
          <a:lstStyle/>
          <a:p>
            <a:r>
              <a:rPr lang="en-US" sz="1200" dirty="0"/>
              <a:t>"world"</a:t>
            </a:r>
          </a:p>
        </p:txBody>
      </p:sp>
      <p:sp>
        <p:nvSpPr>
          <p:cNvPr id="61" name="TextBox 60">
            <a:extLst>
              <a:ext uri="{FF2B5EF4-FFF2-40B4-BE49-F238E27FC236}">
                <a16:creationId xmlns:a16="http://schemas.microsoft.com/office/drawing/2014/main" id="{40D9B277-6A17-FB46-8212-BC48E5BEEC7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2" name="TextBox 61">
            <a:extLst>
              <a:ext uri="{FF2B5EF4-FFF2-40B4-BE49-F238E27FC236}">
                <a16:creationId xmlns:a16="http://schemas.microsoft.com/office/drawing/2014/main" id="{7D31C9A4-8A48-514A-BB19-782C0C12DC4E}"/>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3" name="TextBox 62">
            <a:extLst>
              <a:ext uri="{FF2B5EF4-FFF2-40B4-BE49-F238E27FC236}">
                <a16:creationId xmlns:a16="http://schemas.microsoft.com/office/drawing/2014/main" id="{82DC134A-80FA-084F-BA33-9A9DE65AAD87}"/>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4" name="TextBox 63">
            <a:extLst>
              <a:ext uri="{FF2B5EF4-FFF2-40B4-BE49-F238E27FC236}">
                <a16:creationId xmlns:a16="http://schemas.microsoft.com/office/drawing/2014/main" id="{0E64FE62-5890-904C-9691-1CC1B1CAA5B4}"/>
              </a:ext>
            </a:extLst>
          </p:cNvPr>
          <p:cNvSpPr txBox="1"/>
          <p:nvPr/>
        </p:nvSpPr>
        <p:spPr>
          <a:xfrm>
            <a:off x="6723994" y="5758962"/>
            <a:ext cx="301686" cy="369332"/>
          </a:xfrm>
          <a:prstGeom prst="rect">
            <a:avLst/>
          </a:prstGeom>
          <a:noFill/>
        </p:spPr>
        <p:txBody>
          <a:bodyPr wrap="square" rtlCol="0">
            <a:spAutoFit/>
          </a:bodyPr>
          <a:lstStyle/>
          <a:p>
            <a:r>
              <a:rPr lang="en-US" dirty="0"/>
              <a:t>2</a:t>
            </a:r>
          </a:p>
        </p:txBody>
      </p:sp>
      <p:sp>
        <p:nvSpPr>
          <p:cNvPr id="65" name="TextBox 64">
            <a:extLst>
              <a:ext uri="{FF2B5EF4-FFF2-40B4-BE49-F238E27FC236}">
                <a16:creationId xmlns:a16="http://schemas.microsoft.com/office/drawing/2014/main" id="{5CA465AF-21FD-004B-88C0-94FCD1599E22}"/>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6" name="TextBox 65">
            <a:extLst>
              <a:ext uri="{FF2B5EF4-FFF2-40B4-BE49-F238E27FC236}">
                <a16:creationId xmlns:a16="http://schemas.microsoft.com/office/drawing/2014/main" id="{3075322A-109D-EA4A-8FF2-6E419894AC25}"/>
              </a:ext>
            </a:extLst>
          </p:cNvPr>
          <p:cNvSpPr txBox="1"/>
          <p:nvPr/>
        </p:nvSpPr>
        <p:spPr>
          <a:xfrm>
            <a:off x="8173666" y="5758962"/>
            <a:ext cx="301686" cy="369332"/>
          </a:xfrm>
          <a:prstGeom prst="rect">
            <a:avLst/>
          </a:prstGeom>
          <a:noFill/>
        </p:spPr>
        <p:txBody>
          <a:bodyPr wrap="square" rtlCol="0">
            <a:spAutoFit/>
          </a:bodyPr>
          <a:lstStyle/>
          <a:p>
            <a:r>
              <a:rPr lang="en-US" dirty="0">
                <a:solidFill>
                  <a:srgbClr val="FF0000"/>
                </a:solidFill>
              </a:rPr>
              <a:t>4</a:t>
            </a:r>
          </a:p>
        </p:txBody>
      </p:sp>
      <p:sp>
        <p:nvSpPr>
          <p:cNvPr id="67" name="TextBox 66">
            <a:extLst>
              <a:ext uri="{FF2B5EF4-FFF2-40B4-BE49-F238E27FC236}">
                <a16:creationId xmlns:a16="http://schemas.microsoft.com/office/drawing/2014/main" id="{096A62DF-40FB-B343-8CE1-2BA78F6AEDCA}"/>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8" name="TextBox 67">
            <a:extLst>
              <a:ext uri="{FF2B5EF4-FFF2-40B4-BE49-F238E27FC236}">
                <a16:creationId xmlns:a16="http://schemas.microsoft.com/office/drawing/2014/main" id="{0F87E5B1-BCA3-2C42-8D7E-6DA0BBCB1FED}"/>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69" name="TextBox 68">
            <a:extLst>
              <a:ext uri="{FF2B5EF4-FFF2-40B4-BE49-F238E27FC236}">
                <a16:creationId xmlns:a16="http://schemas.microsoft.com/office/drawing/2014/main" id="{9874F8A7-C905-864C-8B36-D7136A7B8832}"/>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0" name="TextBox 69">
            <a:extLst>
              <a:ext uri="{FF2B5EF4-FFF2-40B4-BE49-F238E27FC236}">
                <a16:creationId xmlns:a16="http://schemas.microsoft.com/office/drawing/2014/main" id="{EC0C6C00-B7E7-F246-A912-7BBFC3CEECA5}"/>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6" name="TextBox 5">
            <a:extLst>
              <a:ext uri="{FF2B5EF4-FFF2-40B4-BE49-F238E27FC236}">
                <a16:creationId xmlns:a16="http://schemas.microsoft.com/office/drawing/2014/main" id="{8DE3E552-562D-FB49-88D1-5444BE006B4C}"/>
              </a:ext>
            </a:extLst>
          </p:cNvPr>
          <p:cNvSpPr txBox="1"/>
          <p:nvPr/>
        </p:nvSpPr>
        <p:spPr>
          <a:xfrm>
            <a:off x="6613726" y="4995405"/>
            <a:ext cx="535724" cy="369332"/>
          </a:xfrm>
          <a:prstGeom prst="rect">
            <a:avLst/>
          </a:prstGeom>
          <a:noFill/>
        </p:spPr>
        <p:txBody>
          <a:bodyPr wrap="none" rtlCol="0">
            <a:spAutoFit/>
          </a:bodyPr>
          <a:lstStyle/>
          <a:p>
            <a:r>
              <a:rPr lang="en-US" dirty="0"/>
              <a:t>137</a:t>
            </a:r>
          </a:p>
        </p:txBody>
      </p:sp>
      <p:sp>
        <p:nvSpPr>
          <p:cNvPr id="9" name="TextBox 8">
            <a:extLst>
              <a:ext uri="{FF2B5EF4-FFF2-40B4-BE49-F238E27FC236}">
                <a16:creationId xmlns:a16="http://schemas.microsoft.com/office/drawing/2014/main" id="{02736085-4349-1D46-A32B-C44922F4F569}"/>
              </a:ext>
            </a:extLst>
          </p:cNvPr>
          <p:cNvSpPr txBox="1"/>
          <p:nvPr/>
        </p:nvSpPr>
        <p:spPr>
          <a:xfrm>
            <a:off x="8136034" y="4995405"/>
            <a:ext cx="385042" cy="369332"/>
          </a:xfrm>
          <a:prstGeom prst="rect">
            <a:avLst/>
          </a:prstGeom>
          <a:noFill/>
        </p:spPr>
        <p:txBody>
          <a:bodyPr wrap="none" rtlCol="0">
            <a:spAutoFit/>
          </a:bodyPr>
          <a:lstStyle/>
          <a:p>
            <a:r>
              <a:rPr lang="en-US" dirty="0">
                <a:solidFill>
                  <a:srgbClr val="FF0000"/>
                </a:solidFill>
              </a:rPr>
              <a:t>'c'</a:t>
            </a:r>
          </a:p>
        </p:txBody>
      </p:sp>
      <p:sp>
        <p:nvSpPr>
          <p:cNvPr id="51" name="Right Arrow 50">
            <a:extLst>
              <a:ext uri="{FF2B5EF4-FFF2-40B4-BE49-F238E27FC236}">
                <a16:creationId xmlns:a16="http://schemas.microsoft.com/office/drawing/2014/main" id="{362FE4A7-F2E4-614F-9896-82DE8A2DFDFE}"/>
              </a:ext>
            </a:extLst>
          </p:cNvPr>
          <p:cNvSpPr/>
          <p:nvPr/>
        </p:nvSpPr>
        <p:spPr>
          <a:xfrm rot="20321728" flipV="1">
            <a:off x="7276076" y="5955574"/>
            <a:ext cx="957884" cy="4983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A468C69-4737-A043-B24C-523D89B14CD1}"/>
              </a:ext>
            </a:extLst>
          </p:cNvPr>
          <p:cNvSpPr txBox="1"/>
          <p:nvPr/>
        </p:nvSpPr>
        <p:spPr>
          <a:xfrm>
            <a:off x="5630073" y="6513224"/>
            <a:ext cx="2211824" cy="307777"/>
          </a:xfrm>
          <a:prstGeom prst="rect">
            <a:avLst/>
          </a:prstGeom>
          <a:noFill/>
        </p:spPr>
        <p:txBody>
          <a:bodyPr wrap="none" rtlCol="0">
            <a:spAutoFit/>
          </a:bodyPr>
          <a:lstStyle/>
          <a:p>
            <a:r>
              <a:rPr lang="en-US" sz="1400" dirty="0"/>
              <a:t>this looks like a good space!</a:t>
            </a:r>
          </a:p>
        </p:txBody>
      </p:sp>
      <p:pic>
        <p:nvPicPr>
          <p:cNvPr id="38" name="Picture 37">
            <a:extLst>
              <a:ext uri="{FF2B5EF4-FFF2-40B4-BE49-F238E27FC236}">
                <a16:creationId xmlns:a16="http://schemas.microsoft.com/office/drawing/2014/main" id="{FA423080-465F-D04D-87B2-0D0432E1EE9B}"/>
              </a:ext>
            </a:extLst>
          </p:cNvPr>
          <p:cNvPicPr>
            <a:picLocks noChangeAspect="1"/>
          </p:cNvPicPr>
          <p:nvPr/>
        </p:nvPicPr>
        <p:blipFill>
          <a:blip r:embed="rId2"/>
          <a:stretch>
            <a:fillRect/>
          </a:stretch>
        </p:blipFill>
        <p:spPr>
          <a:xfrm>
            <a:off x="792158" y="1298712"/>
            <a:ext cx="2166663" cy="5312173"/>
          </a:xfrm>
          <a:prstGeom prst="rect">
            <a:avLst/>
          </a:prstGeom>
        </p:spPr>
      </p:pic>
      <p:sp>
        <p:nvSpPr>
          <p:cNvPr id="39" name="Right Arrow 38">
            <a:extLst>
              <a:ext uri="{FF2B5EF4-FFF2-40B4-BE49-F238E27FC236}">
                <a16:creationId xmlns:a16="http://schemas.microsoft.com/office/drawing/2014/main" id="{685D3862-69C5-F344-ABCB-487FE296B31B}"/>
              </a:ext>
            </a:extLst>
          </p:cNvPr>
          <p:cNvSpPr/>
          <p:nvPr/>
        </p:nvSpPr>
        <p:spPr>
          <a:xfrm rot="10985320" flipV="1">
            <a:off x="2832162" y="2100504"/>
            <a:ext cx="957884" cy="4983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52E15C6-C2DE-9D43-BBF7-70D528E622F6}"/>
              </a:ext>
            </a:extLst>
          </p:cNvPr>
          <p:cNvSpPr txBox="1"/>
          <p:nvPr/>
        </p:nvSpPr>
        <p:spPr>
          <a:xfrm>
            <a:off x="3915736" y="2075059"/>
            <a:ext cx="3152015" cy="1200329"/>
          </a:xfrm>
          <a:prstGeom prst="rect">
            <a:avLst/>
          </a:prstGeom>
          <a:noFill/>
        </p:spPr>
        <p:txBody>
          <a:bodyPr wrap="square" rtlCol="0">
            <a:spAutoFit/>
          </a:bodyPr>
          <a:lstStyle/>
          <a:p>
            <a:r>
              <a:rPr lang="en-US" dirty="0"/>
              <a:t>so the value stored at address 4 is really 99… but whenever you print it out it's automatically converted to the letter c</a:t>
            </a:r>
          </a:p>
        </p:txBody>
      </p:sp>
      <p:sp>
        <p:nvSpPr>
          <p:cNvPr id="57" name="Frame 56">
            <a:extLst>
              <a:ext uri="{FF2B5EF4-FFF2-40B4-BE49-F238E27FC236}">
                <a16:creationId xmlns:a16="http://schemas.microsoft.com/office/drawing/2014/main" id="{593A0938-28B2-C345-B668-EA9CED2A92FD}"/>
              </a:ext>
            </a:extLst>
          </p:cNvPr>
          <p:cNvSpPr/>
          <p:nvPr/>
        </p:nvSpPr>
        <p:spPr>
          <a:xfrm>
            <a:off x="1878361" y="2256902"/>
            <a:ext cx="956915" cy="185530"/>
          </a:xfrm>
          <a:prstGeom prst="frame">
            <a:avLst>
              <a:gd name="adj1" fmla="val 12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9723836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 (now with strings)</a:t>
            </a:r>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4425324" cy="5221510"/>
          </a:xfrm>
        </p:spPr>
        <p:txBody>
          <a:bodyPr>
            <a:normAutofit/>
          </a:bodyPr>
          <a:lstStyle/>
          <a:p>
            <a:r>
              <a:rPr lang="en-US" dirty="0"/>
              <a:t>Okay, but what if we want to store whole words?</a:t>
            </a:r>
            <a:br>
              <a:rPr lang="en-US" dirty="0"/>
            </a:br>
            <a:endParaRPr lang="en-US" dirty="0"/>
          </a:p>
          <a:p>
            <a:r>
              <a:rPr lang="en-US" dirty="0"/>
              <a:t>we have to include the </a:t>
            </a:r>
            <a:r>
              <a:rPr lang="en-US" i="1" dirty="0"/>
              <a:t>string library, </a:t>
            </a:r>
            <a:r>
              <a:rPr lang="en-US" dirty="0"/>
              <a:t>like so:</a:t>
            </a:r>
            <a:br>
              <a:rPr lang="en-US" dirty="0"/>
            </a:br>
            <a:endParaRPr lang="en-US" dirty="0"/>
          </a:p>
        </p:txBody>
      </p:sp>
      <p:sp>
        <p:nvSpPr>
          <p:cNvPr id="41" name="Frame 40">
            <a:extLst>
              <a:ext uri="{FF2B5EF4-FFF2-40B4-BE49-F238E27FC236}">
                <a16:creationId xmlns:a16="http://schemas.microsoft.com/office/drawing/2014/main" id="{2A16D8B7-F90E-F34C-9B58-F90E21D521DC}"/>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Frame 41">
            <a:extLst>
              <a:ext uri="{FF2B5EF4-FFF2-40B4-BE49-F238E27FC236}">
                <a16:creationId xmlns:a16="http://schemas.microsoft.com/office/drawing/2014/main" id="{E3E12EF2-CDD0-A745-93F4-E62BA1EFB22E}"/>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ame 42">
            <a:extLst>
              <a:ext uri="{FF2B5EF4-FFF2-40B4-BE49-F238E27FC236}">
                <a16:creationId xmlns:a16="http://schemas.microsoft.com/office/drawing/2014/main" id="{06FCE978-CAA5-C245-B168-3FA6C362A168}"/>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69B2A7CC-D85A-D946-9DD1-D3A5BBAA6EE1}"/>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C526EB70-E934-4947-B5FF-CA29A86E4B86}"/>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F5EB4B8B-46A9-AE40-A3B1-CB5EC80B57DF}"/>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BAE03EB0-9E24-0749-B357-FFEA3B78DDD8}"/>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7633D81D-CEB3-954A-B118-499F32E72399}"/>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Rectangle 48">
            <a:extLst>
              <a:ext uri="{FF2B5EF4-FFF2-40B4-BE49-F238E27FC236}">
                <a16:creationId xmlns:a16="http://schemas.microsoft.com/office/drawing/2014/main" id="{7A4FCF02-1BE7-EF42-8F4C-D3444811B097}"/>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DA98E8F-5BE9-354A-B0BE-5DA1DEE5F8FF}"/>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2" name="Rectangle 51">
            <a:extLst>
              <a:ext uri="{FF2B5EF4-FFF2-40B4-BE49-F238E27FC236}">
                <a16:creationId xmlns:a16="http://schemas.microsoft.com/office/drawing/2014/main" id="{ABA7CE8F-5377-D245-AAAF-37467F19C68A}"/>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12CB6BB-6270-FD45-9926-C84F2C917AEA}"/>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a:extLst>
              <a:ext uri="{FF2B5EF4-FFF2-40B4-BE49-F238E27FC236}">
                <a16:creationId xmlns:a16="http://schemas.microsoft.com/office/drawing/2014/main" id="{A0EC07ED-027E-AE4F-A708-A6F3B8B0A5F2}"/>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11522CA-E3D7-0249-B1FE-01D56ECBD3DE}"/>
              </a:ext>
            </a:extLst>
          </p:cNvPr>
          <p:cNvSpPr txBox="1"/>
          <p:nvPr/>
        </p:nvSpPr>
        <p:spPr>
          <a:xfrm>
            <a:off x="5116359" y="4999512"/>
            <a:ext cx="418704" cy="369332"/>
          </a:xfrm>
          <a:prstGeom prst="rect">
            <a:avLst/>
          </a:prstGeom>
          <a:noFill/>
        </p:spPr>
        <p:txBody>
          <a:bodyPr wrap="none" rtlCol="0">
            <a:spAutoFit/>
          </a:bodyPr>
          <a:lstStyle/>
          <a:p>
            <a:r>
              <a:rPr lang="en-US" dirty="0"/>
              <a:t>23</a:t>
            </a:r>
          </a:p>
        </p:txBody>
      </p:sp>
      <p:sp>
        <p:nvSpPr>
          <p:cNvPr id="56" name="TextBox 55">
            <a:extLst>
              <a:ext uri="{FF2B5EF4-FFF2-40B4-BE49-F238E27FC236}">
                <a16:creationId xmlns:a16="http://schemas.microsoft.com/office/drawing/2014/main" id="{715B2414-82EF-2744-A4A8-4C3D32D39E34}"/>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8" name="TextBox 57">
            <a:extLst>
              <a:ext uri="{FF2B5EF4-FFF2-40B4-BE49-F238E27FC236}">
                <a16:creationId xmlns:a16="http://schemas.microsoft.com/office/drawing/2014/main" id="{AFC65253-6504-A643-B7EF-7604F8B5B70E}"/>
              </a:ext>
            </a:extLst>
          </p:cNvPr>
          <p:cNvSpPr txBox="1"/>
          <p:nvPr/>
        </p:nvSpPr>
        <p:spPr>
          <a:xfrm>
            <a:off x="7266793" y="5036509"/>
            <a:ext cx="665760" cy="276999"/>
          </a:xfrm>
          <a:prstGeom prst="rect">
            <a:avLst/>
          </a:prstGeom>
          <a:noFill/>
        </p:spPr>
        <p:txBody>
          <a:bodyPr wrap="none" rtlCol="0">
            <a:spAutoFit/>
          </a:bodyPr>
          <a:lstStyle/>
          <a:p>
            <a:r>
              <a:rPr lang="en-US" sz="1200" dirty="0"/>
              <a:t>"world"</a:t>
            </a:r>
          </a:p>
        </p:txBody>
      </p:sp>
      <p:sp>
        <p:nvSpPr>
          <p:cNvPr id="61" name="TextBox 60">
            <a:extLst>
              <a:ext uri="{FF2B5EF4-FFF2-40B4-BE49-F238E27FC236}">
                <a16:creationId xmlns:a16="http://schemas.microsoft.com/office/drawing/2014/main" id="{40D9B277-6A17-FB46-8212-BC48E5BEEC7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2" name="TextBox 61">
            <a:extLst>
              <a:ext uri="{FF2B5EF4-FFF2-40B4-BE49-F238E27FC236}">
                <a16:creationId xmlns:a16="http://schemas.microsoft.com/office/drawing/2014/main" id="{7D31C9A4-8A48-514A-BB19-782C0C12DC4E}"/>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3" name="TextBox 62">
            <a:extLst>
              <a:ext uri="{FF2B5EF4-FFF2-40B4-BE49-F238E27FC236}">
                <a16:creationId xmlns:a16="http://schemas.microsoft.com/office/drawing/2014/main" id="{82DC134A-80FA-084F-BA33-9A9DE65AAD87}"/>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4" name="TextBox 63">
            <a:extLst>
              <a:ext uri="{FF2B5EF4-FFF2-40B4-BE49-F238E27FC236}">
                <a16:creationId xmlns:a16="http://schemas.microsoft.com/office/drawing/2014/main" id="{0E64FE62-5890-904C-9691-1CC1B1CAA5B4}"/>
              </a:ext>
            </a:extLst>
          </p:cNvPr>
          <p:cNvSpPr txBox="1"/>
          <p:nvPr/>
        </p:nvSpPr>
        <p:spPr>
          <a:xfrm>
            <a:off x="6723994" y="5758962"/>
            <a:ext cx="301686" cy="369332"/>
          </a:xfrm>
          <a:prstGeom prst="rect">
            <a:avLst/>
          </a:prstGeom>
          <a:noFill/>
        </p:spPr>
        <p:txBody>
          <a:bodyPr wrap="square" rtlCol="0">
            <a:spAutoFit/>
          </a:bodyPr>
          <a:lstStyle/>
          <a:p>
            <a:r>
              <a:rPr lang="en-US" dirty="0"/>
              <a:t>2</a:t>
            </a:r>
          </a:p>
        </p:txBody>
      </p:sp>
      <p:sp>
        <p:nvSpPr>
          <p:cNvPr id="65" name="TextBox 64">
            <a:extLst>
              <a:ext uri="{FF2B5EF4-FFF2-40B4-BE49-F238E27FC236}">
                <a16:creationId xmlns:a16="http://schemas.microsoft.com/office/drawing/2014/main" id="{5CA465AF-21FD-004B-88C0-94FCD1599E22}"/>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6" name="TextBox 65">
            <a:extLst>
              <a:ext uri="{FF2B5EF4-FFF2-40B4-BE49-F238E27FC236}">
                <a16:creationId xmlns:a16="http://schemas.microsoft.com/office/drawing/2014/main" id="{3075322A-109D-EA4A-8FF2-6E419894AC25}"/>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7" name="TextBox 66">
            <a:extLst>
              <a:ext uri="{FF2B5EF4-FFF2-40B4-BE49-F238E27FC236}">
                <a16:creationId xmlns:a16="http://schemas.microsoft.com/office/drawing/2014/main" id="{096A62DF-40FB-B343-8CE1-2BA78F6AEDCA}"/>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8" name="TextBox 67">
            <a:extLst>
              <a:ext uri="{FF2B5EF4-FFF2-40B4-BE49-F238E27FC236}">
                <a16:creationId xmlns:a16="http://schemas.microsoft.com/office/drawing/2014/main" id="{0F87E5B1-BCA3-2C42-8D7E-6DA0BBCB1FED}"/>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69" name="TextBox 68">
            <a:extLst>
              <a:ext uri="{FF2B5EF4-FFF2-40B4-BE49-F238E27FC236}">
                <a16:creationId xmlns:a16="http://schemas.microsoft.com/office/drawing/2014/main" id="{9874F8A7-C905-864C-8B36-D7136A7B8832}"/>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0" name="TextBox 69">
            <a:extLst>
              <a:ext uri="{FF2B5EF4-FFF2-40B4-BE49-F238E27FC236}">
                <a16:creationId xmlns:a16="http://schemas.microsoft.com/office/drawing/2014/main" id="{EC0C6C00-B7E7-F246-A912-7BBFC3CEECA5}"/>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6" name="TextBox 5">
            <a:extLst>
              <a:ext uri="{FF2B5EF4-FFF2-40B4-BE49-F238E27FC236}">
                <a16:creationId xmlns:a16="http://schemas.microsoft.com/office/drawing/2014/main" id="{8DE3E552-562D-FB49-88D1-5444BE006B4C}"/>
              </a:ext>
            </a:extLst>
          </p:cNvPr>
          <p:cNvSpPr txBox="1"/>
          <p:nvPr/>
        </p:nvSpPr>
        <p:spPr>
          <a:xfrm>
            <a:off x="6613726" y="4995405"/>
            <a:ext cx="535724" cy="369332"/>
          </a:xfrm>
          <a:prstGeom prst="rect">
            <a:avLst/>
          </a:prstGeom>
          <a:noFill/>
        </p:spPr>
        <p:txBody>
          <a:bodyPr wrap="none" rtlCol="0">
            <a:spAutoFit/>
          </a:bodyPr>
          <a:lstStyle/>
          <a:p>
            <a:r>
              <a:rPr lang="en-US" dirty="0"/>
              <a:t>137</a:t>
            </a:r>
          </a:p>
        </p:txBody>
      </p:sp>
      <p:pic>
        <p:nvPicPr>
          <p:cNvPr id="4" name="Picture 3">
            <a:extLst>
              <a:ext uri="{FF2B5EF4-FFF2-40B4-BE49-F238E27FC236}">
                <a16:creationId xmlns:a16="http://schemas.microsoft.com/office/drawing/2014/main" id="{36B60DDF-8BBE-2144-9E89-F1C47E98552A}"/>
              </a:ext>
            </a:extLst>
          </p:cNvPr>
          <p:cNvPicPr>
            <a:picLocks noChangeAspect="1"/>
          </p:cNvPicPr>
          <p:nvPr/>
        </p:nvPicPr>
        <p:blipFill>
          <a:blip r:embed="rId2"/>
          <a:stretch>
            <a:fillRect/>
          </a:stretch>
        </p:blipFill>
        <p:spPr>
          <a:xfrm>
            <a:off x="4799062" y="1272223"/>
            <a:ext cx="7137400" cy="3098800"/>
          </a:xfrm>
          <a:prstGeom prst="rect">
            <a:avLst/>
          </a:prstGeom>
        </p:spPr>
      </p:pic>
      <p:sp>
        <p:nvSpPr>
          <p:cNvPr id="34" name="Right Arrow 33">
            <a:extLst>
              <a:ext uri="{FF2B5EF4-FFF2-40B4-BE49-F238E27FC236}">
                <a16:creationId xmlns:a16="http://schemas.microsoft.com/office/drawing/2014/main" id="{B1070C7D-DCB8-8C4C-BEDB-BBD723C5FE67}"/>
              </a:ext>
            </a:extLst>
          </p:cNvPr>
          <p:cNvSpPr/>
          <p:nvPr/>
        </p:nvSpPr>
        <p:spPr>
          <a:xfrm rot="20048398" flipV="1">
            <a:off x="4141692" y="1733657"/>
            <a:ext cx="957884" cy="4983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ame 35">
            <a:extLst>
              <a:ext uri="{FF2B5EF4-FFF2-40B4-BE49-F238E27FC236}">
                <a16:creationId xmlns:a16="http://schemas.microsoft.com/office/drawing/2014/main" id="{76B77D1E-6544-7D4C-B883-2B504FEED6D6}"/>
              </a:ext>
            </a:extLst>
          </p:cNvPr>
          <p:cNvSpPr/>
          <p:nvPr/>
        </p:nvSpPr>
        <p:spPr>
          <a:xfrm>
            <a:off x="5160295" y="1495076"/>
            <a:ext cx="1989155" cy="377932"/>
          </a:xfrm>
          <a:prstGeom prst="frame">
            <a:avLst>
              <a:gd name="adj1" fmla="val 12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Tree>
    <p:extLst>
      <p:ext uri="{BB962C8B-B14F-4D97-AF65-F5344CB8AC3E}">
        <p14:creationId xmlns:p14="http://schemas.microsoft.com/office/powerpoint/2010/main" val="31428960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 (now with strings)</a:t>
            </a:r>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4425324" cy="5221510"/>
          </a:xfrm>
        </p:spPr>
        <p:txBody>
          <a:bodyPr>
            <a:normAutofit lnSpcReduction="10000"/>
          </a:bodyPr>
          <a:lstStyle/>
          <a:p>
            <a:r>
              <a:rPr lang="en-US" dirty="0"/>
              <a:t>Okay, but what if we want to store whole words?</a:t>
            </a:r>
            <a:br>
              <a:rPr lang="en-US" dirty="0"/>
            </a:br>
            <a:endParaRPr lang="en-US" dirty="0"/>
          </a:p>
          <a:p>
            <a:r>
              <a:rPr lang="en-US" dirty="0"/>
              <a:t>We have to include the </a:t>
            </a:r>
            <a:r>
              <a:rPr lang="en-US" i="1" dirty="0"/>
              <a:t>string library, </a:t>
            </a:r>
            <a:r>
              <a:rPr lang="en-US" dirty="0"/>
              <a:t>like so:</a:t>
            </a:r>
            <a:br>
              <a:rPr lang="en-US" dirty="0"/>
            </a:br>
            <a:endParaRPr lang="en-US" dirty="0"/>
          </a:p>
          <a:p>
            <a:r>
              <a:rPr lang="en-US" dirty="0"/>
              <a:t>Then we declare a variable of type "string." This sets aside space in memory for a whole bunch of characters. We name this string </a:t>
            </a:r>
            <a:r>
              <a:rPr lang="en-US" dirty="0">
                <a:solidFill>
                  <a:srgbClr val="FF0000"/>
                </a:solidFill>
              </a:rPr>
              <a:t>greeting</a:t>
            </a:r>
            <a:r>
              <a:rPr lang="en-US" dirty="0"/>
              <a:t>, and store the value "Hello!" there.</a:t>
            </a:r>
            <a:br>
              <a:rPr lang="en-US" dirty="0"/>
            </a:br>
            <a:endParaRPr lang="en-US" dirty="0"/>
          </a:p>
        </p:txBody>
      </p:sp>
      <p:sp>
        <p:nvSpPr>
          <p:cNvPr id="41" name="Frame 40">
            <a:extLst>
              <a:ext uri="{FF2B5EF4-FFF2-40B4-BE49-F238E27FC236}">
                <a16:creationId xmlns:a16="http://schemas.microsoft.com/office/drawing/2014/main" id="{2A16D8B7-F90E-F34C-9B58-F90E21D521DC}"/>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Frame 41">
            <a:extLst>
              <a:ext uri="{FF2B5EF4-FFF2-40B4-BE49-F238E27FC236}">
                <a16:creationId xmlns:a16="http://schemas.microsoft.com/office/drawing/2014/main" id="{E3E12EF2-CDD0-A745-93F4-E62BA1EFB22E}"/>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ame 42">
            <a:extLst>
              <a:ext uri="{FF2B5EF4-FFF2-40B4-BE49-F238E27FC236}">
                <a16:creationId xmlns:a16="http://schemas.microsoft.com/office/drawing/2014/main" id="{06FCE978-CAA5-C245-B168-3FA6C362A168}"/>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69B2A7CC-D85A-D946-9DD1-D3A5BBAA6EE1}"/>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C526EB70-E934-4947-B5FF-CA29A86E4B86}"/>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F5EB4B8B-46A9-AE40-A3B1-CB5EC80B57DF}"/>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BAE03EB0-9E24-0749-B357-FFEA3B78DDD8}"/>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7633D81D-CEB3-954A-B118-499F32E72399}"/>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Rectangle 48">
            <a:extLst>
              <a:ext uri="{FF2B5EF4-FFF2-40B4-BE49-F238E27FC236}">
                <a16:creationId xmlns:a16="http://schemas.microsoft.com/office/drawing/2014/main" id="{7A4FCF02-1BE7-EF42-8F4C-D3444811B097}"/>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DA98E8F-5BE9-354A-B0BE-5DA1DEE5F8FF}"/>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2" name="Rectangle 51">
            <a:extLst>
              <a:ext uri="{FF2B5EF4-FFF2-40B4-BE49-F238E27FC236}">
                <a16:creationId xmlns:a16="http://schemas.microsoft.com/office/drawing/2014/main" id="{ABA7CE8F-5377-D245-AAAF-37467F19C68A}"/>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12CB6BB-6270-FD45-9926-C84F2C917AEA}"/>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a:extLst>
              <a:ext uri="{FF2B5EF4-FFF2-40B4-BE49-F238E27FC236}">
                <a16:creationId xmlns:a16="http://schemas.microsoft.com/office/drawing/2014/main" id="{A0EC07ED-027E-AE4F-A708-A6F3B8B0A5F2}"/>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11522CA-E3D7-0249-B1FE-01D56ECBD3DE}"/>
              </a:ext>
            </a:extLst>
          </p:cNvPr>
          <p:cNvSpPr txBox="1"/>
          <p:nvPr/>
        </p:nvSpPr>
        <p:spPr>
          <a:xfrm>
            <a:off x="5116359" y="4999512"/>
            <a:ext cx="418704" cy="369332"/>
          </a:xfrm>
          <a:prstGeom prst="rect">
            <a:avLst/>
          </a:prstGeom>
          <a:noFill/>
        </p:spPr>
        <p:txBody>
          <a:bodyPr wrap="none" rtlCol="0">
            <a:spAutoFit/>
          </a:bodyPr>
          <a:lstStyle/>
          <a:p>
            <a:r>
              <a:rPr lang="en-US" dirty="0"/>
              <a:t>23</a:t>
            </a:r>
          </a:p>
        </p:txBody>
      </p:sp>
      <p:sp>
        <p:nvSpPr>
          <p:cNvPr id="56" name="TextBox 55">
            <a:extLst>
              <a:ext uri="{FF2B5EF4-FFF2-40B4-BE49-F238E27FC236}">
                <a16:creationId xmlns:a16="http://schemas.microsoft.com/office/drawing/2014/main" id="{715B2414-82EF-2744-A4A8-4C3D32D39E34}"/>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8" name="TextBox 57">
            <a:extLst>
              <a:ext uri="{FF2B5EF4-FFF2-40B4-BE49-F238E27FC236}">
                <a16:creationId xmlns:a16="http://schemas.microsoft.com/office/drawing/2014/main" id="{AFC65253-6504-A643-B7EF-7604F8B5B70E}"/>
              </a:ext>
            </a:extLst>
          </p:cNvPr>
          <p:cNvSpPr txBox="1"/>
          <p:nvPr/>
        </p:nvSpPr>
        <p:spPr>
          <a:xfrm>
            <a:off x="7266793" y="5036509"/>
            <a:ext cx="665760" cy="276999"/>
          </a:xfrm>
          <a:prstGeom prst="rect">
            <a:avLst/>
          </a:prstGeom>
          <a:noFill/>
        </p:spPr>
        <p:txBody>
          <a:bodyPr wrap="none" rtlCol="0">
            <a:spAutoFit/>
          </a:bodyPr>
          <a:lstStyle/>
          <a:p>
            <a:r>
              <a:rPr lang="en-US" sz="1200" dirty="0"/>
              <a:t>"world"</a:t>
            </a:r>
          </a:p>
        </p:txBody>
      </p:sp>
      <p:sp>
        <p:nvSpPr>
          <p:cNvPr id="61" name="TextBox 60">
            <a:extLst>
              <a:ext uri="{FF2B5EF4-FFF2-40B4-BE49-F238E27FC236}">
                <a16:creationId xmlns:a16="http://schemas.microsoft.com/office/drawing/2014/main" id="{40D9B277-6A17-FB46-8212-BC48E5BEEC7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2" name="TextBox 61">
            <a:extLst>
              <a:ext uri="{FF2B5EF4-FFF2-40B4-BE49-F238E27FC236}">
                <a16:creationId xmlns:a16="http://schemas.microsoft.com/office/drawing/2014/main" id="{7D31C9A4-8A48-514A-BB19-782C0C12DC4E}"/>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3" name="TextBox 62">
            <a:extLst>
              <a:ext uri="{FF2B5EF4-FFF2-40B4-BE49-F238E27FC236}">
                <a16:creationId xmlns:a16="http://schemas.microsoft.com/office/drawing/2014/main" id="{82DC134A-80FA-084F-BA33-9A9DE65AAD87}"/>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4" name="TextBox 63">
            <a:extLst>
              <a:ext uri="{FF2B5EF4-FFF2-40B4-BE49-F238E27FC236}">
                <a16:creationId xmlns:a16="http://schemas.microsoft.com/office/drawing/2014/main" id="{0E64FE62-5890-904C-9691-1CC1B1CAA5B4}"/>
              </a:ext>
            </a:extLst>
          </p:cNvPr>
          <p:cNvSpPr txBox="1"/>
          <p:nvPr/>
        </p:nvSpPr>
        <p:spPr>
          <a:xfrm>
            <a:off x="6723994" y="5758962"/>
            <a:ext cx="301686" cy="369332"/>
          </a:xfrm>
          <a:prstGeom prst="rect">
            <a:avLst/>
          </a:prstGeom>
          <a:noFill/>
        </p:spPr>
        <p:txBody>
          <a:bodyPr wrap="square" rtlCol="0">
            <a:spAutoFit/>
          </a:bodyPr>
          <a:lstStyle/>
          <a:p>
            <a:r>
              <a:rPr lang="en-US" dirty="0"/>
              <a:t>2</a:t>
            </a:r>
          </a:p>
        </p:txBody>
      </p:sp>
      <p:sp>
        <p:nvSpPr>
          <p:cNvPr id="65" name="TextBox 64">
            <a:extLst>
              <a:ext uri="{FF2B5EF4-FFF2-40B4-BE49-F238E27FC236}">
                <a16:creationId xmlns:a16="http://schemas.microsoft.com/office/drawing/2014/main" id="{5CA465AF-21FD-004B-88C0-94FCD1599E22}"/>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6" name="TextBox 65">
            <a:extLst>
              <a:ext uri="{FF2B5EF4-FFF2-40B4-BE49-F238E27FC236}">
                <a16:creationId xmlns:a16="http://schemas.microsoft.com/office/drawing/2014/main" id="{3075322A-109D-EA4A-8FF2-6E419894AC25}"/>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7" name="TextBox 66">
            <a:extLst>
              <a:ext uri="{FF2B5EF4-FFF2-40B4-BE49-F238E27FC236}">
                <a16:creationId xmlns:a16="http://schemas.microsoft.com/office/drawing/2014/main" id="{096A62DF-40FB-B343-8CE1-2BA78F6AEDCA}"/>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8" name="TextBox 67">
            <a:extLst>
              <a:ext uri="{FF2B5EF4-FFF2-40B4-BE49-F238E27FC236}">
                <a16:creationId xmlns:a16="http://schemas.microsoft.com/office/drawing/2014/main" id="{0F87E5B1-BCA3-2C42-8D7E-6DA0BBCB1FED}"/>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69" name="TextBox 68">
            <a:extLst>
              <a:ext uri="{FF2B5EF4-FFF2-40B4-BE49-F238E27FC236}">
                <a16:creationId xmlns:a16="http://schemas.microsoft.com/office/drawing/2014/main" id="{9874F8A7-C905-864C-8B36-D7136A7B8832}"/>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0" name="TextBox 69">
            <a:extLst>
              <a:ext uri="{FF2B5EF4-FFF2-40B4-BE49-F238E27FC236}">
                <a16:creationId xmlns:a16="http://schemas.microsoft.com/office/drawing/2014/main" id="{EC0C6C00-B7E7-F246-A912-7BBFC3CEECA5}"/>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6" name="TextBox 5">
            <a:extLst>
              <a:ext uri="{FF2B5EF4-FFF2-40B4-BE49-F238E27FC236}">
                <a16:creationId xmlns:a16="http://schemas.microsoft.com/office/drawing/2014/main" id="{8DE3E552-562D-FB49-88D1-5444BE006B4C}"/>
              </a:ext>
            </a:extLst>
          </p:cNvPr>
          <p:cNvSpPr txBox="1"/>
          <p:nvPr/>
        </p:nvSpPr>
        <p:spPr>
          <a:xfrm>
            <a:off x="6613726" y="4995405"/>
            <a:ext cx="535724" cy="369332"/>
          </a:xfrm>
          <a:prstGeom prst="rect">
            <a:avLst/>
          </a:prstGeom>
          <a:noFill/>
        </p:spPr>
        <p:txBody>
          <a:bodyPr wrap="none" rtlCol="0">
            <a:spAutoFit/>
          </a:bodyPr>
          <a:lstStyle/>
          <a:p>
            <a:r>
              <a:rPr lang="en-US" dirty="0"/>
              <a:t>137</a:t>
            </a:r>
          </a:p>
        </p:txBody>
      </p:sp>
      <p:pic>
        <p:nvPicPr>
          <p:cNvPr id="4" name="Picture 3">
            <a:extLst>
              <a:ext uri="{FF2B5EF4-FFF2-40B4-BE49-F238E27FC236}">
                <a16:creationId xmlns:a16="http://schemas.microsoft.com/office/drawing/2014/main" id="{36B60DDF-8BBE-2144-9E89-F1C47E98552A}"/>
              </a:ext>
            </a:extLst>
          </p:cNvPr>
          <p:cNvPicPr>
            <a:picLocks noChangeAspect="1"/>
          </p:cNvPicPr>
          <p:nvPr/>
        </p:nvPicPr>
        <p:blipFill>
          <a:blip r:embed="rId2"/>
          <a:stretch>
            <a:fillRect/>
          </a:stretch>
        </p:blipFill>
        <p:spPr>
          <a:xfrm>
            <a:off x="4799062" y="1272223"/>
            <a:ext cx="7137400" cy="3098800"/>
          </a:xfrm>
          <a:prstGeom prst="rect">
            <a:avLst/>
          </a:prstGeom>
        </p:spPr>
      </p:pic>
      <p:sp>
        <p:nvSpPr>
          <p:cNvPr id="34" name="Right Arrow 33">
            <a:extLst>
              <a:ext uri="{FF2B5EF4-FFF2-40B4-BE49-F238E27FC236}">
                <a16:creationId xmlns:a16="http://schemas.microsoft.com/office/drawing/2014/main" id="{B1070C7D-DCB8-8C4C-BEDB-BBD723C5FE67}"/>
              </a:ext>
            </a:extLst>
          </p:cNvPr>
          <p:cNvSpPr/>
          <p:nvPr/>
        </p:nvSpPr>
        <p:spPr>
          <a:xfrm rot="20048398" flipV="1">
            <a:off x="4542757" y="2872852"/>
            <a:ext cx="957884" cy="4983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ame 35">
            <a:extLst>
              <a:ext uri="{FF2B5EF4-FFF2-40B4-BE49-F238E27FC236}">
                <a16:creationId xmlns:a16="http://schemas.microsoft.com/office/drawing/2014/main" id="{76B77D1E-6544-7D4C-B883-2B504FEED6D6}"/>
              </a:ext>
            </a:extLst>
          </p:cNvPr>
          <p:cNvSpPr/>
          <p:nvPr/>
        </p:nvSpPr>
        <p:spPr>
          <a:xfrm>
            <a:off x="5561360" y="2756008"/>
            <a:ext cx="2856204" cy="377932"/>
          </a:xfrm>
          <a:prstGeom prst="frame">
            <a:avLst>
              <a:gd name="adj1" fmla="val 12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3913944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 (now with strings)</a:t>
            </a:r>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4425324" cy="5221510"/>
          </a:xfrm>
        </p:spPr>
        <p:txBody>
          <a:bodyPr>
            <a:normAutofit fontScale="92500" lnSpcReduction="20000"/>
          </a:bodyPr>
          <a:lstStyle/>
          <a:p>
            <a:r>
              <a:rPr lang="en-US" dirty="0"/>
              <a:t>There is another, older way to store strings in </a:t>
            </a:r>
            <a:r>
              <a:rPr lang="en-US" dirty="0" err="1"/>
              <a:t>c++</a:t>
            </a:r>
            <a:r>
              <a:rPr lang="en-US" dirty="0"/>
              <a:t>. These are called c-strings, and we'll talk about them when we have to. </a:t>
            </a:r>
          </a:p>
          <a:p>
            <a:endParaRPr lang="en-US" dirty="0"/>
          </a:p>
          <a:p>
            <a:r>
              <a:rPr lang="en-US" dirty="0"/>
              <a:t>(long story short: c-strings are just </a:t>
            </a:r>
            <a:r>
              <a:rPr lang="en-US" i="1" dirty="0"/>
              <a:t>arrays of characters. </a:t>
            </a:r>
            <a:r>
              <a:rPr lang="en-US" dirty="0"/>
              <a:t>They're slightly more efficient than </a:t>
            </a:r>
            <a:r>
              <a:rPr lang="en-US" dirty="0" err="1"/>
              <a:t>c++</a:t>
            </a:r>
            <a:r>
              <a:rPr lang="en-US" dirty="0"/>
              <a:t> style strings, but much more annoying to work with)</a:t>
            </a:r>
            <a:br>
              <a:rPr lang="en-US" dirty="0"/>
            </a:br>
            <a:endParaRPr lang="en-US" dirty="0"/>
          </a:p>
          <a:p>
            <a:r>
              <a:rPr lang="en-US" dirty="0"/>
              <a:t>(we'll talk about arrays in a few slides)</a:t>
            </a:r>
            <a:br>
              <a:rPr lang="en-US" dirty="0"/>
            </a:br>
            <a:endParaRPr lang="en-US" dirty="0"/>
          </a:p>
        </p:txBody>
      </p:sp>
      <p:sp>
        <p:nvSpPr>
          <p:cNvPr id="41" name="Frame 40">
            <a:extLst>
              <a:ext uri="{FF2B5EF4-FFF2-40B4-BE49-F238E27FC236}">
                <a16:creationId xmlns:a16="http://schemas.microsoft.com/office/drawing/2014/main" id="{2A16D8B7-F90E-F34C-9B58-F90E21D521DC}"/>
              </a:ext>
            </a:extLst>
          </p:cNvPr>
          <p:cNvSpPr/>
          <p:nvPr/>
        </p:nvSpPr>
        <p:spPr>
          <a:xfrm>
            <a:off x="10084701"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Frame 41">
            <a:extLst>
              <a:ext uri="{FF2B5EF4-FFF2-40B4-BE49-F238E27FC236}">
                <a16:creationId xmlns:a16="http://schemas.microsoft.com/office/drawing/2014/main" id="{E3E12EF2-CDD0-A745-93F4-E62BA1EFB22E}"/>
              </a:ext>
            </a:extLst>
          </p:cNvPr>
          <p:cNvSpPr/>
          <p:nvPr/>
        </p:nvSpPr>
        <p:spPr>
          <a:xfrm>
            <a:off x="4959507" y="47743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Frame 42">
            <a:extLst>
              <a:ext uri="{FF2B5EF4-FFF2-40B4-BE49-F238E27FC236}">
                <a16:creationId xmlns:a16="http://schemas.microsoft.com/office/drawing/2014/main" id="{06FCE978-CAA5-C245-B168-3FA6C362A168}"/>
              </a:ext>
            </a:extLst>
          </p:cNvPr>
          <p:cNvSpPr/>
          <p:nvPr/>
        </p:nvSpPr>
        <p:spPr>
          <a:xfrm>
            <a:off x="6493443" y="47743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Frame 43">
            <a:extLst>
              <a:ext uri="{FF2B5EF4-FFF2-40B4-BE49-F238E27FC236}">
                <a16:creationId xmlns:a16="http://schemas.microsoft.com/office/drawing/2014/main" id="{69B2A7CC-D85A-D946-9DD1-D3A5BBAA6EE1}"/>
              </a:ext>
            </a:extLst>
          </p:cNvPr>
          <p:cNvSpPr/>
          <p:nvPr/>
        </p:nvSpPr>
        <p:spPr>
          <a:xfrm>
            <a:off x="7218279"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Frame 44">
            <a:extLst>
              <a:ext uri="{FF2B5EF4-FFF2-40B4-BE49-F238E27FC236}">
                <a16:creationId xmlns:a16="http://schemas.microsoft.com/office/drawing/2014/main" id="{C526EB70-E934-4947-B5FF-CA29A86E4B86}"/>
              </a:ext>
            </a:extLst>
          </p:cNvPr>
          <p:cNvSpPr/>
          <p:nvPr/>
        </p:nvSpPr>
        <p:spPr>
          <a:xfrm>
            <a:off x="7943115" y="477438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Frame 45">
            <a:extLst>
              <a:ext uri="{FF2B5EF4-FFF2-40B4-BE49-F238E27FC236}">
                <a16:creationId xmlns:a16="http://schemas.microsoft.com/office/drawing/2014/main" id="{F5EB4B8B-46A9-AE40-A3B1-CB5EC80B57DF}"/>
              </a:ext>
            </a:extLst>
          </p:cNvPr>
          <p:cNvSpPr/>
          <p:nvPr/>
        </p:nvSpPr>
        <p:spPr>
          <a:xfrm>
            <a:off x="8627857" y="477390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7" name="Frame 46">
            <a:extLst>
              <a:ext uri="{FF2B5EF4-FFF2-40B4-BE49-F238E27FC236}">
                <a16:creationId xmlns:a16="http://schemas.microsoft.com/office/drawing/2014/main" id="{BAE03EB0-9E24-0749-B357-FFEA3B78DDD8}"/>
              </a:ext>
            </a:extLst>
          </p:cNvPr>
          <p:cNvSpPr/>
          <p:nvPr/>
        </p:nvSpPr>
        <p:spPr>
          <a:xfrm>
            <a:off x="5722295" y="4774390"/>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Frame 47">
            <a:extLst>
              <a:ext uri="{FF2B5EF4-FFF2-40B4-BE49-F238E27FC236}">
                <a16:creationId xmlns:a16="http://schemas.microsoft.com/office/drawing/2014/main" id="{7633D81D-CEB3-954A-B118-499F32E72399}"/>
              </a:ext>
            </a:extLst>
          </p:cNvPr>
          <p:cNvSpPr/>
          <p:nvPr/>
        </p:nvSpPr>
        <p:spPr>
          <a:xfrm>
            <a:off x="9385278" y="477341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9" name="Rectangle 48">
            <a:extLst>
              <a:ext uri="{FF2B5EF4-FFF2-40B4-BE49-F238E27FC236}">
                <a16:creationId xmlns:a16="http://schemas.microsoft.com/office/drawing/2014/main" id="{7A4FCF02-1BE7-EF42-8F4C-D3444811B097}"/>
              </a:ext>
            </a:extLst>
          </p:cNvPr>
          <p:cNvSpPr/>
          <p:nvPr/>
        </p:nvSpPr>
        <p:spPr>
          <a:xfrm>
            <a:off x="10499867" y="4717809"/>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DA98E8F-5BE9-354A-B0BE-5DA1DEE5F8FF}"/>
              </a:ext>
            </a:extLst>
          </p:cNvPr>
          <p:cNvSpPr txBox="1"/>
          <p:nvPr/>
        </p:nvSpPr>
        <p:spPr>
          <a:xfrm>
            <a:off x="10241244" y="5016125"/>
            <a:ext cx="418704" cy="369332"/>
          </a:xfrm>
          <a:prstGeom prst="rect">
            <a:avLst/>
          </a:prstGeom>
          <a:noFill/>
        </p:spPr>
        <p:txBody>
          <a:bodyPr wrap="none" rtlCol="0">
            <a:spAutoFit/>
          </a:bodyPr>
          <a:lstStyle/>
          <a:p>
            <a:r>
              <a:rPr lang="en-US" dirty="0"/>
              <a:t>23</a:t>
            </a:r>
          </a:p>
        </p:txBody>
      </p:sp>
      <p:sp>
        <p:nvSpPr>
          <p:cNvPr id="52" name="Rectangle 51">
            <a:extLst>
              <a:ext uri="{FF2B5EF4-FFF2-40B4-BE49-F238E27FC236}">
                <a16:creationId xmlns:a16="http://schemas.microsoft.com/office/drawing/2014/main" id="{ABA7CE8F-5377-D245-AAAF-37467F19C68A}"/>
              </a:ext>
            </a:extLst>
          </p:cNvPr>
          <p:cNvSpPr/>
          <p:nvPr/>
        </p:nvSpPr>
        <p:spPr>
          <a:xfrm>
            <a:off x="10489139" y="4809034"/>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12CB6BB-6270-FD45-9926-C84F2C917AEA}"/>
              </a:ext>
            </a:extLst>
          </p:cNvPr>
          <p:cNvSpPr/>
          <p:nvPr/>
        </p:nvSpPr>
        <p:spPr>
          <a:xfrm>
            <a:off x="4959506" y="4774391"/>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53">
            <a:extLst>
              <a:ext uri="{FF2B5EF4-FFF2-40B4-BE49-F238E27FC236}">
                <a16:creationId xmlns:a16="http://schemas.microsoft.com/office/drawing/2014/main" id="{A0EC07ED-027E-AE4F-A708-A6F3B8B0A5F2}"/>
              </a:ext>
            </a:extLst>
          </p:cNvPr>
          <p:cNvSpPr/>
          <p:nvPr/>
        </p:nvSpPr>
        <p:spPr>
          <a:xfrm>
            <a:off x="10687046" y="4921882"/>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711522CA-E3D7-0249-B1FE-01D56ECBD3DE}"/>
              </a:ext>
            </a:extLst>
          </p:cNvPr>
          <p:cNvSpPr txBox="1"/>
          <p:nvPr/>
        </p:nvSpPr>
        <p:spPr>
          <a:xfrm>
            <a:off x="5116359" y="4999512"/>
            <a:ext cx="418704" cy="369332"/>
          </a:xfrm>
          <a:prstGeom prst="rect">
            <a:avLst/>
          </a:prstGeom>
          <a:noFill/>
        </p:spPr>
        <p:txBody>
          <a:bodyPr wrap="none" rtlCol="0">
            <a:spAutoFit/>
          </a:bodyPr>
          <a:lstStyle/>
          <a:p>
            <a:r>
              <a:rPr lang="en-US" dirty="0"/>
              <a:t>23</a:t>
            </a:r>
          </a:p>
        </p:txBody>
      </p:sp>
      <p:sp>
        <p:nvSpPr>
          <p:cNvPr id="56" name="TextBox 55">
            <a:extLst>
              <a:ext uri="{FF2B5EF4-FFF2-40B4-BE49-F238E27FC236}">
                <a16:creationId xmlns:a16="http://schemas.microsoft.com/office/drawing/2014/main" id="{715B2414-82EF-2744-A4A8-4C3D32D39E34}"/>
              </a:ext>
            </a:extLst>
          </p:cNvPr>
          <p:cNvSpPr txBox="1"/>
          <p:nvPr/>
        </p:nvSpPr>
        <p:spPr>
          <a:xfrm>
            <a:off x="5894910" y="4995405"/>
            <a:ext cx="418704" cy="369332"/>
          </a:xfrm>
          <a:prstGeom prst="rect">
            <a:avLst/>
          </a:prstGeom>
          <a:noFill/>
        </p:spPr>
        <p:txBody>
          <a:bodyPr wrap="none" rtlCol="0">
            <a:spAutoFit/>
          </a:bodyPr>
          <a:lstStyle/>
          <a:p>
            <a:r>
              <a:rPr lang="en-US" dirty="0"/>
              <a:t>42</a:t>
            </a:r>
          </a:p>
        </p:txBody>
      </p:sp>
      <p:sp>
        <p:nvSpPr>
          <p:cNvPr id="58" name="TextBox 57">
            <a:extLst>
              <a:ext uri="{FF2B5EF4-FFF2-40B4-BE49-F238E27FC236}">
                <a16:creationId xmlns:a16="http://schemas.microsoft.com/office/drawing/2014/main" id="{AFC65253-6504-A643-B7EF-7604F8B5B70E}"/>
              </a:ext>
            </a:extLst>
          </p:cNvPr>
          <p:cNvSpPr txBox="1"/>
          <p:nvPr/>
        </p:nvSpPr>
        <p:spPr>
          <a:xfrm>
            <a:off x="7266793" y="5036509"/>
            <a:ext cx="665760" cy="276999"/>
          </a:xfrm>
          <a:prstGeom prst="rect">
            <a:avLst/>
          </a:prstGeom>
          <a:noFill/>
        </p:spPr>
        <p:txBody>
          <a:bodyPr wrap="none" rtlCol="0">
            <a:spAutoFit/>
          </a:bodyPr>
          <a:lstStyle/>
          <a:p>
            <a:r>
              <a:rPr lang="en-US" sz="1200" dirty="0"/>
              <a:t>"world"</a:t>
            </a:r>
          </a:p>
        </p:txBody>
      </p:sp>
      <p:sp>
        <p:nvSpPr>
          <p:cNvPr id="61" name="TextBox 60">
            <a:extLst>
              <a:ext uri="{FF2B5EF4-FFF2-40B4-BE49-F238E27FC236}">
                <a16:creationId xmlns:a16="http://schemas.microsoft.com/office/drawing/2014/main" id="{40D9B277-6A17-FB46-8212-BC48E5BEEC7D}"/>
              </a:ext>
            </a:extLst>
          </p:cNvPr>
          <p:cNvSpPr txBox="1"/>
          <p:nvPr/>
        </p:nvSpPr>
        <p:spPr>
          <a:xfrm>
            <a:off x="9344506" y="4844148"/>
            <a:ext cx="1027290" cy="661720"/>
          </a:xfrm>
          <a:prstGeom prst="rect">
            <a:avLst/>
          </a:prstGeom>
          <a:noFill/>
        </p:spPr>
        <p:txBody>
          <a:bodyPr wrap="square" rtlCol="0">
            <a:spAutoFit/>
          </a:bodyPr>
          <a:lstStyle/>
          <a:p>
            <a:endParaRPr lang="ja-JP" altLang="en-US" sz="1200"/>
          </a:p>
          <a:p>
            <a:r>
              <a:rPr lang="en-US" sz="1300" dirty="0"/>
              <a:t>「</a:t>
            </a:r>
            <a:r>
              <a:rPr lang="zh-CN" altLang="en-US" sz="1300" dirty="0"/>
              <a:t>你好</a:t>
            </a:r>
            <a:r>
              <a:rPr lang="en-US" sz="1300" dirty="0"/>
              <a:t>」</a:t>
            </a:r>
            <a:endParaRPr lang="ja-JP" altLang="en-US" sz="1300"/>
          </a:p>
          <a:p>
            <a:endParaRPr lang="en-US" sz="1200" dirty="0"/>
          </a:p>
        </p:txBody>
      </p:sp>
      <p:sp>
        <p:nvSpPr>
          <p:cNvPr id="62" name="TextBox 61">
            <a:extLst>
              <a:ext uri="{FF2B5EF4-FFF2-40B4-BE49-F238E27FC236}">
                <a16:creationId xmlns:a16="http://schemas.microsoft.com/office/drawing/2014/main" id="{7D31C9A4-8A48-514A-BB19-782C0C12DC4E}"/>
              </a:ext>
            </a:extLst>
          </p:cNvPr>
          <p:cNvSpPr txBox="1"/>
          <p:nvPr/>
        </p:nvSpPr>
        <p:spPr>
          <a:xfrm>
            <a:off x="5190058" y="5758962"/>
            <a:ext cx="301686" cy="369332"/>
          </a:xfrm>
          <a:prstGeom prst="rect">
            <a:avLst/>
          </a:prstGeom>
          <a:noFill/>
        </p:spPr>
        <p:txBody>
          <a:bodyPr wrap="none" rtlCol="0">
            <a:spAutoFit/>
          </a:bodyPr>
          <a:lstStyle/>
          <a:p>
            <a:r>
              <a:rPr lang="en-US" dirty="0"/>
              <a:t>0</a:t>
            </a:r>
          </a:p>
        </p:txBody>
      </p:sp>
      <p:sp>
        <p:nvSpPr>
          <p:cNvPr id="63" name="TextBox 62">
            <a:extLst>
              <a:ext uri="{FF2B5EF4-FFF2-40B4-BE49-F238E27FC236}">
                <a16:creationId xmlns:a16="http://schemas.microsoft.com/office/drawing/2014/main" id="{82DC134A-80FA-084F-BA33-9A9DE65AAD87}"/>
              </a:ext>
            </a:extLst>
          </p:cNvPr>
          <p:cNvSpPr txBox="1"/>
          <p:nvPr/>
        </p:nvSpPr>
        <p:spPr>
          <a:xfrm>
            <a:off x="5952846" y="5758962"/>
            <a:ext cx="301686" cy="369332"/>
          </a:xfrm>
          <a:prstGeom prst="rect">
            <a:avLst/>
          </a:prstGeom>
          <a:noFill/>
        </p:spPr>
        <p:txBody>
          <a:bodyPr wrap="square" rtlCol="0">
            <a:spAutoFit/>
          </a:bodyPr>
          <a:lstStyle/>
          <a:p>
            <a:r>
              <a:rPr lang="en-US" dirty="0"/>
              <a:t>1</a:t>
            </a:r>
          </a:p>
        </p:txBody>
      </p:sp>
      <p:sp>
        <p:nvSpPr>
          <p:cNvPr id="64" name="TextBox 63">
            <a:extLst>
              <a:ext uri="{FF2B5EF4-FFF2-40B4-BE49-F238E27FC236}">
                <a16:creationId xmlns:a16="http://schemas.microsoft.com/office/drawing/2014/main" id="{0E64FE62-5890-904C-9691-1CC1B1CAA5B4}"/>
              </a:ext>
            </a:extLst>
          </p:cNvPr>
          <p:cNvSpPr txBox="1"/>
          <p:nvPr/>
        </p:nvSpPr>
        <p:spPr>
          <a:xfrm>
            <a:off x="6723994" y="5758962"/>
            <a:ext cx="301686" cy="369332"/>
          </a:xfrm>
          <a:prstGeom prst="rect">
            <a:avLst/>
          </a:prstGeom>
          <a:noFill/>
        </p:spPr>
        <p:txBody>
          <a:bodyPr wrap="square" rtlCol="0">
            <a:spAutoFit/>
          </a:bodyPr>
          <a:lstStyle/>
          <a:p>
            <a:r>
              <a:rPr lang="en-US" dirty="0"/>
              <a:t>2</a:t>
            </a:r>
          </a:p>
        </p:txBody>
      </p:sp>
      <p:sp>
        <p:nvSpPr>
          <p:cNvPr id="65" name="TextBox 64">
            <a:extLst>
              <a:ext uri="{FF2B5EF4-FFF2-40B4-BE49-F238E27FC236}">
                <a16:creationId xmlns:a16="http://schemas.microsoft.com/office/drawing/2014/main" id="{5CA465AF-21FD-004B-88C0-94FCD1599E22}"/>
              </a:ext>
            </a:extLst>
          </p:cNvPr>
          <p:cNvSpPr txBox="1"/>
          <p:nvPr/>
        </p:nvSpPr>
        <p:spPr>
          <a:xfrm>
            <a:off x="7448830" y="5758962"/>
            <a:ext cx="301686" cy="369332"/>
          </a:xfrm>
          <a:prstGeom prst="rect">
            <a:avLst/>
          </a:prstGeom>
          <a:noFill/>
        </p:spPr>
        <p:txBody>
          <a:bodyPr wrap="square" rtlCol="0">
            <a:spAutoFit/>
          </a:bodyPr>
          <a:lstStyle/>
          <a:p>
            <a:r>
              <a:rPr lang="en-US" dirty="0"/>
              <a:t>3</a:t>
            </a:r>
          </a:p>
        </p:txBody>
      </p:sp>
      <p:sp>
        <p:nvSpPr>
          <p:cNvPr id="66" name="TextBox 65">
            <a:extLst>
              <a:ext uri="{FF2B5EF4-FFF2-40B4-BE49-F238E27FC236}">
                <a16:creationId xmlns:a16="http://schemas.microsoft.com/office/drawing/2014/main" id="{3075322A-109D-EA4A-8FF2-6E419894AC25}"/>
              </a:ext>
            </a:extLst>
          </p:cNvPr>
          <p:cNvSpPr txBox="1"/>
          <p:nvPr/>
        </p:nvSpPr>
        <p:spPr>
          <a:xfrm>
            <a:off x="8173666" y="5758962"/>
            <a:ext cx="301686" cy="369332"/>
          </a:xfrm>
          <a:prstGeom prst="rect">
            <a:avLst/>
          </a:prstGeom>
          <a:noFill/>
        </p:spPr>
        <p:txBody>
          <a:bodyPr wrap="square" rtlCol="0">
            <a:spAutoFit/>
          </a:bodyPr>
          <a:lstStyle/>
          <a:p>
            <a:r>
              <a:rPr lang="en-US" dirty="0"/>
              <a:t>4</a:t>
            </a:r>
          </a:p>
        </p:txBody>
      </p:sp>
      <p:sp>
        <p:nvSpPr>
          <p:cNvPr id="67" name="TextBox 66">
            <a:extLst>
              <a:ext uri="{FF2B5EF4-FFF2-40B4-BE49-F238E27FC236}">
                <a16:creationId xmlns:a16="http://schemas.microsoft.com/office/drawing/2014/main" id="{096A62DF-40FB-B343-8CE1-2BA78F6AEDCA}"/>
              </a:ext>
            </a:extLst>
          </p:cNvPr>
          <p:cNvSpPr txBox="1"/>
          <p:nvPr/>
        </p:nvSpPr>
        <p:spPr>
          <a:xfrm>
            <a:off x="8858408" y="5758962"/>
            <a:ext cx="301686" cy="369332"/>
          </a:xfrm>
          <a:prstGeom prst="rect">
            <a:avLst/>
          </a:prstGeom>
          <a:noFill/>
        </p:spPr>
        <p:txBody>
          <a:bodyPr wrap="square" rtlCol="0">
            <a:spAutoFit/>
          </a:bodyPr>
          <a:lstStyle/>
          <a:p>
            <a:r>
              <a:rPr lang="en-US" dirty="0"/>
              <a:t>5</a:t>
            </a:r>
          </a:p>
        </p:txBody>
      </p:sp>
      <p:sp>
        <p:nvSpPr>
          <p:cNvPr id="68" name="TextBox 67">
            <a:extLst>
              <a:ext uri="{FF2B5EF4-FFF2-40B4-BE49-F238E27FC236}">
                <a16:creationId xmlns:a16="http://schemas.microsoft.com/office/drawing/2014/main" id="{0F87E5B1-BCA3-2C42-8D7E-6DA0BBCB1FED}"/>
              </a:ext>
            </a:extLst>
          </p:cNvPr>
          <p:cNvSpPr txBox="1"/>
          <p:nvPr/>
        </p:nvSpPr>
        <p:spPr>
          <a:xfrm>
            <a:off x="9615829" y="5757972"/>
            <a:ext cx="301686" cy="369332"/>
          </a:xfrm>
          <a:prstGeom prst="rect">
            <a:avLst/>
          </a:prstGeom>
          <a:noFill/>
        </p:spPr>
        <p:txBody>
          <a:bodyPr wrap="square" rtlCol="0">
            <a:spAutoFit/>
          </a:bodyPr>
          <a:lstStyle/>
          <a:p>
            <a:r>
              <a:rPr lang="en-US" dirty="0"/>
              <a:t>6</a:t>
            </a:r>
          </a:p>
        </p:txBody>
      </p:sp>
      <p:sp>
        <p:nvSpPr>
          <p:cNvPr id="69" name="TextBox 68">
            <a:extLst>
              <a:ext uri="{FF2B5EF4-FFF2-40B4-BE49-F238E27FC236}">
                <a16:creationId xmlns:a16="http://schemas.microsoft.com/office/drawing/2014/main" id="{9874F8A7-C905-864C-8B36-D7136A7B8832}"/>
              </a:ext>
            </a:extLst>
          </p:cNvPr>
          <p:cNvSpPr txBox="1"/>
          <p:nvPr/>
        </p:nvSpPr>
        <p:spPr>
          <a:xfrm>
            <a:off x="10236134" y="5757972"/>
            <a:ext cx="301686" cy="369332"/>
          </a:xfrm>
          <a:prstGeom prst="rect">
            <a:avLst/>
          </a:prstGeom>
          <a:noFill/>
        </p:spPr>
        <p:txBody>
          <a:bodyPr wrap="square" rtlCol="0">
            <a:spAutoFit/>
          </a:bodyPr>
          <a:lstStyle/>
          <a:p>
            <a:r>
              <a:rPr lang="en-US" dirty="0"/>
              <a:t>7</a:t>
            </a:r>
          </a:p>
        </p:txBody>
      </p:sp>
      <p:sp>
        <p:nvSpPr>
          <p:cNvPr id="70" name="TextBox 69">
            <a:extLst>
              <a:ext uri="{FF2B5EF4-FFF2-40B4-BE49-F238E27FC236}">
                <a16:creationId xmlns:a16="http://schemas.microsoft.com/office/drawing/2014/main" id="{EC0C6C00-B7E7-F246-A912-7BBFC3CEECA5}"/>
              </a:ext>
            </a:extLst>
          </p:cNvPr>
          <p:cNvSpPr txBox="1"/>
          <p:nvPr/>
        </p:nvSpPr>
        <p:spPr>
          <a:xfrm>
            <a:off x="10847489" y="5757972"/>
            <a:ext cx="343364" cy="369332"/>
          </a:xfrm>
          <a:prstGeom prst="rect">
            <a:avLst/>
          </a:prstGeom>
          <a:noFill/>
        </p:spPr>
        <p:txBody>
          <a:bodyPr wrap="none" rtlCol="0">
            <a:spAutoFit/>
          </a:bodyPr>
          <a:lstStyle/>
          <a:p>
            <a:r>
              <a:rPr lang="en-US" dirty="0"/>
              <a:t>…</a:t>
            </a:r>
          </a:p>
        </p:txBody>
      </p:sp>
      <p:sp>
        <p:nvSpPr>
          <p:cNvPr id="6" name="TextBox 5">
            <a:extLst>
              <a:ext uri="{FF2B5EF4-FFF2-40B4-BE49-F238E27FC236}">
                <a16:creationId xmlns:a16="http://schemas.microsoft.com/office/drawing/2014/main" id="{8DE3E552-562D-FB49-88D1-5444BE006B4C}"/>
              </a:ext>
            </a:extLst>
          </p:cNvPr>
          <p:cNvSpPr txBox="1"/>
          <p:nvPr/>
        </p:nvSpPr>
        <p:spPr>
          <a:xfrm>
            <a:off x="6613726" y="4995405"/>
            <a:ext cx="535724" cy="369332"/>
          </a:xfrm>
          <a:prstGeom prst="rect">
            <a:avLst/>
          </a:prstGeom>
          <a:noFill/>
        </p:spPr>
        <p:txBody>
          <a:bodyPr wrap="none" rtlCol="0">
            <a:spAutoFit/>
          </a:bodyPr>
          <a:lstStyle/>
          <a:p>
            <a:r>
              <a:rPr lang="en-US" dirty="0"/>
              <a:t>137</a:t>
            </a:r>
          </a:p>
        </p:txBody>
      </p:sp>
      <p:pic>
        <p:nvPicPr>
          <p:cNvPr id="4" name="Picture 3">
            <a:extLst>
              <a:ext uri="{FF2B5EF4-FFF2-40B4-BE49-F238E27FC236}">
                <a16:creationId xmlns:a16="http://schemas.microsoft.com/office/drawing/2014/main" id="{36B60DDF-8BBE-2144-9E89-F1C47E98552A}"/>
              </a:ext>
            </a:extLst>
          </p:cNvPr>
          <p:cNvPicPr>
            <a:picLocks noChangeAspect="1"/>
          </p:cNvPicPr>
          <p:nvPr/>
        </p:nvPicPr>
        <p:blipFill>
          <a:blip r:embed="rId2"/>
          <a:stretch>
            <a:fillRect/>
          </a:stretch>
        </p:blipFill>
        <p:spPr>
          <a:xfrm>
            <a:off x="4799062" y="1272223"/>
            <a:ext cx="7137400" cy="3098800"/>
          </a:xfrm>
          <a:prstGeom prst="rect">
            <a:avLst/>
          </a:prstGeom>
        </p:spPr>
      </p:pic>
      <p:sp>
        <p:nvSpPr>
          <p:cNvPr id="34" name="Right Arrow 33">
            <a:extLst>
              <a:ext uri="{FF2B5EF4-FFF2-40B4-BE49-F238E27FC236}">
                <a16:creationId xmlns:a16="http://schemas.microsoft.com/office/drawing/2014/main" id="{B1070C7D-DCB8-8C4C-BEDB-BBD723C5FE67}"/>
              </a:ext>
            </a:extLst>
          </p:cNvPr>
          <p:cNvSpPr/>
          <p:nvPr/>
        </p:nvSpPr>
        <p:spPr>
          <a:xfrm rot="20048398" flipV="1">
            <a:off x="4542757" y="2872852"/>
            <a:ext cx="957884" cy="4983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ame 35">
            <a:extLst>
              <a:ext uri="{FF2B5EF4-FFF2-40B4-BE49-F238E27FC236}">
                <a16:creationId xmlns:a16="http://schemas.microsoft.com/office/drawing/2014/main" id="{76B77D1E-6544-7D4C-B883-2B504FEED6D6}"/>
              </a:ext>
            </a:extLst>
          </p:cNvPr>
          <p:cNvSpPr/>
          <p:nvPr/>
        </p:nvSpPr>
        <p:spPr>
          <a:xfrm>
            <a:off x="5561360" y="2756008"/>
            <a:ext cx="2856204" cy="377932"/>
          </a:xfrm>
          <a:prstGeom prst="frame">
            <a:avLst>
              <a:gd name="adj1" fmla="val 125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666768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 (now with input)</a:t>
            </a:r>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10740832" cy="5221510"/>
          </a:xfrm>
        </p:spPr>
        <p:txBody>
          <a:bodyPr>
            <a:normAutofit/>
          </a:bodyPr>
          <a:lstStyle/>
          <a:p>
            <a:r>
              <a:rPr lang="en-US" dirty="0"/>
              <a:t>Okay, you know how to write data to the console. How do you read data from the keyboard?</a:t>
            </a:r>
          </a:p>
          <a:p>
            <a:r>
              <a:rPr lang="en-US" dirty="0"/>
              <a:t>You do this using </a:t>
            </a:r>
            <a:r>
              <a:rPr lang="en-US" dirty="0" err="1"/>
              <a:t>cin</a:t>
            </a:r>
            <a:r>
              <a:rPr lang="en-US" dirty="0"/>
              <a:t> (short for </a:t>
            </a:r>
            <a:r>
              <a:rPr lang="en-US" b="1" dirty="0"/>
              <a:t>c</a:t>
            </a:r>
            <a:r>
              <a:rPr lang="en-US" dirty="0"/>
              <a:t>onsole </a:t>
            </a:r>
            <a:r>
              <a:rPr lang="en-US" b="1" dirty="0"/>
              <a:t>in</a:t>
            </a:r>
            <a:r>
              <a:rPr lang="en-US" dirty="0"/>
              <a:t>) and &gt;&gt; (the </a:t>
            </a:r>
            <a:r>
              <a:rPr lang="en-US" i="1" dirty="0"/>
              <a:t>stream extraction operator</a:t>
            </a:r>
            <a:r>
              <a:rPr lang="en-US" dirty="0"/>
              <a:t>) </a:t>
            </a:r>
            <a:br>
              <a:rPr lang="en-US" dirty="0"/>
            </a:br>
            <a:endParaRPr lang="en-US" dirty="0"/>
          </a:p>
        </p:txBody>
      </p:sp>
      <p:pic>
        <p:nvPicPr>
          <p:cNvPr id="3" name="Picture 2">
            <a:extLst>
              <a:ext uri="{FF2B5EF4-FFF2-40B4-BE49-F238E27FC236}">
                <a16:creationId xmlns:a16="http://schemas.microsoft.com/office/drawing/2014/main" id="{B07DB084-9747-5C4E-B3F7-16467107FF66}"/>
              </a:ext>
            </a:extLst>
          </p:cNvPr>
          <p:cNvPicPr>
            <a:picLocks noChangeAspect="1"/>
          </p:cNvPicPr>
          <p:nvPr/>
        </p:nvPicPr>
        <p:blipFill>
          <a:blip r:embed="rId2"/>
          <a:stretch>
            <a:fillRect/>
          </a:stretch>
        </p:blipFill>
        <p:spPr>
          <a:xfrm>
            <a:off x="5543390" y="3020961"/>
            <a:ext cx="5219700" cy="3352800"/>
          </a:xfrm>
          <a:prstGeom prst="rect">
            <a:avLst/>
          </a:prstGeom>
        </p:spPr>
      </p:pic>
      <p:pic>
        <p:nvPicPr>
          <p:cNvPr id="5" name="Picture 4">
            <a:extLst>
              <a:ext uri="{FF2B5EF4-FFF2-40B4-BE49-F238E27FC236}">
                <a16:creationId xmlns:a16="http://schemas.microsoft.com/office/drawing/2014/main" id="{4CD143FC-F4F4-6447-9402-D23B2ECB0582}"/>
              </a:ext>
            </a:extLst>
          </p:cNvPr>
          <p:cNvPicPr>
            <a:picLocks noChangeAspect="1"/>
          </p:cNvPicPr>
          <p:nvPr/>
        </p:nvPicPr>
        <p:blipFill>
          <a:blip r:embed="rId3"/>
          <a:stretch>
            <a:fillRect/>
          </a:stretch>
        </p:blipFill>
        <p:spPr>
          <a:xfrm>
            <a:off x="498987" y="5784574"/>
            <a:ext cx="4114800" cy="762000"/>
          </a:xfrm>
          <a:prstGeom prst="rect">
            <a:avLst/>
          </a:prstGeom>
        </p:spPr>
      </p:pic>
    </p:spTree>
    <p:extLst>
      <p:ext uri="{BB962C8B-B14F-4D97-AF65-F5344CB8AC3E}">
        <p14:creationId xmlns:p14="http://schemas.microsoft.com/office/powerpoint/2010/main" val="26305992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sample PROGRAM (now with input)</a:t>
            </a:r>
          </a:p>
        </p:txBody>
      </p:sp>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10740832" cy="5221510"/>
          </a:xfrm>
        </p:spPr>
        <p:txBody>
          <a:bodyPr>
            <a:normAutofit/>
          </a:bodyPr>
          <a:lstStyle/>
          <a:p>
            <a:r>
              <a:rPr lang="en-US" dirty="0"/>
              <a:t>You can read multiple values at once by stringing together multiple copies of the stream extraction operator</a:t>
            </a:r>
          </a:p>
        </p:txBody>
      </p:sp>
      <p:pic>
        <p:nvPicPr>
          <p:cNvPr id="4" name="Picture 3">
            <a:extLst>
              <a:ext uri="{FF2B5EF4-FFF2-40B4-BE49-F238E27FC236}">
                <a16:creationId xmlns:a16="http://schemas.microsoft.com/office/drawing/2014/main" id="{B42CBC79-2444-6245-A175-0AC08C20B131}"/>
              </a:ext>
            </a:extLst>
          </p:cNvPr>
          <p:cNvPicPr>
            <a:picLocks noChangeAspect="1"/>
          </p:cNvPicPr>
          <p:nvPr/>
        </p:nvPicPr>
        <p:blipFill>
          <a:blip r:embed="rId2"/>
          <a:stretch>
            <a:fillRect/>
          </a:stretch>
        </p:blipFill>
        <p:spPr>
          <a:xfrm>
            <a:off x="4999703" y="2078994"/>
            <a:ext cx="6858000" cy="3733800"/>
          </a:xfrm>
          <a:prstGeom prst="rect">
            <a:avLst/>
          </a:prstGeom>
        </p:spPr>
      </p:pic>
      <p:pic>
        <p:nvPicPr>
          <p:cNvPr id="5" name="Picture 4">
            <a:extLst>
              <a:ext uri="{FF2B5EF4-FFF2-40B4-BE49-F238E27FC236}">
                <a16:creationId xmlns:a16="http://schemas.microsoft.com/office/drawing/2014/main" id="{7B39546F-851B-4044-AAB1-A28EC41B167F}"/>
              </a:ext>
            </a:extLst>
          </p:cNvPr>
          <p:cNvPicPr>
            <a:picLocks noChangeAspect="1"/>
          </p:cNvPicPr>
          <p:nvPr/>
        </p:nvPicPr>
        <p:blipFill>
          <a:blip r:embed="rId3"/>
          <a:stretch>
            <a:fillRect/>
          </a:stretch>
        </p:blipFill>
        <p:spPr>
          <a:xfrm>
            <a:off x="172974" y="6007100"/>
            <a:ext cx="4876800" cy="850900"/>
          </a:xfrm>
          <a:prstGeom prst="rect">
            <a:avLst/>
          </a:prstGeom>
        </p:spPr>
      </p:pic>
    </p:spTree>
    <p:extLst>
      <p:ext uri="{BB962C8B-B14F-4D97-AF65-F5344CB8AC3E}">
        <p14:creationId xmlns:p14="http://schemas.microsoft.com/office/powerpoint/2010/main" val="9200075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title"/>
          </p:nvPr>
        </p:nvSpPr>
        <p:spPr/>
        <p:txBody>
          <a:bodyPr/>
          <a:lstStyle/>
          <a:p>
            <a:r>
              <a:rPr lang="en-US" altLang="en-US" dirty="0"/>
              <a:t>Floating-Point Data Types (1 of 3)</a:t>
            </a:r>
          </a:p>
        </p:txBody>
      </p:sp>
      <p:sp>
        <p:nvSpPr>
          <p:cNvPr id="27651" name="Rectangle 3"/>
          <p:cNvSpPr>
            <a:spLocks noGrp="1" noChangeArrowheads="1"/>
          </p:cNvSpPr>
          <p:nvPr>
            <p:ph idx="1"/>
          </p:nvPr>
        </p:nvSpPr>
        <p:spPr/>
        <p:txBody>
          <a:bodyPr/>
          <a:lstStyle/>
          <a:p>
            <a:r>
              <a:rPr lang="en-US" altLang="en-US" dirty="0"/>
              <a:t>C++ uses scientific notation to represent real numbers (floating-point notation)</a:t>
            </a:r>
          </a:p>
        </p:txBody>
      </p:sp>
      <p:sp>
        <p:nvSpPr>
          <p:cNvPr id="7" name="Text Placeholder 5"/>
          <p:cNvSpPr txBox="1">
            <a:spLocks/>
          </p:cNvSpPr>
          <p:nvPr/>
        </p:nvSpPr>
        <p:spPr>
          <a:xfrm>
            <a:off x="2066924" y="2209800"/>
            <a:ext cx="7686676" cy="297004"/>
          </a:xfrm>
          <a:prstGeom prst="rect">
            <a:avLst/>
          </a:prstGeom>
        </p:spPr>
        <p:txBody>
          <a:bodyPr lIns="45720" rIns="45720"/>
          <a:lst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400" dirty="0"/>
          </a:p>
        </p:txBody>
      </p:sp>
      <p:graphicFrame>
        <p:nvGraphicFramePr>
          <p:cNvPr id="8" name="Table 7" descr="Table 1-1 summarizes the terms used to describe various numbers of bytes."/>
          <p:cNvGraphicFramePr>
            <a:graphicFrameLocks noGrp="1"/>
          </p:cNvGraphicFramePr>
          <p:nvPr>
            <p:extLst>
              <p:ext uri="{D42A27DB-BD31-4B8C-83A1-F6EECF244321}">
                <p14:modId xmlns:p14="http://schemas.microsoft.com/office/powerpoint/2010/main" val="2770237918"/>
              </p:ext>
            </p:extLst>
          </p:nvPr>
        </p:nvGraphicFramePr>
        <p:xfrm>
          <a:off x="2066924" y="3041812"/>
          <a:ext cx="7686676" cy="2225040"/>
        </p:xfrm>
        <a:graphic>
          <a:graphicData uri="http://schemas.openxmlformats.org/drawingml/2006/table">
            <a:tbl>
              <a:tblPr firstRow="1" bandRow="1">
                <a:tableStyleId>{5C22544A-7EE6-4342-B048-85BDC9FD1C3A}</a:tableStyleId>
              </a:tblPr>
              <a:tblGrid>
                <a:gridCol w="2124076">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tblGrid>
              <a:tr h="370840">
                <a:tc>
                  <a:txBody>
                    <a:bodyPr/>
                    <a:lstStyle/>
                    <a:p>
                      <a:r>
                        <a:rPr lang="en-US" sz="1600" b="1" i="0" u="none" strike="noStrike" kern="1200" baseline="0" dirty="0">
                          <a:solidFill>
                            <a:schemeClr val="tx1"/>
                          </a:solidFill>
                          <a:latin typeface="+mn-lt"/>
                          <a:ea typeface="+mn-ea"/>
                          <a:cs typeface="+mn-cs"/>
                        </a:rPr>
                        <a:t>Decimal Number</a:t>
                      </a:r>
                      <a:endParaRPr lang="en-US" sz="1400" dirty="0">
                        <a:solidFill>
                          <a:schemeClr val="tx1"/>
                        </a:solidFill>
                      </a:endParaRPr>
                    </a:p>
                  </a:txBody>
                  <a:tcPr>
                    <a:solidFill>
                      <a:srgbClr val="D1A70C"/>
                    </a:solidFill>
                  </a:tcPr>
                </a:tc>
                <a:tc>
                  <a:txBody>
                    <a:bodyPr/>
                    <a:lstStyle/>
                    <a:p>
                      <a:r>
                        <a:rPr lang="en-US" sz="1600" b="1" i="0" u="none" strike="noStrike" kern="1200" baseline="0" dirty="0">
                          <a:solidFill>
                            <a:schemeClr val="tx1"/>
                          </a:solidFill>
                          <a:latin typeface="+mn-lt"/>
                          <a:ea typeface="+mn-ea"/>
                          <a:cs typeface="+mn-cs"/>
                        </a:rPr>
                        <a:t>Scientific Notation</a:t>
                      </a:r>
                      <a:endParaRPr lang="en-US" sz="1400" dirty="0">
                        <a:solidFill>
                          <a:schemeClr val="tx1"/>
                        </a:solidFill>
                      </a:endParaRPr>
                    </a:p>
                  </a:txBody>
                  <a:tcPr>
                    <a:solidFill>
                      <a:srgbClr val="D1A70C"/>
                    </a:solidFill>
                  </a:tcPr>
                </a:tc>
                <a:tc>
                  <a:txBody>
                    <a:bodyPr/>
                    <a:lstStyle/>
                    <a:p>
                      <a:r>
                        <a:rPr lang="en-US" sz="1600" b="1" i="0" u="none" strike="noStrike" kern="1200" baseline="0" dirty="0">
                          <a:solidFill>
                            <a:schemeClr val="tx1"/>
                          </a:solidFill>
                          <a:latin typeface="+mn-lt"/>
                          <a:ea typeface="+mn-ea"/>
                          <a:cs typeface="+mn-cs"/>
                        </a:rPr>
                        <a:t>C++</a:t>
                      </a:r>
                      <a:r>
                        <a:rPr lang="en-US" sz="1600" b="0" i="0" u="none" strike="noStrike" kern="1200" baseline="0" dirty="0">
                          <a:solidFill>
                            <a:schemeClr val="tx1"/>
                          </a:solidFill>
                          <a:latin typeface="+mn-lt"/>
                          <a:ea typeface="+mn-ea"/>
                          <a:cs typeface="+mn-cs"/>
                        </a:rPr>
                        <a:t> </a:t>
                      </a:r>
                      <a:r>
                        <a:rPr lang="en-US" sz="1600" b="1" i="0" u="none" strike="noStrike" kern="1200" baseline="0" dirty="0">
                          <a:solidFill>
                            <a:schemeClr val="tx1"/>
                          </a:solidFill>
                          <a:latin typeface="+mn-lt"/>
                          <a:ea typeface="+mn-ea"/>
                          <a:cs typeface="+mn-cs"/>
                        </a:rPr>
                        <a:t>Floating-Point Notation</a:t>
                      </a:r>
                      <a:endParaRPr lang="en-US" sz="1400" dirty="0">
                        <a:solidFill>
                          <a:schemeClr val="tx1"/>
                        </a:solidFill>
                      </a:endParaRPr>
                    </a:p>
                  </a:txBody>
                  <a:tcPr>
                    <a:solidFill>
                      <a:srgbClr val="D1A70C"/>
                    </a:solidFill>
                  </a:tcPr>
                </a:tc>
                <a:extLst>
                  <a:ext uri="{0D108BD9-81ED-4DB2-BD59-A6C34878D82A}">
                    <a16:rowId xmlns:a16="http://schemas.microsoft.com/office/drawing/2014/main" val="10000"/>
                  </a:ext>
                </a:extLst>
              </a:tr>
              <a:tr h="370840">
                <a:tc>
                  <a:txBody>
                    <a:bodyPr/>
                    <a:lstStyle/>
                    <a:p>
                      <a:r>
                        <a:rPr lang="en-US" sz="1600" b="1" dirty="0">
                          <a:solidFill>
                            <a:schemeClr val="tx1"/>
                          </a:solidFill>
                          <a:latin typeface="Courier New" panose="02070309020205020404" pitchFamily="49" charset="0"/>
                          <a:cs typeface="Courier New" panose="02070309020205020404" pitchFamily="49" charset="0"/>
                        </a:rPr>
                        <a:t>75.924</a:t>
                      </a:r>
                    </a:p>
                  </a:txBody>
                  <a:tcPr anchor="ctr">
                    <a:solidFill>
                      <a:srgbClr val="F2E7D0"/>
                    </a:solidFill>
                  </a:tcPr>
                </a:tc>
                <a:tc>
                  <a:txBody>
                    <a:bodyPr/>
                    <a:lstStyle/>
                    <a:p>
                      <a:pPr marL="0" algn="l" defTabSz="914400" rtl="0" eaLnBrk="1" latinLnBrk="0" hangingPunct="1"/>
                      <a:r>
                        <a:rPr lang="en-US" sz="1600" b="1" kern="1200" dirty="0">
                          <a:solidFill>
                            <a:schemeClr val="tx1"/>
                          </a:solidFill>
                          <a:latin typeface="Courier New" panose="02070309020205020404" pitchFamily="49" charset="0"/>
                          <a:ea typeface="+mn-ea"/>
                          <a:cs typeface="Courier New" panose="02070309020205020404" pitchFamily="49" charset="0"/>
                        </a:rPr>
                        <a:t>7.5924 * 10</a:t>
                      </a:r>
                      <a:r>
                        <a:rPr lang="en-US" sz="1600" b="1" kern="1200" baseline="30000" dirty="0">
                          <a:solidFill>
                            <a:schemeClr val="tx1"/>
                          </a:solidFill>
                          <a:latin typeface="Courier New" panose="02070309020205020404" pitchFamily="49" charset="0"/>
                          <a:ea typeface="+mn-ea"/>
                          <a:cs typeface="Courier New" panose="02070309020205020404" pitchFamily="49" charset="0"/>
                        </a:rPr>
                        <a:t>1</a:t>
                      </a:r>
                    </a:p>
                  </a:txBody>
                  <a:tcPr anchor="ctr">
                    <a:solidFill>
                      <a:srgbClr val="F2E7D0"/>
                    </a:solidFill>
                  </a:tcPr>
                </a:tc>
                <a:tc>
                  <a:txBody>
                    <a:bodyPr/>
                    <a:lstStyle/>
                    <a:p>
                      <a:pPr marL="0" algn="l" defTabSz="914400" rtl="0" eaLnBrk="1" latinLnBrk="0" hangingPunct="1"/>
                      <a:r>
                        <a:rPr lang="en-US" sz="1600" b="1" kern="1200" dirty="0">
                          <a:solidFill>
                            <a:schemeClr val="tx1"/>
                          </a:solidFill>
                          <a:latin typeface="Courier New" panose="02070309020205020404" pitchFamily="49" charset="0"/>
                          <a:ea typeface="+mn-ea"/>
                          <a:cs typeface="Courier New" panose="02070309020205020404" pitchFamily="49" charset="0"/>
                        </a:rPr>
                        <a:t>7.592400E1</a:t>
                      </a:r>
                    </a:p>
                  </a:txBody>
                  <a:tcPr anchor="ctr">
                    <a:solidFill>
                      <a:srgbClr val="F2E7D0"/>
                    </a:solidFill>
                  </a:tcPr>
                </a:tc>
                <a:extLst>
                  <a:ext uri="{0D108BD9-81ED-4DB2-BD59-A6C34878D82A}">
                    <a16:rowId xmlns:a16="http://schemas.microsoft.com/office/drawing/2014/main" val="10001"/>
                  </a:ext>
                </a:extLst>
              </a:tr>
              <a:tr h="370840">
                <a:tc>
                  <a:txBody>
                    <a:bodyPr/>
                    <a:lstStyle/>
                    <a:p>
                      <a:r>
                        <a:rPr lang="en-US" sz="1600" b="1" dirty="0">
                          <a:solidFill>
                            <a:schemeClr val="tx1"/>
                          </a:solidFill>
                          <a:latin typeface="Courier New" panose="02070309020205020404" pitchFamily="49" charset="0"/>
                          <a:cs typeface="Courier New" panose="02070309020205020404" pitchFamily="49" charset="0"/>
                        </a:rPr>
                        <a:t>0.18</a:t>
                      </a:r>
                    </a:p>
                  </a:txBody>
                  <a:tcPr anchor="ctr">
                    <a:solidFill>
                      <a:srgbClr val="F2E7D0"/>
                    </a:solidFill>
                  </a:tcPr>
                </a:tc>
                <a:tc>
                  <a:txBody>
                    <a:bodyPr/>
                    <a:lstStyle/>
                    <a:p>
                      <a:pPr marL="0" algn="l" defTabSz="914400" rtl="0" eaLnBrk="1" latinLnBrk="0" hangingPunct="1"/>
                      <a:r>
                        <a:rPr lang="en-US" sz="1600" b="1" kern="1200" dirty="0">
                          <a:solidFill>
                            <a:schemeClr val="tx1"/>
                          </a:solidFill>
                          <a:latin typeface="Courier New" panose="02070309020205020404" pitchFamily="49" charset="0"/>
                          <a:ea typeface="+mn-ea"/>
                          <a:cs typeface="Courier New" panose="02070309020205020404" pitchFamily="49" charset="0"/>
                        </a:rPr>
                        <a:t>1.8 * 10</a:t>
                      </a:r>
                      <a:r>
                        <a:rPr lang="en-US" sz="1600" b="1" kern="1200" baseline="30000" dirty="0">
                          <a:solidFill>
                            <a:schemeClr val="tx1"/>
                          </a:solidFill>
                          <a:latin typeface="Courier New" panose="02070309020205020404" pitchFamily="49" charset="0"/>
                          <a:ea typeface="+mn-ea"/>
                          <a:cs typeface="Courier New" panose="02070309020205020404" pitchFamily="49" charset="0"/>
                        </a:rPr>
                        <a:t>-1</a:t>
                      </a:r>
                    </a:p>
                  </a:txBody>
                  <a:tcPr anchor="ctr">
                    <a:solidFill>
                      <a:srgbClr val="F2E7D0"/>
                    </a:solidFill>
                  </a:tcPr>
                </a:tc>
                <a:tc>
                  <a:txBody>
                    <a:bodyPr/>
                    <a:lstStyle/>
                    <a:p>
                      <a:pPr marL="0" algn="l" defTabSz="914400" rtl="0" eaLnBrk="1" latinLnBrk="0" hangingPunct="1"/>
                      <a:r>
                        <a:rPr lang="en-US" sz="1600" b="1" kern="1200" dirty="0">
                          <a:solidFill>
                            <a:schemeClr val="tx1"/>
                          </a:solidFill>
                          <a:latin typeface="Courier New" panose="02070309020205020404" pitchFamily="49" charset="0"/>
                          <a:ea typeface="+mn-ea"/>
                          <a:cs typeface="Courier New" panose="02070309020205020404" pitchFamily="49" charset="0"/>
                        </a:rPr>
                        <a:t>1.800000E-1</a:t>
                      </a:r>
                    </a:p>
                  </a:txBody>
                  <a:tcPr anchor="ctr">
                    <a:solidFill>
                      <a:srgbClr val="F2E7D0"/>
                    </a:solidFill>
                  </a:tcPr>
                </a:tc>
                <a:extLst>
                  <a:ext uri="{0D108BD9-81ED-4DB2-BD59-A6C34878D82A}">
                    <a16:rowId xmlns:a16="http://schemas.microsoft.com/office/drawing/2014/main" val="10002"/>
                  </a:ext>
                </a:extLst>
              </a:tr>
              <a:tr h="370840">
                <a:tc>
                  <a:txBody>
                    <a:bodyPr/>
                    <a:lstStyle/>
                    <a:p>
                      <a:r>
                        <a:rPr lang="en-US" sz="1600" b="1" dirty="0">
                          <a:solidFill>
                            <a:schemeClr val="tx1"/>
                          </a:solidFill>
                          <a:latin typeface="Courier New" panose="02070309020205020404" pitchFamily="49" charset="0"/>
                          <a:cs typeface="Courier New" panose="02070309020205020404" pitchFamily="49" charset="0"/>
                        </a:rPr>
                        <a:t>0.0000453</a:t>
                      </a:r>
                    </a:p>
                  </a:txBody>
                  <a:tcPr anchor="ctr">
                    <a:solidFill>
                      <a:srgbClr val="F2E7D0"/>
                    </a:solidFill>
                  </a:tcPr>
                </a:tc>
                <a:tc>
                  <a:txBody>
                    <a:bodyPr/>
                    <a:lstStyle/>
                    <a:p>
                      <a:pPr marL="0" algn="l" defTabSz="914400" rtl="0" eaLnBrk="1" latinLnBrk="0" hangingPunct="1"/>
                      <a:r>
                        <a:rPr lang="en-US" sz="1600" b="1" kern="1200" dirty="0">
                          <a:solidFill>
                            <a:schemeClr val="tx1"/>
                          </a:solidFill>
                          <a:latin typeface="Courier New" panose="02070309020205020404" pitchFamily="49" charset="0"/>
                          <a:ea typeface="+mn-ea"/>
                          <a:cs typeface="Courier New" panose="02070309020205020404" pitchFamily="49" charset="0"/>
                        </a:rPr>
                        <a:t>4.53 * 10</a:t>
                      </a:r>
                      <a:r>
                        <a:rPr lang="en-US" sz="1600" b="1" kern="1200" baseline="30000" dirty="0">
                          <a:solidFill>
                            <a:schemeClr val="tx1"/>
                          </a:solidFill>
                          <a:latin typeface="Courier New" panose="02070309020205020404" pitchFamily="49" charset="0"/>
                          <a:ea typeface="+mn-ea"/>
                          <a:cs typeface="Courier New" panose="02070309020205020404" pitchFamily="49" charset="0"/>
                        </a:rPr>
                        <a:t>-5</a:t>
                      </a:r>
                    </a:p>
                  </a:txBody>
                  <a:tcPr anchor="ctr">
                    <a:solidFill>
                      <a:srgbClr val="F2E7D0"/>
                    </a:solidFill>
                  </a:tcPr>
                </a:tc>
                <a:tc>
                  <a:txBody>
                    <a:bodyPr/>
                    <a:lstStyle/>
                    <a:p>
                      <a:pPr marL="0" algn="l" defTabSz="914400" rtl="0" eaLnBrk="1" latinLnBrk="0" hangingPunct="1"/>
                      <a:r>
                        <a:rPr lang="en-US" sz="1600" b="1" kern="1200" dirty="0">
                          <a:solidFill>
                            <a:schemeClr val="tx1"/>
                          </a:solidFill>
                          <a:latin typeface="Courier New" panose="02070309020205020404" pitchFamily="49" charset="0"/>
                          <a:ea typeface="+mn-ea"/>
                          <a:cs typeface="Courier New" panose="02070309020205020404" pitchFamily="49" charset="0"/>
                        </a:rPr>
                        <a:t>4.530000E-5</a:t>
                      </a:r>
                    </a:p>
                  </a:txBody>
                  <a:tcPr anchor="ctr">
                    <a:solidFill>
                      <a:srgbClr val="F2E7D0"/>
                    </a:solidFill>
                  </a:tcPr>
                </a:tc>
                <a:extLst>
                  <a:ext uri="{0D108BD9-81ED-4DB2-BD59-A6C34878D82A}">
                    <a16:rowId xmlns:a16="http://schemas.microsoft.com/office/drawing/2014/main" val="10003"/>
                  </a:ext>
                </a:extLst>
              </a:tr>
              <a:tr h="370840">
                <a:tc>
                  <a:txBody>
                    <a:bodyPr/>
                    <a:lstStyle/>
                    <a:p>
                      <a:r>
                        <a:rPr lang="en-US" sz="1600" b="1" kern="1200" dirty="0">
                          <a:solidFill>
                            <a:schemeClr val="tx1"/>
                          </a:solidFill>
                          <a:latin typeface="Courier New" panose="02070309020205020404" pitchFamily="49" charset="0"/>
                          <a:ea typeface="+mn-ea"/>
                          <a:cs typeface="Courier New" panose="02070309020205020404" pitchFamily="49" charset="0"/>
                        </a:rPr>
                        <a:t>–1.482</a:t>
                      </a:r>
                    </a:p>
                  </a:txBody>
                  <a:tcPr anchor="ctr">
                    <a:solidFill>
                      <a:srgbClr val="F2E7D0"/>
                    </a:solidFill>
                  </a:tcPr>
                </a:tc>
                <a:tc>
                  <a:txBody>
                    <a:bodyPr/>
                    <a:lstStyle/>
                    <a:p>
                      <a:pPr marL="0" algn="l" defTabSz="914400" rtl="0" eaLnBrk="1" latinLnBrk="0" hangingPunct="1"/>
                      <a:r>
                        <a:rPr lang="en-US" sz="1600" b="1" kern="1200" dirty="0">
                          <a:solidFill>
                            <a:schemeClr val="tx1"/>
                          </a:solidFill>
                          <a:latin typeface="Courier New" panose="02070309020205020404" pitchFamily="49" charset="0"/>
                          <a:ea typeface="+mn-ea"/>
                          <a:cs typeface="Courier New" panose="02070309020205020404" pitchFamily="49" charset="0"/>
                        </a:rPr>
                        <a:t>-1.482 * 10</a:t>
                      </a:r>
                      <a:r>
                        <a:rPr lang="en-US" sz="1600" b="1" kern="1200" baseline="30000" dirty="0">
                          <a:solidFill>
                            <a:schemeClr val="tx1"/>
                          </a:solidFill>
                          <a:latin typeface="Courier New" panose="02070309020205020404" pitchFamily="49" charset="0"/>
                          <a:ea typeface="+mn-ea"/>
                          <a:cs typeface="Courier New" panose="02070309020205020404" pitchFamily="49" charset="0"/>
                        </a:rPr>
                        <a:t>0</a:t>
                      </a:r>
                    </a:p>
                  </a:txBody>
                  <a:tcPr anchor="ctr">
                    <a:solidFill>
                      <a:srgbClr val="F2E7D0"/>
                    </a:solidFill>
                  </a:tcPr>
                </a:tc>
                <a:tc>
                  <a:txBody>
                    <a:bodyPr/>
                    <a:lstStyle/>
                    <a:p>
                      <a:pPr marL="0" algn="l" defTabSz="914400" rtl="0" eaLnBrk="1" latinLnBrk="0" hangingPunct="1"/>
                      <a:r>
                        <a:rPr lang="en-US" sz="1600" b="1" kern="1200" dirty="0">
                          <a:solidFill>
                            <a:schemeClr val="tx1"/>
                          </a:solidFill>
                          <a:latin typeface="Courier New" panose="02070309020205020404" pitchFamily="49" charset="0"/>
                          <a:ea typeface="+mn-ea"/>
                          <a:cs typeface="Courier New" panose="02070309020205020404" pitchFamily="49" charset="0"/>
                        </a:rPr>
                        <a:t>-1.482000E0</a:t>
                      </a:r>
                    </a:p>
                  </a:txBody>
                  <a:tcPr anchor="ctr">
                    <a:solidFill>
                      <a:srgbClr val="F2E7D0"/>
                    </a:solidFill>
                  </a:tcPr>
                </a:tc>
                <a:extLst>
                  <a:ext uri="{0D108BD9-81ED-4DB2-BD59-A6C34878D82A}">
                    <a16:rowId xmlns:a16="http://schemas.microsoft.com/office/drawing/2014/main" val="10004"/>
                  </a:ext>
                </a:extLst>
              </a:tr>
              <a:tr h="370840">
                <a:tc>
                  <a:txBody>
                    <a:bodyPr/>
                    <a:lstStyle/>
                    <a:p>
                      <a:r>
                        <a:rPr lang="en-US" sz="1600" b="1" kern="1200" dirty="0">
                          <a:solidFill>
                            <a:schemeClr val="tx1"/>
                          </a:solidFill>
                          <a:latin typeface="Courier New" panose="02070309020205020404" pitchFamily="49" charset="0"/>
                          <a:ea typeface="+mn-ea"/>
                          <a:cs typeface="Courier New" panose="02070309020205020404" pitchFamily="49" charset="0"/>
                        </a:rPr>
                        <a:t>7800.0</a:t>
                      </a:r>
                    </a:p>
                  </a:txBody>
                  <a:tcPr anchor="ctr">
                    <a:solidFill>
                      <a:srgbClr val="F2E7D0"/>
                    </a:solidFill>
                  </a:tcPr>
                </a:tc>
                <a:tc>
                  <a:txBody>
                    <a:bodyPr/>
                    <a:lstStyle/>
                    <a:p>
                      <a:pPr marL="0" algn="l" defTabSz="914400" rtl="0" eaLnBrk="1" latinLnBrk="0" hangingPunct="1"/>
                      <a:r>
                        <a:rPr lang="en-US" sz="1600" b="1" kern="1200" dirty="0">
                          <a:solidFill>
                            <a:schemeClr val="tx1"/>
                          </a:solidFill>
                          <a:latin typeface="Courier New" panose="02070309020205020404" pitchFamily="49" charset="0"/>
                          <a:ea typeface="+mn-ea"/>
                          <a:cs typeface="Courier New" panose="02070309020205020404" pitchFamily="49" charset="0"/>
                        </a:rPr>
                        <a:t>7.8 * 10</a:t>
                      </a:r>
                      <a:r>
                        <a:rPr lang="en-US" sz="1600" b="1" kern="1200" baseline="30000" dirty="0">
                          <a:solidFill>
                            <a:schemeClr val="tx1"/>
                          </a:solidFill>
                          <a:latin typeface="Courier New" panose="02070309020205020404" pitchFamily="49" charset="0"/>
                          <a:ea typeface="+mn-ea"/>
                          <a:cs typeface="Courier New" panose="02070309020205020404" pitchFamily="49" charset="0"/>
                        </a:rPr>
                        <a:t>3</a:t>
                      </a:r>
                    </a:p>
                  </a:txBody>
                  <a:tcPr anchor="ctr">
                    <a:solidFill>
                      <a:srgbClr val="F2E7D0"/>
                    </a:solidFill>
                  </a:tcPr>
                </a:tc>
                <a:tc>
                  <a:txBody>
                    <a:bodyPr/>
                    <a:lstStyle/>
                    <a:p>
                      <a:pPr marL="0" algn="l" defTabSz="914400" rtl="0" eaLnBrk="1" latinLnBrk="0" hangingPunct="1"/>
                      <a:r>
                        <a:rPr lang="en-US" sz="1600" b="1" kern="1200" dirty="0">
                          <a:solidFill>
                            <a:schemeClr val="tx1"/>
                          </a:solidFill>
                          <a:latin typeface="Courier New" panose="02070309020205020404" pitchFamily="49" charset="0"/>
                          <a:ea typeface="+mn-ea"/>
                          <a:cs typeface="Courier New" panose="02070309020205020404" pitchFamily="49" charset="0"/>
                        </a:rPr>
                        <a:t>7.800000E3</a:t>
                      </a:r>
                    </a:p>
                  </a:txBody>
                  <a:tcPr anchor="ctr">
                    <a:solidFill>
                      <a:srgbClr val="F2E7D0"/>
                    </a:solidFill>
                  </a:tcPr>
                </a:tc>
                <a:extLst>
                  <a:ext uri="{0D108BD9-81ED-4DB2-BD59-A6C34878D82A}">
                    <a16:rowId xmlns:a16="http://schemas.microsoft.com/office/drawing/2014/main" val="10005"/>
                  </a:ext>
                </a:extLst>
              </a:tr>
            </a:tbl>
          </a:graphicData>
        </a:graphic>
      </p:graphicFrame>
      <p:sp>
        <p:nvSpPr>
          <p:cNvPr id="27654" name="Slide Number Placeholder 5"/>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5725B89E-DDD0-4E41-BD89-4F4171B42542}" type="slidenum">
              <a:rPr lang="en-US" altLang="en-US" smtClean="0">
                <a:solidFill>
                  <a:schemeClr val="bg1"/>
                </a:solidFill>
              </a:rPr>
              <a:pPr/>
              <a:t>44</a:t>
            </a:fld>
            <a:endParaRPr lang="en-US" altLang="en-US" dirty="0">
              <a:solidFill>
                <a:schemeClr val="bg1"/>
              </a:solidFill>
            </a:endParaRPr>
          </a:p>
        </p:txBody>
      </p:sp>
      <p:sp>
        <p:nvSpPr>
          <p:cNvPr id="9" name="TextBox 8">
            <a:extLst>
              <a:ext uri="{FF2B5EF4-FFF2-40B4-BE49-F238E27FC236}">
                <a16:creationId xmlns:a16="http://schemas.microsoft.com/office/drawing/2014/main" id="{93981702-FA3B-C74C-BF51-3F408ECEBFB9}"/>
              </a:ext>
            </a:extLst>
          </p:cNvPr>
          <p:cNvSpPr txBox="1"/>
          <p:nvPr/>
        </p:nvSpPr>
        <p:spPr>
          <a:xfrm>
            <a:off x="5468112" y="5665571"/>
            <a:ext cx="6132576" cy="646331"/>
          </a:xfrm>
          <a:prstGeom prst="rect">
            <a:avLst/>
          </a:prstGeom>
          <a:noFill/>
        </p:spPr>
        <p:txBody>
          <a:bodyPr wrap="none" rtlCol="0">
            <a:spAutoFit/>
          </a:bodyPr>
          <a:lstStyle/>
          <a:p>
            <a:r>
              <a:rPr lang="en-US" dirty="0"/>
              <a:t>* this slide and the next few slides are stolen from a textbook</a:t>
            </a:r>
            <a:br>
              <a:rPr lang="en-US" dirty="0"/>
            </a:br>
            <a:r>
              <a:rPr lang="en-US" dirty="0"/>
              <a:t>apologies if they're boring and/or ugly</a:t>
            </a:r>
          </a:p>
        </p:txBody>
      </p:sp>
    </p:spTree>
    <p:extLst>
      <p:ext uri="{BB962C8B-B14F-4D97-AF65-F5344CB8AC3E}">
        <p14:creationId xmlns:p14="http://schemas.microsoft.com/office/powerpoint/2010/main" val="554968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dirty="0"/>
              <a:t>Floating-Point Data Types (2 of 3)</a:t>
            </a:r>
          </a:p>
        </p:txBody>
      </p:sp>
      <p:sp>
        <p:nvSpPr>
          <p:cNvPr id="28675" name="Rectangle 3"/>
          <p:cNvSpPr>
            <a:spLocks noGrp="1" noChangeArrowheads="1"/>
          </p:cNvSpPr>
          <p:nvPr>
            <p:ph idx="1"/>
          </p:nvPr>
        </p:nvSpPr>
        <p:spPr>
          <a:xfrm>
            <a:off x="1889125" y="1538818"/>
            <a:ext cx="8415338" cy="1865126"/>
          </a:xfrm>
        </p:spPr>
        <p:txBody>
          <a:bodyPr>
            <a:normAutofit fontScale="77500" lnSpcReduction="20000"/>
          </a:bodyPr>
          <a:lstStyle/>
          <a:p>
            <a:pPr lvl="0">
              <a:buClr>
                <a:srgbClr val="055C91"/>
              </a:buClr>
            </a:pPr>
            <a:r>
              <a:rPr lang="en-US" altLang="en-US" b="1" dirty="0">
                <a:solidFill>
                  <a:srgbClr val="638DAD"/>
                </a:solidFill>
                <a:latin typeface="Courier New" panose="02070309020205020404" pitchFamily="49" charset="0"/>
                <a:cs typeface="Courier New" panose="02070309020205020404" pitchFamily="49" charset="0"/>
              </a:rPr>
              <a:t>float</a:t>
            </a:r>
            <a:r>
              <a:rPr lang="en-US" altLang="en-US" dirty="0">
                <a:solidFill>
                  <a:srgbClr val="000000">
                    <a:lumMod val="75000"/>
                    <a:lumOff val="25000"/>
                  </a:srgbClr>
                </a:solidFill>
              </a:rPr>
              <a:t>: represents any real number</a:t>
            </a:r>
          </a:p>
          <a:p>
            <a:pPr lvl="1">
              <a:buClr>
                <a:srgbClr val="0D3857"/>
              </a:buClr>
            </a:pPr>
            <a:r>
              <a:rPr lang="en-US" altLang="en-US" dirty="0">
                <a:solidFill>
                  <a:srgbClr val="000000">
                    <a:lumMod val="75000"/>
                    <a:lumOff val="25000"/>
                  </a:srgbClr>
                </a:solidFill>
              </a:rPr>
              <a:t>Range: </a:t>
            </a:r>
            <a:r>
              <a:rPr lang="en-US" b="1" dirty="0">
                <a:solidFill>
                  <a:srgbClr val="000000">
                    <a:lumMod val="75000"/>
                    <a:lumOff val="25000"/>
                  </a:srgbClr>
                </a:solidFill>
                <a:latin typeface="Courier New" panose="02070309020205020404" pitchFamily="49" charset="0"/>
                <a:cs typeface="Courier New" panose="02070309020205020404" pitchFamily="49" charset="0"/>
              </a:rPr>
              <a:t>-3.4 * 10</a:t>
            </a:r>
            <a:r>
              <a:rPr lang="en-US" b="1" baseline="30000" dirty="0">
                <a:solidFill>
                  <a:srgbClr val="000000">
                    <a:lumMod val="75000"/>
                    <a:lumOff val="25000"/>
                  </a:srgbClr>
                </a:solidFill>
                <a:latin typeface="Courier New" panose="02070309020205020404" pitchFamily="49" charset="0"/>
                <a:cs typeface="Courier New" panose="02070309020205020404" pitchFamily="49" charset="0"/>
              </a:rPr>
              <a:t>38</a:t>
            </a:r>
            <a:r>
              <a:rPr lang="en-US" altLang="en-US" dirty="0">
                <a:solidFill>
                  <a:srgbClr val="000000">
                    <a:lumMod val="75000"/>
                    <a:lumOff val="25000"/>
                  </a:srgbClr>
                </a:solidFill>
                <a:latin typeface="Courier New" panose="02070309020205020404" pitchFamily="49" charset="0"/>
                <a:cs typeface="Courier New" panose="02070309020205020404" pitchFamily="49" charset="0"/>
              </a:rPr>
              <a:t> </a:t>
            </a:r>
            <a:r>
              <a:rPr lang="en-US" altLang="en-US" dirty="0">
                <a:solidFill>
                  <a:srgbClr val="000000">
                    <a:lumMod val="75000"/>
                    <a:lumOff val="25000"/>
                  </a:srgbClr>
                </a:solidFill>
              </a:rPr>
              <a:t>to </a:t>
            </a:r>
            <a:r>
              <a:rPr lang="en-US" b="1" dirty="0">
                <a:solidFill>
                  <a:srgbClr val="000000">
                    <a:lumMod val="75000"/>
                    <a:lumOff val="25000"/>
                  </a:srgbClr>
                </a:solidFill>
                <a:latin typeface="Courier New" panose="02070309020205020404" pitchFamily="49" charset="0"/>
                <a:cs typeface="Courier New" panose="02070309020205020404" pitchFamily="49" charset="0"/>
              </a:rPr>
              <a:t>3.4 * 10</a:t>
            </a:r>
            <a:r>
              <a:rPr lang="en-US" b="1" baseline="30000" dirty="0">
                <a:solidFill>
                  <a:srgbClr val="000000">
                    <a:lumMod val="75000"/>
                    <a:lumOff val="25000"/>
                  </a:srgbClr>
                </a:solidFill>
                <a:latin typeface="Courier New" panose="02070309020205020404" pitchFamily="49" charset="0"/>
                <a:cs typeface="Courier New" panose="02070309020205020404" pitchFamily="49" charset="0"/>
              </a:rPr>
              <a:t>38</a:t>
            </a:r>
            <a:r>
              <a:rPr lang="en-US" altLang="en-US" dirty="0">
                <a:solidFill>
                  <a:srgbClr val="000000">
                    <a:lumMod val="75000"/>
                    <a:lumOff val="25000"/>
                  </a:srgbClr>
                </a:solidFill>
                <a:latin typeface="Courier New" panose="02070309020205020404" pitchFamily="49" charset="0"/>
                <a:cs typeface="Courier New" panose="02070309020205020404" pitchFamily="49" charset="0"/>
              </a:rPr>
              <a:t> </a:t>
            </a:r>
            <a:r>
              <a:rPr lang="en-US" altLang="en-US" dirty="0">
                <a:solidFill>
                  <a:srgbClr val="000000">
                    <a:lumMod val="75000"/>
                    <a:lumOff val="25000"/>
                  </a:srgbClr>
                </a:solidFill>
              </a:rPr>
              <a:t>(four bytes)</a:t>
            </a:r>
          </a:p>
          <a:p>
            <a:pPr lvl="0">
              <a:buClr>
                <a:srgbClr val="055C91"/>
              </a:buClr>
            </a:pPr>
            <a:r>
              <a:rPr lang="en-US" altLang="en-US" b="1" dirty="0">
                <a:solidFill>
                  <a:srgbClr val="638DAD"/>
                </a:solidFill>
                <a:latin typeface="Courier New" panose="02070309020205020404" pitchFamily="49" charset="0"/>
                <a:cs typeface="Courier New" panose="02070309020205020404" pitchFamily="49" charset="0"/>
              </a:rPr>
              <a:t>double</a:t>
            </a:r>
            <a:r>
              <a:rPr lang="en-US" altLang="en-US" dirty="0">
                <a:solidFill>
                  <a:srgbClr val="000000">
                    <a:lumMod val="75000"/>
                    <a:lumOff val="25000"/>
                  </a:srgbClr>
                </a:solidFill>
              </a:rPr>
              <a:t>: represents any real number</a:t>
            </a:r>
          </a:p>
          <a:p>
            <a:pPr lvl="1">
              <a:buClr>
                <a:srgbClr val="0D3857"/>
              </a:buClr>
            </a:pPr>
            <a:r>
              <a:rPr lang="en-US" altLang="en-US" dirty="0">
                <a:solidFill>
                  <a:srgbClr val="000000">
                    <a:lumMod val="75000"/>
                    <a:lumOff val="25000"/>
                  </a:srgbClr>
                </a:solidFill>
              </a:rPr>
              <a:t>Range: </a:t>
            </a:r>
            <a:r>
              <a:rPr lang="en-US" b="1" dirty="0">
                <a:solidFill>
                  <a:srgbClr val="000000">
                    <a:lumMod val="75000"/>
                    <a:lumOff val="25000"/>
                  </a:srgbClr>
                </a:solidFill>
                <a:latin typeface="Courier New" panose="02070309020205020404" pitchFamily="49" charset="0"/>
                <a:cs typeface="Courier New" panose="02070309020205020404" pitchFamily="49" charset="0"/>
              </a:rPr>
              <a:t>–</a:t>
            </a: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1.7 * 10</a:t>
            </a:r>
            <a:r>
              <a:rPr lang="en-US" altLang="en-US" b="1" baseline="30000" dirty="0">
                <a:solidFill>
                  <a:srgbClr val="000000">
                    <a:lumMod val="75000"/>
                    <a:lumOff val="25000"/>
                  </a:srgbClr>
                </a:solidFill>
                <a:latin typeface="Courier New" panose="02070309020205020404" pitchFamily="49" charset="0"/>
                <a:cs typeface="Courier New" panose="02070309020205020404" pitchFamily="49" charset="0"/>
              </a:rPr>
              <a:t>308</a:t>
            </a: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 </a:t>
            </a:r>
            <a:r>
              <a:rPr lang="en-US" altLang="en-US" dirty="0">
                <a:solidFill>
                  <a:srgbClr val="000000">
                    <a:lumMod val="75000"/>
                    <a:lumOff val="25000"/>
                  </a:srgbClr>
                </a:solidFill>
              </a:rPr>
              <a:t>to </a:t>
            </a: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1.7 * 10</a:t>
            </a:r>
            <a:r>
              <a:rPr lang="en-US" altLang="en-US" b="1" baseline="30000" dirty="0">
                <a:solidFill>
                  <a:srgbClr val="000000">
                    <a:lumMod val="75000"/>
                    <a:lumOff val="25000"/>
                  </a:srgbClr>
                </a:solidFill>
                <a:latin typeface="Courier New" panose="02070309020205020404" pitchFamily="49" charset="0"/>
                <a:cs typeface="Courier New" panose="02070309020205020404" pitchFamily="49" charset="0"/>
              </a:rPr>
              <a:t>308</a:t>
            </a: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 </a:t>
            </a:r>
            <a:r>
              <a:rPr lang="en-US" altLang="en-US" dirty="0">
                <a:solidFill>
                  <a:srgbClr val="000000">
                    <a:lumMod val="75000"/>
                    <a:lumOff val="25000"/>
                  </a:srgbClr>
                </a:solidFill>
              </a:rPr>
              <a:t>(eight bytes)</a:t>
            </a:r>
          </a:p>
          <a:p>
            <a:pPr lvl="0">
              <a:buClr>
                <a:srgbClr val="055C91"/>
              </a:buClr>
            </a:pPr>
            <a:r>
              <a:rPr lang="en-US" altLang="en-US" dirty="0">
                <a:solidFill>
                  <a:srgbClr val="000000">
                    <a:lumMod val="75000"/>
                    <a:lumOff val="25000"/>
                  </a:srgbClr>
                </a:solidFill>
              </a:rPr>
              <a:t>Minimum and maximum values of data types are system dependent</a:t>
            </a:r>
          </a:p>
        </p:txBody>
      </p:sp>
      <p:sp>
        <p:nvSpPr>
          <p:cNvPr id="28677"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2A6F812A-E4F4-4464-B04D-F2346BD6AE14}" type="slidenum">
              <a:rPr lang="en-US" altLang="en-US" smtClean="0">
                <a:solidFill>
                  <a:schemeClr val="bg1"/>
                </a:solidFill>
              </a:rPr>
              <a:pPr/>
              <a:t>45</a:t>
            </a:fld>
            <a:endParaRPr lang="en-US" altLang="en-US" dirty="0">
              <a:solidFill>
                <a:schemeClr val="bg1"/>
              </a:solidFill>
            </a:endParaRPr>
          </a:p>
        </p:txBody>
      </p:sp>
    </p:spTree>
    <p:extLst>
      <p:ext uri="{BB962C8B-B14F-4D97-AF65-F5344CB8AC3E}">
        <p14:creationId xmlns:p14="http://schemas.microsoft.com/office/powerpoint/2010/main" val="15084980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p:nvPr>
        </p:nvSpPr>
        <p:spPr/>
        <p:txBody>
          <a:bodyPr/>
          <a:lstStyle/>
          <a:p>
            <a:r>
              <a:rPr lang="en-US" altLang="en-US" dirty="0"/>
              <a:t>Floating-Point Data Types (3 of 3)</a:t>
            </a:r>
          </a:p>
        </p:txBody>
      </p:sp>
      <p:sp>
        <p:nvSpPr>
          <p:cNvPr id="29699" name="Rectangle 5"/>
          <p:cNvSpPr>
            <a:spLocks noGrp="1" noChangeArrowheads="1"/>
          </p:cNvSpPr>
          <p:nvPr>
            <p:ph idx="1"/>
          </p:nvPr>
        </p:nvSpPr>
        <p:spPr>
          <a:xfrm>
            <a:off x="1889125" y="1538818"/>
            <a:ext cx="8415338" cy="1868588"/>
          </a:xfrm>
        </p:spPr>
        <p:txBody>
          <a:bodyPr>
            <a:normAutofit fontScale="77500" lnSpcReduction="20000"/>
          </a:bodyPr>
          <a:lstStyle/>
          <a:p>
            <a:r>
              <a:rPr lang="en-US" altLang="en-US" dirty="0"/>
              <a:t>Maximum number of significant digits (decimal places) for </a:t>
            </a:r>
            <a:r>
              <a:rPr lang="en-US" altLang="en-US" b="1" dirty="0">
                <a:solidFill>
                  <a:srgbClr val="638DAD"/>
                </a:solidFill>
                <a:latin typeface="Courier New" panose="02070309020205020404" pitchFamily="49" charset="0"/>
                <a:cs typeface="Courier New" panose="02070309020205020404" pitchFamily="49" charset="0"/>
              </a:rPr>
              <a:t>float</a:t>
            </a:r>
            <a:r>
              <a:rPr lang="en-US" altLang="en-US" dirty="0"/>
              <a:t> values: 6 or 7 </a:t>
            </a:r>
          </a:p>
          <a:p>
            <a:r>
              <a:rPr lang="en-US" altLang="en-US" dirty="0"/>
              <a:t>Maximum number of significant digits for </a:t>
            </a:r>
            <a:r>
              <a:rPr lang="en-US" altLang="en-US" b="1" dirty="0">
                <a:solidFill>
                  <a:srgbClr val="638DAD"/>
                </a:solidFill>
                <a:latin typeface="Courier New" panose="02070309020205020404" pitchFamily="49" charset="0"/>
                <a:cs typeface="Courier New" panose="02070309020205020404" pitchFamily="49" charset="0"/>
              </a:rPr>
              <a:t>double</a:t>
            </a:r>
            <a:r>
              <a:rPr lang="en-US" altLang="en-US" dirty="0"/>
              <a:t>: 15</a:t>
            </a:r>
          </a:p>
          <a:p>
            <a:r>
              <a:rPr lang="en-US" altLang="en-US" u="sng" dirty="0"/>
              <a:t>Precision</a:t>
            </a:r>
            <a:r>
              <a:rPr lang="en-US" altLang="en-US" dirty="0"/>
              <a:t>: maximum number of significant digits</a:t>
            </a:r>
          </a:p>
          <a:p>
            <a:pPr lvl="1"/>
            <a:r>
              <a:rPr lang="en-US" altLang="en-US" b="1" dirty="0">
                <a:solidFill>
                  <a:srgbClr val="638DAD"/>
                </a:solidFill>
                <a:latin typeface="Courier New" panose="02070309020205020404" pitchFamily="49" charset="0"/>
                <a:cs typeface="Courier New" panose="02070309020205020404" pitchFamily="49" charset="0"/>
              </a:rPr>
              <a:t>float</a:t>
            </a:r>
            <a:r>
              <a:rPr lang="en-US" altLang="en-US" dirty="0">
                <a:solidFill>
                  <a:srgbClr val="638DAD"/>
                </a:solidFill>
              </a:rPr>
              <a:t> </a:t>
            </a:r>
            <a:r>
              <a:rPr lang="en-US" altLang="en-US" dirty="0"/>
              <a:t>values are called </a:t>
            </a:r>
            <a:r>
              <a:rPr lang="en-US" altLang="en-US" u="sng" dirty="0"/>
              <a:t>single precision</a:t>
            </a:r>
          </a:p>
          <a:p>
            <a:pPr lvl="1"/>
            <a:r>
              <a:rPr lang="en-US" altLang="en-US" b="1" dirty="0">
                <a:solidFill>
                  <a:srgbClr val="638DAD"/>
                </a:solidFill>
                <a:latin typeface="Courier New" panose="02070309020205020404" pitchFamily="49" charset="0"/>
                <a:cs typeface="Courier New" panose="02070309020205020404" pitchFamily="49" charset="0"/>
              </a:rPr>
              <a:t>double</a:t>
            </a:r>
            <a:r>
              <a:rPr lang="en-US" altLang="en-US" dirty="0"/>
              <a:t> values are called </a:t>
            </a:r>
            <a:r>
              <a:rPr lang="en-US" altLang="en-US" u="sng" dirty="0"/>
              <a:t>double precision</a:t>
            </a:r>
          </a:p>
        </p:txBody>
      </p:sp>
      <p:sp>
        <p:nvSpPr>
          <p:cNvPr id="29701"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8BCA5EC4-DA3A-42E7-A704-46758B178BC6}" type="slidenum">
              <a:rPr lang="en-US" altLang="en-US" smtClean="0">
                <a:solidFill>
                  <a:schemeClr val="bg1"/>
                </a:solidFill>
              </a:rPr>
              <a:pPr/>
              <a:t>46</a:t>
            </a:fld>
            <a:endParaRPr lang="en-US" altLang="en-US" dirty="0">
              <a:solidFill>
                <a:schemeClr val="bg1"/>
              </a:solidFill>
            </a:endParaRPr>
          </a:p>
        </p:txBody>
      </p:sp>
    </p:spTree>
    <p:extLst>
      <p:ext uri="{BB962C8B-B14F-4D97-AF65-F5344CB8AC3E}">
        <p14:creationId xmlns:p14="http://schemas.microsoft.com/office/powerpoint/2010/main" val="12211617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normAutofit/>
          </a:bodyPr>
          <a:lstStyle/>
          <a:p>
            <a:r>
              <a:rPr lang="en-US" altLang="en-US" sz="3800" dirty="0"/>
              <a:t>Data Types, Variables, and Assignment Statements</a:t>
            </a:r>
          </a:p>
        </p:txBody>
      </p:sp>
      <p:sp>
        <p:nvSpPr>
          <p:cNvPr id="3" name="Content Placeholder 2"/>
          <p:cNvSpPr>
            <a:spLocks noGrp="1"/>
          </p:cNvSpPr>
          <p:nvPr>
            <p:ph idx="1"/>
          </p:nvPr>
        </p:nvSpPr>
        <p:spPr>
          <a:xfrm>
            <a:off x="1888331" y="1937026"/>
            <a:ext cx="8415338" cy="3219343"/>
          </a:xfrm>
        </p:spPr>
        <p:txBody>
          <a:bodyPr>
            <a:normAutofit fontScale="77500" lnSpcReduction="20000"/>
          </a:bodyPr>
          <a:lstStyle/>
          <a:p>
            <a:r>
              <a:rPr lang="en-US" dirty="0"/>
              <a:t>To declare a variable, must specify its data type</a:t>
            </a:r>
          </a:p>
          <a:p>
            <a:r>
              <a:rPr lang="en-US" dirty="0"/>
              <a:t>Syntax rule to declare a variable is:</a:t>
            </a:r>
          </a:p>
          <a:p>
            <a:pPr lvl="1"/>
            <a:r>
              <a:rPr lang="en-US" b="1" dirty="0">
                <a:solidFill>
                  <a:schemeClr val="tx1"/>
                </a:solidFill>
                <a:latin typeface="Courier New" panose="02070309020205020404" pitchFamily="49" charset="0"/>
                <a:cs typeface="Courier New" panose="02070309020205020404" pitchFamily="49" charset="0"/>
              </a:rPr>
              <a:t>dataType identifier;</a:t>
            </a:r>
          </a:p>
          <a:p>
            <a:r>
              <a:rPr lang="en-US" dirty="0"/>
              <a:t>Examples include:</a:t>
            </a:r>
          </a:p>
          <a:p>
            <a:pPr marL="400050" indent="0">
              <a:lnSpc>
                <a:spcPct val="100000"/>
              </a:lnSpc>
              <a:spcBef>
                <a:spcPts val="0"/>
              </a:spcBef>
              <a:buNone/>
            </a:pPr>
            <a:r>
              <a:rPr lang="en-US" sz="1800" b="1" dirty="0">
                <a:solidFill>
                  <a:srgbClr val="638DAD"/>
                </a:solidFill>
                <a:latin typeface="Courier New" panose="02070309020205020404" pitchFamily="49" charset="0"/>
                <a:cs typeface="Courier New" panose="02070309020205020404" pitchFamily="49" charset="0"/>
              </a:rPr>
              <a:t>int</a:t>
            </a:r>
            <a:r>
              <a:rPr lang="en-US" sz="1800" b="1" dirty="0">
                <a:latin typeface="Courier New" panose="02070309020205020404" pitchFamily="49" charset="0"/>
                <a:cs typeface="Courier New" panose="02070309020205020404" pitchFamily="49" charset="0"/>
              </a:rPr>
              <a:t> counter;</a:t>
            </a:r>
          </a:p>
          <a:p>
            <a:pPr marL="400050" indent="0">
              <a:lnSpc>
                <a:spcPct val="100000"/>
              </a:lnSpc>
              <a:spcBef>
                <a:spcPts val="0"/>
              </a:spcBef>
              <a:buNone/>
            </a:pPr>
            <a:r>
              <a:rPr lang="en-US" sz="1800" b="1" dirty="0">
                <a:solidFill>
                  <a:srgbClr val="638DAD"/>
                </a:solidFill>
                <a:latin typeface="Courier New" panose="02070309020205020404" pitchFamily="49" charset="0"/>
                <a:cs typeface="Courier New" panose="02070309020205020404" pitchFamily="49" charset="0"/>
              </a:rPr>
              <a:t>double</a:t>
            </a:r>
            <a:r>
              <a:rPr lang="en-US" sz="1800" b="1" dirty="0">
                <a:latin typeface="Courier New" panose="02070309020205020404" pitchFamily="49" charset="0"/>
                <a:cs typeface="Courier New" panose="02070309020205020404" pitchFamily="49" charset="0"/>
              </a:rPr>
              <a:t> interestRate;</a:t>
            </a:r>
          </a:p>
          <a:p>
            <a:pPr marL="400050" indent="0">
              <a:lnSpc>
                <a:spcPct val="100000"/>
              </a:lnSpc>
              <a:spcBef>
                <a:spcPts val="0"/>
              </a:spcBef>
              <a:buNone/>
            </a:pPr>
            <a:r>
              <a:rPr lang="en-US" sz="1800" b="1" dirty="0">
                <a:solidFill>
                  <a:srgbClr val="638DAD"/>
                </a:solidFill>
                <a:latin typeface="Courier New" panose="02070309020205020404" pitchFamily="49" charset="0"/>
                <a:cs typeface="Courier New" panose="02070309020205020404" pitchFamily="49" charset="0"/>
              </a:rPr>
              <a:t>char</a:t>
            </a:r>
            <a:r>
              <a:rPr lang="en-US" sz="1800" b="1" dirty="0">
                <a:latin typeface="Courier New" panose="02070309020205020404" pitchFamily="49" charset="0"/>
                <a:cs typeface="Courier New" panose="02070309020205020404" pitchFamily="49" charset="0"/>
              </a:rPr>
              <a:t> grade;</a:t>
            </a:r>
          </a:p>
          <a:p>
            <a:r>
              <a:rPr lang="en-US" u="sng" dirty="0"/>
              <a:t>Assignment statement</a:t>
            </a:r>
            <a:r>
              <a:rPr lang="en-US" dirty="0"/>
              <a:t> has the form</a:t>
            </a:r>
            <a:r>
              <a:rPr lang="en-US" dirty="0">
                <a:solidFill>
                  <a:schemeClr val="tx1"/>
                </a:solidFill>
              </a:rPr>
              <a:t>:</a:t>
            </a:r>
            <a:br>
              <a:rPr lang="en-US" dirty="0">
                <a:solidFill>
                  <a:schemeClr val="tx1"/>
                </a:solidFill>
              </a:rPr>
            </a:br>
            <a:endParaRPr lang="en-US" dirty="0">
              <a:solidFill>
                <a:schemeClr val="tx1"/>
              </a:solidFill>
            </a:endParaRPr>
          </a:p>
          <a:p>
            <a:r>
              <a:rPr lang="en-US" dirty="0">
                <a:solidFill>
                  <a:schemeClr val="tx1"/>
                </a:solidFill>
              </a:rPr>
              <a:t> </a:t>
            </a:r>
            <a:r>
              <a:rPr lang="en-US" b="1" dirty="0">
                <a:solidFill>
                  <a:schemeClr val="tx1"/>
                </a:solidFill>
                <a:latin typeface="Courier New" panose="02070309020205020404" pitchFamily="49" charset="0"/>
                <a:cs typeface="Courier New" panose="02070309020205020404" pitchFamily="49" charset="0"/>
              </a:rPr>
              <a:t>variable = expression</a:t>
            </a:r>
          </a:p>
          <a:p>
            <a:pPr lvl="1"/>
            <a:r>
              <a:rPr lang="en-US" dirty="0">
                <a:solidFill>
                  <a:schemeClr val="tx1"/>
                </a:solidFill>
              </a:rPr>
              <a:t>Example: </a:t>
            </a:r>
            <a:r>
              <a:rPr lang="en-US" b="1" dirty="0">
                <a:solidFill>
                  <a:schemeClr val="tx1"/>
                </a:solidFill>
                <a:latin typeface="Courier New" panose="02070309020205020404" pitchFamily="49" charset="0"/>
                <a:cs typeface="Courier New" panose="02070309020205020404" pitchFamily="49" charset="0"/>
              </a:rPr>
              <a:t>interestRate = 0.05;</a:t>
            </a:r>
          </a:p>
        </p:txBody>
      </p:sp>
      <p:sp>
        <p:nvSpPr>
          <p:cNvPr id="30725"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2624024C-313A-421E-AE81-482E053A3D1C}" type="slidenum">
              <a:rPr lang="en-US" altLang="en-US" smtClean="0">
                <a:solidFill>
                  <a:schemeClr val="bg1"/>
                </a:solidFill>
              </a:rPr>
              <a:pPr/>
              <a:t>47</a:t>
            </a:fld>
            <a:endParaRPr lang="en-US" altLang="en-US" dirty="0">
              <a:solidFill>
                <a:schemeClr val="bg1"/>
              </a:solidFill>
            </a:endParaRPr>
          </a:p>
        </p:txBody>
      </p:sp>
    </p:spTree>
    <p:extLst>
      <p:ext uri="{BB962C8B-B14F-4D97-AF65-F5344CB8AC3E}">
        <p14:creationId xmlns:p14="http://schemas.microsoft.com/office/powerpoint/2010/main" val="41240675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p:cNvSpPr>
            <a:spLocks noGrp="1" noChangeArrowheads="1"/>
          </p:cNvSpPr>
          <p:nvPr>
            <p:ph type="title"/>
          </p:nvPr>
        </p:nvSpPr>
        <p:spPr>
          <a:xfrm>
            <a:off x="2286000" y="410491"/>
            <a:ext cx="8026400" cy="287771"/>
          </a:xfrm>
        </p:spPr>
        <p:txBody>
          <a:bodyPr>
            <a:normAutofit fontScale="90000"/>
          </a:bodyPr>
          <a:lstStyle/>
          <a:p>
            <a:r>
              <a:rPr lang="en-US" altLang="en-US" dirty="0"/>
              <a:t>Arithmetic Operators, Operator Precedence, and Expressions (1 of 2)</a:t>
            </a:r>
          </a:p>
        </p:txBody>
      </p:sp>
      <p:sp>
        <p:nvSpPr>
          <p:cNvPr id="31747" name="Rectangle 6"/>
          <p:cNvSpPr>
            <a:spLocks noGrp="1" noChangeArrowheads="1"/>
          </p:cNvSpPr>
          <p:nvPr>
            <p:ph idx="1"/>
          </p:nvPr>
        </p:nvSpPr>
        <p:spPr>
          <a:xfrm>
            <a:off x="1889125" y="1538818"/>
            <a:ext cx="8415338" cy="2889252"/>
          </a:xfrm>
        </p:spPr>
        <p:txBody>
          <a:bodyPr>
            <a:normAutofit fontScale="85000" lnSpcReduction="20000"/>
          </a:bodyPr>
          <a:lstStyle/>
          <a:p>
            <a:pPr lvl="0">
              <a:buClr>
                <a:srgbClr val="055C91"/>
              </a:buClr>
            </a:pPr>
            <a:r>
              <a:rPr lang="en-US" altLang="en-US" dirty="0">
                <a:solidFill>
                  <a:srgbClr val="000000">
                    <a:lumMod val="75000"/>
                    <a:lumOff val="25000"/>
                  </a:srgbClr>
                </a:solidFill>
              </a:rPr>
              <a:t>C++ </a:t>
            </a:r>
            <a:r>
              <a:rPr lang="en-US" altLang="en-US" u="sng" dirty="0">
                <a:solidFill>
                  <a:srgbClr val="000000">
                    <a:lumMod val="75000"/>
                    <a:lumOff val="25000"/>
                  </a:srgbClr>
                </a:solidFill>
              </a:rPr>
              <a:t>arithmetic operators</a:t>
            </a:r>
            <a:r>
              <a:rPr lang="en-US" altLang="en-US" dirty="0">
                <a:solidFill>
                  <a:srgbClr val="000000">
                    <a:lumMod val="75000"/>
                    <a:lumOff val="25000"/>
                  </a:srgbClr>
                </a:solidFill>
              </a:rPr>
              <a:t> include:</a:t>
            </a:r>
          </a:p>
          <a:p>
            <a:pPr lvl="1" indent="0">
              <a:buClr>
                <a:srgbClr val="0D3857"/>
              </a:buClr>
              <a:buNone/>
            </a:pP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a:t>
            </a:r>
            <a:r>
              <a:rPr lang="en-US" altLang="en-US" dirty="0">
                <a:solidFill>
                  <a:srgbClr val="000000">
                    <a:lumMod val="75000"/>
                    <a:lumOff val="25000"/>
                  </a:srgbClr>
                </a:solidFill>
              </a:rPr>
              <a:t> </a:t>
            </a:r>
            <a:r>
              <a:rPr lang="en-US" altLang="en-US" u="sng" dirty="0">
                <a:solidFill>
                  <a:srgbClr val="000000">
                    <a:lumMod val="75000"/>
                    <a:lumOff val="25000"/>
                  </a:srgbClr>
                </a:solidFill>
              </a:rPr>
              <a:t>addition</a:t>
            </a:r>
          </a:p>
          <a:p>
            <a:pPr lvl="1" indent="0">
              <a:buClr>
                <a:srgbClr val="0D3857"/>
              </a:buClr>
              <a:buNone/>
            </a:pPr>
            <a:r>
              <a:rPr lang="en-US" b="1" dirty="0">
                <a:solidFill>
                  <a:srgbClr val="000000">
                    <a:lumMod val="75000"/>
                    <a:lumOff val="25000"/>
                  </a:srgbClr>
                </a:solidFill>
                <a:latin typeface="Courier New" panose="02070309020205020404" pitchFamily="49" charset="0"/>
                <a:cs typeface="Courier New" panose="02070309020205020404" pitchFamily="49" charset="0"/>
              </a:rPr>
              <a:t>-</a:t>
            </a:r>
            <a:r>
              <a:rPr lang="en-US" altLang="en-US" dirty="0">
                <a:solidFill>
                  <a:srgbClr val="000000">
                    <a:lumMod val="75000"/>
                    <a:lumOff val="25000"/>
                  </a:srgbClr>
                </a:solidFill>
              </a:rPr>
              <a:t> </a:t>
            </a:r>
            <a:r>
              <a:rPr lang="en-US" altLang="en-US" u="sng" dirty="0">
                <a:solidFill>
                  <a:srgbClr val="000000">
                    <a:lumMod val="75000"/>
                    <a:lumOff val="25000"/>
                  </a:srgbClr>
                </a:solidFill>
              </a:rPr>
              <a:t>subtraction</a:t>
            </a:r>
            <a:r>
              <a:rPr lang="en-US" altLang="en-US" dirty="0">
                <a:solidFill>
                  <a:srgbClr val="000000">
                    <a:lumMod val="75000"/>
                    <a:lumOff val="25000"/>
                  </a:srgbClr>
                </a:solidFill>
              </a:rPr>
              <a:t> (or </a:t>
            </a:r>
            <a:r>
              <a:rPr lang="en-US" altLang="en-US" u="sng" dirty="0">
                <a:solidFill>
                  <a:srgbClr val="000000">
                    <a:lumMod val="75000"/>
                    <a:lumOff val="25000"/>
                  </a:srgbClr>
                </a:solidFill>
              </a:rPr>
              <a:t>negation</a:t>
            </a:r>
            <a:r>
              <a:rPr lang="en-US" altLang="en-US" dirty="0">
                <a:solidFill>
                  <a:srgbClr val="000000">
                    <a:lumMod val="75000"/>
                    <a:lumOff val="25000"/>
                  </a:srgbClr>
                </a:solidFill>
              </a:rPr>
              <a:t>)</a:t>
            </a:r>
            <a:endParaRPr lang="en-US" altLang="en-US" u="sng" dirty="0">
              <a:solidFill>
                <a:srgbClr val="000000">
                  <a:lumMod val="75000"/>
                  <a:lumOff val="25000"/>
                </a:srgbClr>
              </a:solidFill>
            </a:endParaRPr>
          </a:p>
          <a:p>
            <a:pPr lvl="1" indent="0">
              <a:buClr>
                <a:srgbClr val="0D3857"/>
              </a:buClr>
              <a:buNone/>
            </a:pP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a:t>
            </a:r>
            <a:r>
              <a:rPr lang="en-US" altLang="en-US" dirty="0">
                <a:solidFill>
                  <a:srgbClr val="000000">
                    <a:lumMod val="75000"/>
                    <a:lumOff val="25000"/>
                  </a:srgbClr>
                </a:solidFill>
              </a:rPr>
              <a:t> </a:t>
            </a:r>
            <a:r>
              <a:rPr lang="en-US" altLang="en-US" u="sng" dirty="0">
                <a:solidFill>
                  <a:srgbClr val="000000">
                    <a:lumMod val="75000"/>
                    <a:lumOff val="25000"/>
                  </a:srgbClr>
                </a:solidFill>
              </a:rPr>
              <a:t>multiplication</a:t>
            </a:r>
          </a:p>
          <a:p>
            <a:pPr lvl="1" indent="0">
              <a:buClr>
                <a:srgbClr val="0D3857"/>
              </a:buClr>
              <a:buNone/>
            </a:pP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a:t>
            </a:r>
            <a:r>
              <a:rPr lang="en-US" altLang="en-US" dirty="0">
                <a:solidFill>
                  <a:srgbClr val="000000">
                    <a:lumMod val="75000"/>
                    <a:lumOff val="25000"/>
                  </a:srgbClr>
                </a:solidFill>
              </a:rPr>
              <a:t> </a:t>
            </a:r>
            <a:r>
              <a:rPr lang="en-US" altLang="en-US" u="sng" dirty="0">
                <a:solidFill>
                  <a:srgbClr val="000000">
                    <a:lumMod val="75000"/>
                    <a:lumOff val="25000"/>
                  </a:srgbClr>
                </a:solidFill>
              </a:rPr>
              <a:t>division</a:t>
            </a:r>
          </a:p>
          <a:p>
            <a:pPr lvl="1" indent="0">
              <a:buClr>
                <a:srgbClr val="0D3857"/>
              </a:buClr>
              <a:buNone/>
            </a:pP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a:t>
            </a:r>
            <a:r>
              <a:rPr lang="en-US" altLang="en-US" dirty="0">
                <a:solidFill>
                  <a:srgbClr val="000000">
                    <a:lumMod val="75000"/>
                    <a:lumOff val="25000"/>
                  </a:srgbClr>
                </a:solidFill>
              </a:rPr>
              <a:t> </a:t>
            </a:r>
            <a:r>
              <a:rPr lang="en-US" altLang="en-US" u="sng" dirty="0">
                <a:solidFill>
                  <a:srgbClr val="000000">
                    <a:lumMod val="75000"/>
                    <a:lumOff val="25000"/>
                  </a:srgbClr>
                </a:solidFill>
              </a:rPr>
              <a:t>mod</a:t>
            </a:r>
            <a:r>
              <a:rPr lang="en-US" altLang="en-US" dirty="0">
                <a:solidFill>
                  <a:srgbClr val="000000">
                    <a:lumMod val="75000"/>
                    <a:lumOff val="25000"/>
                  </a:srgbClr>
                </a:solidFill>
              </a:rPr>
              <a:t> (</a:t>
            </a:r>
            <a:r>
              <a:rPr lang="en-US" altLang="en-US" u="sng" dirty="0">
                <a:solidFill>
                  <a:srgbClr val="000000">
                    <a:lumMod val="75000"/>
                    <a:lumOff val="25000"/>
                  </a:srgbClr>
                </a:solidFill>
              </a:rPr>
              <a:t>modulus</a:t>
            </a:r>
            <a:r>
              <a:rPr lang="en-US" altLang="en-US" dirty="0">
                <a:solidFill>
                  <a:srgbClr val="000000">
                    <a:lumMod val="75000"/>
                    <a:lumOff val="25000"/>
                  </a:srgbClr>
                </a:solidFill>
              </a:rPr>
              <a:t> or </a:t>
            </a:r>
            <a:r>
              <a:rPr lang="en-US" altLang="en-US" u="sng" dirty="0">
                <a:solidFill>
                  <a:srgbClr val="000000">
                    <a:lumMod val="75000"/>
                    <a:lumOff val="25000"/>
                  </a:srgbClr>
                </a:solidFill>
              </a:rPr>
              <a:t>remainder</a:t>
            </a:r>
            <a:r>
              <a:rPr lang="en-US" altLang="en-US" dirty="0">
                <a:solidFill>
                  <a:srgbClr val="000000">
                    <a:lumMod val="75000"/>
                    <a:lumOff val="25000"/>
                  </a:srgbClr>
                </a:solidFill>
              </a:rPr>
              <a:t>)</a:t>
            </a:r>
          </a:p>
          <a:p>
            <a:pPr lvl="0">
              <a:buClr>
                <a:srgbClr val="055C91"/>
              </a:buClr>
            </a:pP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a:t>
            </a:r>
            <a:r>
              <a:rPr lang="en-US" altLang="en-US" dirty="0">
                <a:solidFill>
                  <a:srgbClr val="000000">
                    <a:lumMod val="75000"/>
                    <a:lumOff val="25000"/>
                  </a:srgbClr>
                </a:solidFill>
              </a:rPr>
              <a:t>, </a:t>
            </a:r>
            <a:r>
              <a:rPr lang="en-US" b="1" dirty="0">
                <a:solidFill>
                  <a:srgbClr val="000000">
                    <a:lumMod val="75000"/>
                    <a:lumOff val="25000"/>
                  </a:srgbClr>
                </a:solidFill>
                <a:latin typeface="Courier New" panose="02070309020205020404" pitchFamily="49" charset="0"/>
                <a:cs typeface="Courier New" panose="02070309020205020404" pitchFamily="49" charset="0"/>
              </a:rPr>
              <a:t>-</a:t>
            </a:r>
            <a:r>
              <a:rPr lang="en-US" altLang="en-US" dirty="0">
                <a:solidFill>
                  <a:srgbClr val="000000">
                    <a:lumMod val="75000"/>
                    <a:lumOff val="25000"/>
                  </a:srgbClr>
                </a:solidFill>
              </a:rPr>
              <a:t>, </a:t>
            </a: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a:t>
            </a:r>
            <a:r>
              <a:rPr lang="en-US" altLang="en-US" dirty="0">
                <a:solidFill>
                  <a:srgbClr val="000000">
                    <a:lumMod val="75000"/>
                    <a:lumOff val="25000"/>
                  </a:srgbClr>
                </a:solidFill>
              </a:rPr>
              <a:t>, and </a:t>
            </a: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a:t>
            </a:r>
            <a:r>
              <a:rPr lang="en-US" altLang="en-US" dirty="0">
                <a:solidFill>
                  <a:srgbClr val="000000">
                    <a:lumMod val="75000"/>
                    <a:lumOff val="25000"/>
                  </a:srgbClr>
                </a:solidFill>
              </a:rPr>
              <a:t> can be used with integral and floating-point data types</a:t>
            </a:r>
          </a:p>
          <a:p>
            <a:pPr lvl="0">
              <a:buClr>
                <a:srgbClr val="055C91"/>
              </a:buClr>
            </a:pPr>
            <a:r>
              <a:rPr lang="en-US" altLang="en-US" dirty="0">
                <a:solidFill>
                  <a:srgbClr val="000000">
                    <a:lumMod val="75000"/>
                    <a:lumOff val="25000"/>
                  </a:srgbClr>
                </a:solidFill>
              </a:rPr>
              <a:t>Modulus (</a:t>
            </a:r>
            <a:r>
              <a:rPr lang="en-US" altLang="en-US" b="1" dirty="0">
                <a:solidFill>
                  <a:srgbClr val="000000">
                    <a:lumMod val="75000"/>
                    <a:lumOff val="25000"/>
                  </a:srgbClr>
                </a:solidFill>
                <a:latin typeface="Courier New" panose="02070309020205020404" pitchFamily="49" charset="0"/>
                <a:cs typeface="Courier New" panose="02070309020205020404" pitchFamily="49" charset="0"/>
              </a:rPr>
              <a:t>%</a:t>
            </a:r>
            <a:r>
              <a:rPr lang="en-US" altLang="en-US" dirty="0">
                <a:solidFill>
                  <a:srgbClr val="000000">
                    <a:lumMod val="75000"/>
                    <a:lumOff val="25000"/>
                  </a:srgbClr>
                </a:solidFill>
              </a:rPr>
              <a:t>) can only be used with integral data types</a:t>
            </a:r>
          </a:p>
        </p:txBody>
      </p:sp>
      <p:sp>
        <p:nvSpPr>
          <p:cNvPr id="31749"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A8381FA8-DFE9-4B04-88F9-A3F6D546562B}" type="slidenum">
              <a:rPr lang="en-US" altLang="en-US" smtClean="0">
                <a:solidFill>
                  <a:schemeClr val="bg1"/>
                </a:solidFill>
              </a:rPr>
              <a:pPr/>
              <a:t>48</a:t>
            </a:fld>
            <a:endParaRPr lang="en-US" altLang="en-US" dirty="0">
              <a:solidFill>
                <a:schemeClr val="bg1"/>
              </a:solidFill>
            </a:endParaRPr>
          </a:p>
        </p:txBody>
      </p:sp>
    </p:spTree>
    <p:extLst>
      <p:ext uri="{BB962C8B-B14F-4D97-AF65-F5344CB8AC3E}">
        <p14:creationId xmlns:p14="http://schemas.microsoft.com/office/powerpoint/2010/main" val="35015382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a:spLocks noGrp="1" noChangeArrowheads="1"/>
          </p:cNvSpPr>
          <p:nvPr>
            <p:ph type="title"/>
          </p:nvPr>
        </p:nvSpPr>
        <p:spPr/>
        <p:txBody>
          <a:bodyPr/>
          <a:lstStyle/>
          <a:p>
            <a:r>
              <a:rPr lang="en-US" altLang="en-US" dirty="0"/>
              <a:t>Arithmetic Operators, Operator Precedence, and Expressions (2 of 2)</a:t>
            </a:r>
          </a:p>
        </p:txBody>
      </p:sp>
      <p:sp>
        <p:nvSpPr>
          <p:cNvPr id="32771" name="Rectangle 6"/>
          <p:cNvSpPr>
            <a:spLocks noGrp="1" noChangeArrowheads="1"/>
          </p:cNvSpPr>
          <p:nvPr>
            <p:ph idx="1"/>
          </p:nvPr>
        </p:nvSpPr>
        <p:spPr>
          <a:xfrm>
            <a:off x="1992364" y="2099915"/>
            <a:ext cx="8415338" cy="1923604"/>
          </a:xfrm>
        </p:spPr>
        <p:txBody>
          <a:bodyPr>
            <a:normAutofit fontScale="85000" lnSpcReduction="20000"/>
          </a:bodyPr>
          <a:lstStyle/>
          <a:p>
            <a:r>
              <a:rPr lang="en-US" altLang="en-US" dirty="0"/>
              <a:t>When you use </a:t>
            </a:r>
            <a:r>
              <a:rPr lang="en-US" altLang="en-US" b="1" dirty="0">
                <a:latin typeface="Courier New" panose="02070309020205020404" pitchFamily="49" charset="0"/>
                <a:cs typeface="Courier New" panose="02070309020205020404" pitchFamily="49" charset="0"/>
              </a:rPr>
              <a:t>/</a:t>
            </a:r>
            <a:r>
              <a:rPr lang="en-US" altLang="en-US" dirty="0"/>
              <a:t> with integral data types, the integral result is truncated (no rounding)</a:t>
            </a:r>
          </a:p>
          <a:p>
            <a:r>
              <a:rPr lang="en-US" altLang="en-US" u="sng" dirty="0"/>
              <a:t>Arithmetic expressions</a:t>
            </a:r>
            <a:r>
              <a:rPr lang="en-US" altLang="en-US" dirty="0"/>
              <a:t> contain values and arithmetic operators</a:t>
            </a:r>
          </a:p>
          <a:p>
            <a:r>
              <a:rPr lang="en-US" altLang="en-US" u="sng" dirty="0"/>
              <a:t>Operands</a:t>
            </a:r>
            <a:r>
              <a:rPr lang="en-US" altLang="en-US" dirty="0"/>
              <a:t> are the numbers appearing in the expressions</a:t>
            </a:r>
          </a:p>
          <a:p>
            <a:r>
              <a:rPr lang="en-US" altLang="en-US" u="sng" dirty="0"/>
              <a:t>Operators</a:t>
            </a:r>
            <a:r>
              <a:rPr lang="en-US" altLang="en-US" dirty="0"/>
              <a:t> can be </a:t>
            </a:r>
            <a:r>
              <a:rPr lang="en-US" altLang="en-US" u="sng" dirty="0"/>
              <a:t>unary</a:t>
            </a:r>
            <a:r>
              <a:rPr lang="en-US" altLang="en-US" dirty="0"/>
              <a:t> (one operand) or </a:t>
            </a:r>
            <a:r>
              <a:rPr lang="en-US" altLang="en-US" u="sng" dirty="0"/>
              <a:t>binary</a:t>
            </a:r>
            <a:r>
              <a:rPr lang="en-US" altLang="en-US" dirty="0"/>
              <a:t> (two operands)</a:t>
            </a:r>
          </a:p>
        </p:txBody>
      </p:sp>
      <p:sp>
        <p:nvSpPr>
          <p:cNvPr id="32773"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8BC7C6D9-F1BA-41B2-A40C-DCA7918C2C9F}" type="slidenum">
              <a:rPr lang="en-US" altLang="en-US" smtClean="0">
                <a:solidFill>
                  <a:schemeClr val="bg1"/>
                </a:solidFill>
              </a:rPr>
              <a:pPr/>
              <a:t>49</a:t>
            </a:fld>
            <a:endParaRPr lang="en-US" altLang="en-US" dirty="0">
              <a:solidFill>
                <a:schemeClr val="bg1"/>
              </a:solidFill>
            </a:endParaRPr>
          </a:p>
        </p:txBody>
      </p:sp>
    </p:spTree>
    <p:extLst>
      <p:ext uri="{BB962C8B-B14F-4D97-AF65-F5344CB8AC3E}">
        <p14:creationId xmlns:p14="http://schemas.microsoft.com/office/powerpoint/2010/main" val="8221955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Grp="1" noChangeArrowheads="1"/>
          </p:cNvSpPr>
          <p:nvPr>
            <p:ph type="title"/>
          </p:nvPr>
        </p:nvSpPr>
        <p:spPr/>
        <p:txBody>
          <a:bodyPr/>
          <a:lstStyle/>
          <a:p>
            <a:r>
              <a:rPr lang="en-US" altLang="en-US" dirty="0"/>
              <a:t>Order of Precedence</a:t>
            </a:r>
          </a:p>
        </p:txBody>
      </p:sp>
      <p:sp>
        <p:nvSpPr>
          <p:cNvPr id="36867" name="Rectangle 5"/>
          <p:cNvSpPr>
            <a:spLocks noGrp="1" noChangeArrowheads="1"/>
          </p:cNvSpPr>
          <p:nvPr>
            <p:ph idx="1"/>
          </p:nvPr>
        </p:nvSpPr>
        <p:spPr>
          <a:xfrm>
            <a:off x="1889125" y="1538818"/>
            <a:ext cx="8415338" cy="2757678"/>
          </a:xfrm>
        </p:spPr>
        <p:txBody>
          <a:bodyPr>
            <a:normAutofit fontScale="77500" lnSpcReduction="20000"/>
          </a:bodyPr>
          <a:lstStyle/>
          <a:p>
            <a:r>
              <a:rPr lang="en-US" dirty="0"/>
              <a:t>All operations inside </a:t>
            </a:r>
            <a:r>
              <a:rPr lang="en-US" b="1" dirty="0">
                <a:latin typeface="Courier New" panose="02070309020205020404" pitchFamily="49" charset="0"/>
                <a:cs typeface="Courier New" panose="02070309020205020404" pitchFamily="49" charset="0"/>
              </a:rPr>
              <a:t>()</a:t>
            </a:r>
            <a:r>
              <a:rPr lang="en-US" dirty="0"/>
              <a:t> are evaluated first</a:t>
            </a:r>
          </a:p>
          <a:p>
            <a:r>
              <a:rPr lang="en-US" b="1" dirty="0">
                <a:latin typeface="Courier New" panose="02070309020205020404" pitchFamily="49" charset="0"/>
                <a:cs typeface="Courier New" panose="02070309020205020404" pitchFamily="49" charset="0"/>
              </a:rPr>
              <a:t>*</a:t>
            </a:r>
            <a:r>
              <a:rPr lang="en-US" dirty="0"/>
              <a:t>, </a:t>
            </a:r>
            <a:r>
              <a:rPr lang="en-US" b="1" dirty="0">
                <a:latin typeface="Courier New" panose="02070309020205020404" pitchFamily="49" charset="0"/>
                <a:cs typeface="Courier New" panose="02070309020205020404" pitchFamily="49" charset="0"/>
              </a:rPr>
              <a:t>/</a:t>
            </a:r>
            <a:r>
              <a:rPr lang="en-US" dirty="0"/>
              <a:t>, and </a:t>
            </a:r>
            <a:r>
              <a:rPr lang="en-US" b="1" dirty="0">
                <a:latin typeface="Courier New" panose="02070309020205020404" pitchFamily="49" charset="0"/>
                <a:cs typeface="Courier New" panose="02070309020205020404" pitchFamily="49" charset="0"/>
              </a:rPr>
              <a:t>%</a:t>
            </a:r>
            <a:r>
              <a:rPr lang="en-US" dirty="0"/>
              <a:t> are at the same level of precedence and are evaluated next</a:t>
            </a:r>
          </a:p>
          <a:p>
            <a:r>
              <a:rPr lang="en-US" b="1" dirty="0">
                <a:latin typeface="Courier New" panose="02070309020205020404" pitchFamily="49" charset="0"/>
                <a:cs typeface="Courier New" panose="02070309020205020404" pitchFamily="49" charset="0"/>
              </a:rPr>
              <a:t>+</a:t>
            </a:r>
            <a:r>
              <a:rPr lang="en-US" dirty="0"/>
              <a:t> and </a:t>
            </a:r>
            <a:r>
              <a:rPr lang="en-US" b="1" dirty="0">
                <a:latin typeface="Courier New" panose="02070309020205020404" pitchFamily="49" charset="0"/>
                <a:cs typeface="Courier New" panose="02070309020205020404" pitchFamily="49" charset="0"/>
              </a:rPr>
              <a:t>-</a:t>
            </a:r>
            <a:r>
              <a:rPr lang="en-US" dirty="0"/>
              <a:t> have the same level of precedence and are evaluated last</a:t>
            </a:r>
          </a:p>
          <a:p>
            <a:r>
              <a:rPr lang="en-US" dirty="0"/>
              <a:t>When operators are on the same level</a:t>
            </a:r>
          </a:p>
          <a:p>
            <a:pPr lvl="1"/>
            <a:r>
              <a:rPr lang="en-US" dirty="0"/>
              <a:t>Operations are performed from left to right (associativity)</a:t>
            </a:r>
          </a:p>
          <a:p>
            <a:r>
              <a:rPr lang="en-US" b="1" dirty="0">
                <a:latin typeface="Courier New" panose="02070309020205020404" pitchFamily="49" charset="0"/>
                <a:cs typeface="Courier New" panose="02070309020205020404" pitchFamily="49" charset="0"/>
              </a:rPr>
              <a:t>3 * 7 - 6 + 2 * 5 / 4 + 6 </a:t>
            </a:r>
            <a:r>
              <a:rPr lang="en-US" dirty="0"/>
              <a:t>means</a:t>
            </a:r>
            <a:br>
              <a:rPr lang="en-US" dirty="0"/>
            </a:br>
            <a:r>
              <a:rPr lang="en-US" b="1" dirty="0">
                <a:latin typeface="Courier New" panose="02070309020205020404" pitchFamily="49" charset="0"/>
                <a:cs typeface="Courier New" panose="02070309020205020404" pitchFamily="49" charset="0"/>
              </a:rPr>
              <a:t>(((3 * 7) – 6) + ((2 * 5) / 4 )) + 6</a:t>
            </a:r>
          </a:p>
        </p:txBody>
      </p:sp>
      <p:sp>
        <p:nvSpPr>
          <p:cNvPr id="33797"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98AF8EF9-AEB2-42FE-8B6F-DA7C53AB8955}" type="slidenum">
              <a:rPr lang="en-US" altLang="en-US" smtClean="0">
                <a:solidFill>
                  <a:schemeClr val="bg1"/>
                </a:solidFill>
              </a:rPr>
              <a:pPr/>
              <a:t>50</a:t>
            </a:fld>
            <a:endParaRPr lang="en-US" altLang="en-US" dirty="0">
              <a:solidFill>
                <a:schemeClr val="bg1"/>
              </a:solidFill>
            </a:endParaRPr>
          </a:p>
        </p:txBody>
      </p:sp>
    </p:spTree>
    <p:extLst>
      <p:ext uri="{BB962C8B-B14F-4D97-AF65-F5344CB8AC3E}">
        <p14:creationId xmlns:p14="http://schemas.microsoft.com/office/powerpoint/2010/main" val="28173417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Grp="1" noChangeArrowheads="1"/>
          </p:cNvSpPr>
          <p:nvPr>
            <p:ph type="title"/>
          </p:nvPr>
        </p:nvSpPr>
        <p:spPr/>
        <p:txBody>
          <a:bodyPr/>
          <a:lstStyle/>
          <a:p>
            <a:r>
              <a:rPr lang="en-US" altLang="en-US" dirty="0"/>
              <a:t>Expressions</a:t>
            </a:r>
          </a:p>
        </p:txBody>
      </p:sp>
      <p:sp>
        <p:nvSpPr>
          <p:cNvPr id="34819" name="Rectangle 5"/>
          <p:cNvSpPr>
            <a:spLocks noGrp="1" noChangeArrowheads="1"/>
          </p:cNvSpPr>
          <p:nvPr>
            <p:ph idx="1"/>
          </p:nvPr>
        </p:nvSpPr>
        <p:spPr>
          <a:xfrm>
            <a:off x="1889125" y="1538818"/>
            <a:ext cx="8415338" cy="2099036"/>
          </a:xfrm>
        </p:spPr>
        <p:txBody>
          <a:bodyPr>
            <a:normAutofit fontScale="77500" lnSpcReduction="20000"/>
          </a:bodyPr>
          <a:lstStyle/>
          <a:p>
            <a:r>
              <a:rPr lang="en-US" altLang="en-US" u="sng" dirty="0"/>
              <a:t>Integral expression</a:t>
            </a:r>
            <a:r>
              <a:rPr lang="en-US" altLang="en-US" dirty="0"/>
              <a:t>: all operands are integers</a:t>
            </a:r>
          </a:p>
          <a:p>
            <a:pPr lvl="1"/>
            <a:r>
              <a:rPr lang="en-US" altLang="en-US" dirty="0"/>
              <a:t>Yields an integral result</a:t>
            </a:r>
          </a:p>
          <a:p>
            <a:pPr lvl="1"/>
            <a:r>
              <a:rPr lang="en-US" altLang="en-US" dirty="0"/>
              <a:t>Example: </a:t>
            </a:r>
            <a:r>
              <a:rPr lang="en-US" altLang="en-US" b="1" dirty="0">
                <a:latin typeface="Courier New" panose="02070309020205020404" pitchFamily="49" charset="0"/>
                <a:cs typeface="Courier New" panose="02070309020205020404" pitchFamily="49" charset="0"/>
              </a:rPr>
              <a:t>2 + 3 * 5</a:t>
            </a:r>
            <a:endParaRPr lang="en-US" altLang="en-US" dirty="0"/>
          </a:p>
          <a:p>
            <a:r>
              <a:rPr lang="en-US" altLang="en-US" u="sng" dirty="0"/>
              <a:t>Floating-point (decimal) expression</a:t>
            </a:r>
            <a:r>
              <a:rPr lang="en-US" altLang="en-US" dirty="0"/>
              <a:t>: all operands are floating-point</a:t>
            </a:r>
          </a:p>
          <a:p>
            <a:pPr lvl="1"/>
            <a:r>
              <a:rPr lang="en-US" altLang="en-US" dirty="0"/>
              <a:t>Yields a floating-point result</a:t>
            </a:r>
          </a:p>
          <a:p>
            <a:pPr lvl="1"/>
            <a:r>
              <a:rPr lang="en-US" altLang="en-US" dirty="0"/>
              <a:t>Example: </a:t>
            </a:r>
            <a:r>
              <a:rPr lang="en-US" altLang="en-US" b="1" dirty="0">
                <a:latin typeface="Courier New" panose="02070309020205020404" pitchFamily="49" charset="0"/>
                <a:cs typeface="Courier New" panose="02070309020205020404" pitchFamily="49" charset="0"/>
              </a:rPr>
              <a:t>12.8 * 17.5 - 34.50</a:t>
            </a:r>
          </a:p>
        </p:txBody>
      </p:sp>
      <p:sp>
        <p:nvSpPr>
          <p:cNvPr id="34821"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6E43BF38-6CFB-432E-9682-4290D5A5FC52}" type="slidenum">
              <a:rPr lang="en-US" altLang="en-US" smtClean="0">
                <a:solidFill>
                  <a:schemeClr val="bg1"/>
                </a:solidFill>
              </a:rPr>
              <a:pPr/>
              <a:t>51</a:t>
            </a:fld>
            <a:endParaRPr lang="en-US" altLang="en-US" dirty="0">
              <a:solidFill>
                <a:schemeClr val="bg1"/>
              </a:solidFill>
            </a:endParaRPr>
          </a:p>
        </p:txBody>
      </p:sp>
    </p:spTree>
    <p:extLst>
      <p:ext uri="{BB962C8B-B14F-4D97-AF65-F5344CB8AC3E}">
        <p14:creationId xmlns:p14="http://schemas.microsoft.com/office/powerpoint/2010/main" val="18333417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ChangeArrowheads="1"/>
          </p:cNvSpPr>
          <p:nvPr>
            <p:ph type="title"/>
          </p:nvPr>
        </p:nvSpPr>
        <p:spPr/>
        <p:txBody>
          <a:bodyPr/>
          <a:lstStyle/>
          <a:p>
            <a:r>
              <a:rPr lang="en-US" altLang="en-US" dirty="0"/>
              <a:t>Mixed Expressions (1 of 2)</a:t>
            </a:r>
          </a:p>
        </p:txBody>
      </p:sp>
      <p:sp>
        <p:nvSpPr>
          <p:cNvPr id="35843" name="Rectangle 5"/>
          <p:cNvSpPr>
            <a:spLocks noGrp="1" noChangeArrowheads="1"/>
          </p:cNvSpPr>
          <p:nvPr>
            <p:ph idx="1"/>
          </p:nvPr>
        </p:nvSpPr>
        <p:spPr>
          <a:xfrm>
            <a:off x="1889125" y="1538819"/>
            <a:ext cx="8415338" cy="2856167"/>
          </a:xfrm>
        </p:spPr>
        <p:txBody>
          <a:bodyPr/>
          <a:lstStyle/>
          <a:p>
            <a:r>
              <a:rPr lang="en-US" altLang="en-US" u="sng" dirty="0"/>
              <a:t>Mixed expression</a:t>
            </a:r>
            <a:endParaRPr lang="en-US" altLang="en-US" dirty="0"/>
          </a:p>
          <a:p>
            <a:pPr lvl="1"/>
            <a:r>
              <a:rPr lang="en-US" altLang="en-US" dirty="0"/>
              <a:t>Has operands of different data types</a:t>
            </a:r>
          </a:p>
          <a:p>
            <a:pPr lvl="1"/>
            <a:r>
              <a:rPr lang="en-US" altLang="en-US" dirty="0"/>
              <a:t>Contains integers and floating-point</a:t>
            </a:r>
          </a:p>
          <a:p>
            <a:r>
              <a:rPr lang="en-US" altLang="en-US" dirty="0"/>
              <a:t>Examples of mixed expressions</a:t>
            </a:r>
          </a:p>
          <a:p>
            <a:pPr marL="344488" lvl="1" indent="0">
              <a:buNone/>
            </a:pPr>
            <a:r>
              <a:rPr lang="en-US" altLang="en-US" sz="1600" b="1" dirty="0">
                <a:latin typeface="Courier New" panose="02070309020205020404" pitchFamily="49" charset="0"/>
                <a:cs typeface="Courier New" panose="02070309020205020404" pitchFamily="49" charset="0"/>
              </a:rPr>
              <a:t>2 + 3.5</a:t>
            </a:r>
          </a:p>
          <a:p>
            <a:pPr marL="344488" lvl="1" indent="0">
              <a:buNone/>
            </a:pPr>
            <a:r>
              <a:rPr lang="en-US" altLang="en-US" sz="1600" b="1" dirty="0">
                <a:latin typeface="Courier New" panose="02070309020205020404" pitchFamily="49" charset="0"/>
                <a:cs typeface="Courier New" panose="02070309020205020404" pitchFamily="49" charset="0"/>
              </a:rPr>
              <a:t>6  /  4 + 3.9</a:t>
            </a:r>
          </a:p>
          <a:p>
            <a:pPr marL="344488" lvl="1" indent="0">
              <a:buNone/>
            </a:pPr>
            <a:r>
              <a:rPr lang="en-US" altLang="en-US" sz="1600" b="1" dirty="0">
                <a:latin typeface="Courier New" panose="02070309020205020404" pitchFamily="49" charset="0"/>
                <a:cs typeface="Courier New" panose="02070309020205020404" pitchFamily="49" charset="0"/>
              </a:rPr>
              <a:t>5.4  *  2 – 13.6 + 18  /  2</a:t>
            </a:r>
          </a:p>
          <a:p>
            <a:endParaRPr lang="en-US" altLang="en-US" dirty="0"/>
          </a:p>
        </p:txBody>
      </p:sp>
      <p:sp>
        <p:nvSpPr>
          <p:cNvPr id="35845"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D988F9F5-2781-4815-85D0-23736730AAE8}" type="slidenum">
              <a:rPr lang="en-US" altLang="en-US" smtClean="0">
                <a:solidFill>
                  <a:schemeClr val="bg1"/>
                </a:solidFill>
              </a:rPr>
              <a:pPr/>
              <a:t>52</a:t>
            </a:fld>
            <a:endParaRPr lang="en-US" altLang="en-US" dirty="0">
              <a:solidFill>
                <a:schemeClr val="bg1"/>
              </a:solidFill>
            </a:endParaRPr>
          </a:p>
        </p:txBody>
      </p:sp>
    </p:spTree>
    <p:extLst>
      <p:ext uri="{BB962C8B-B14F-4D97-AF65-F5344CB8AC3E}">
        <p14:creationId xmlns:p14="http://schemas.microsoft.com/office/powerpoint/2010/main" val="38321077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Grp="1" noChangeArrowheads="1"/>
          </p:cNvSpPr>
          <p:nvPr>
            <p:ph type="title"/>
          </p:nvPr>
        </p:nvSpPr>
        <p:spPr/>
        <p:txBody>
          <a:bodyPr/>
          <a:lstStyle/>
          <a:p>
            <a:r>
              <a:rPr lang="en-US" altLang="en-US" dirty="0"/>
              <a:t>Mixed Expressions (2 of 2)</a:t>
            </a:r>
          </a:p>
        </p:txBody>
      </p:sp>
      <p:sp>
        <p:nvSpPr>
          <p:cNvPr id="36867" name="Rectangle 5"/>
          <p:cNvSpPr>
            <a:spLocks noGrp="1" noChangeArrowheads="1"/>
          </p:cNvSpPr>
          <p:nvPr>
            <p:ph idx="1"/>
          </p:nvPr>
        </p:nvSpPr>
        <p:spPr>
          <a:xfrm>
            <a:off x="1889125" y="1538819"/>
            <a:ext cx="8415338" cy="2445285"/>
          </a:xfrm>
        </p:spPr>
        <p:txBody>
          <a:bodyPr>
            <a:normAutofit fontScale="92500" lnSpcReduction="20000"/>
          </a:bodyPr>
          <a:lstStyle/>
          <a:p>
            <a:r>
              <a:rPr lang="en-US" altLang="en-US" dirty="0"/>
              <a:t>Evaluation rules</a:t>
            </a:r>
          </a:p>
          <a:p>
            <a:pPr lvl="1"/>
            <a:r>
              <a:rPr lang="en-US" altLang="en-US" dirty="0"/>
              <a:t>If operator has same types of operands</a:t>
            </a:r>
          </a:p>
          <a:p>
            <a:pPr lvl="2"/>
            <a:r>
              <a:rPr lang="en-US" altLang="en-US" dirty="0"/>
              <a:t>The operator is evaluated according to the type of the operands </a:t>
            </a:r>
          </a:p>
          <a:p>
            <a:pPr lvl="1"/>
            <a:r>
              <a:rPr lang="en-US" altLang="en-US" dirty="0"/>
              <a:t>If operator has both types of operands</a:t>
            </a:r>
          </a:p>
          <a:p>
            <a:pPr lvl="2"/>
            <a:r>
              <a:rPr lang="en-US" altLang="en-US" dirty="0"/>
              <a:t>Integer is changed to floating-point </a:t>
            </a:r>
          </a:p>
          <a:p>
            <a:pPr lvl="2"/>
            <a:r>
              <a:rPr lang="en-US" altLang="en-US" dirty="0"/>
              <a:t>Operator is evaluated </a:t>
            </a:r>
          </a:p>
          <a:p>
            <a:pPr lvl="2"/>
            <a:r>
              <a:rPr lang="en-US" altLang="en-US" dirty="0"/>
              <a:t>Result is floating-point</a:t>
            </a:r>
          </a:p>
          <a:p>
            <a:pPr lvl="1"/>
            <a:r>
              <a:rPr lang="en-US" altLang="en-US" dirty="0"/>
              <a:t>Entire expression is evaluated according to precedence rules</a:t>
            </a:r>
          </a:p>
        </p:txBody>
      </p:sp>
      <p:sp>
        <p:nvSpPr>
          <p:cNvPr id="36869"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1511F2BF-7592-4082-9AC9-906D63E56682}" type="slidenum">
              <a:rPr lang="en-US" altLang="en-US" smtClean="0">
                <a:solidFill>
                  <a:schemeClr val="bg1"/>
                </a:solidFill>
              </a:rPr>
              <a:pPr/>
              <a:t>53</a:t>
            </a:fld>
            <a:endParaRPr lang="en-US" altLang="en-US" dirty="0">
              <a:solidFill>
                <a:schemeClr val="bg1"/>
              </a:solidFill>
            </a:endParaRPr>
          </a:p>
        </p:txBody>
      </p:sp>
    </p:spTree>
    <p:extLst>
      <p:ext uri="{BB962C8B-B14F-4D97-AF65-F5344CB8AC3E}">
        <p14:creationId xmlns:p14="http://schemas.microsoft.com/office/powerpoint/2010/main" val="31103457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Grp="1" noChangeArrowheads="1"/>
          </p:cNvSpPr>
          <p:nvPr>
            <p:ph type="title"/>
          </p:nvPr>
        </p:nvSpPr>
        <p:spPr/>
        <p:txBody>
          <a:bodyPr/>
          <a:lstStyle/>
          <a:p>
            <a:r>
              <a:rPr lang="en-US" altLang="en-US" dirty="0"/>
              <a:t>Type Conversion (Casting) (1 of 2)</a:t>
            </a:r>
          </a:p>
        </p:txBody>
      </p:sp>
      <p:sp>
        <p:nvSpPr>
          <p:cNvPr id="37891" name="Rectangle 5"/>
          <p:cNvSpPr>
            <a:spLocks noGrp="1" noChangeArrowheads="1"/>
          </p:cNvSpPr>
          <p:nvPr>
            <p:ph idx="1"/>
          </p:nvPr>
        </p:nvSpPr>
        <p:spPr>
          <a:xfrm>
            <a:off x="1889125" y="1538819"/>
            <a:ext cx="8415338" cy="2003625"/>
          </a:xfrm>
        </p:spPr>
        <p:txBody>
          <a:bodyPr>
            <a:normAutofit lnSpcReduction="10000"/>
          </a:bodyPr>
          <a:lstStyle/>
          <a:p>
            <a:r>
              <a:rPr lang="en-US" altLang="en-US" u="sng" dirty="0"/>
              <a:t>Implicit type coercion</a:t>
            </a:r>
            <a:r>
              <a:rPr lang="en-US" altLang="en-US" dirty="0"/>
              <a:t>: when the value of one type is automatically changed to another type</a:t>
            </a:r>
          </a:p>
          <a:p>
            <a:r>
              <a:rPr lang="en-US" altLang="en-US" u="sng" dirty="0"/>
              <a:t>Cast operator</a:t>
            </a:r>
            <a:r>
              <a:rPr lang="en-US" altLang="en-US" dirty="0"/>
              <a:t> (also called </a:t>
            </a:r>
            <a:r>
              <a:rPr lang="en-US" altLang="en-US" u="sng" dirty="0"/>
              <a:t>type conversion </a:t>
            </a:r>
            <a:r>
              <a:rPr lang="en-US" altLang="en-US" dirty="0"/>
              <a:t>or </a:t>
            </a:r>
            <a:r>
              <a:rPr lang="en-US" altLang="en-US" u="sng" dirty="0"/>
              <a:t>type casting</a:t>
            </a:r>
            <a:r>
              <a:rPr lang="en-US" altLang="en-US" dirty="0"/>
              <a:t>): provides explicit type conversion</a:t>
            </a:r>
          </a:p>
          <a:p>
            <a:pPr lvl="1"/>
            <a:r>
              <a:rPr lang="en-US" altLang="en-US" b="1" dirty="0">
                <a:solidFill>
                  <a:srgbClr val="638DAD"/>
                </a:solidFill>
                <a:latin typeface="Courier New" panose="02070309020205020404" pitchFamily="49" charset="0"/>
                <a:cs typeface="Courier New" panose="02070309020205020404" pitchFamily="49" charset="0"/>
              </a:rPr>
              <a:t>static_cast</a:t>
            </a:r>
            <a:r>
              <a:rPr lang="en-US" altLang="en-US" b="1" dirty="0">
                <a:latin typeface="Courier New" panose="02070309020205020404" pitchFamily="49" charset="0"/>
                <a:cs typeface="Courier New" panose="02070309020205020404" pitchFamily="49" charset="0"/>
              </a:rPr>
              <a:t>&lt;dataTypeName&gt;(expression)</a:t>
            </a:r>
          </a:p>
          <a:p>
            <a:pPr marL="457200" lvl="1" indent="0">
              <a:buNone/>
            </a:pPr>
            <a:endParaRPr lang="en-US" altLang="en-US" b="1" dirty="0">
              <a:latin typeface="Courier New" panose="02070309020205020404" pitchFamily="49" charset="0"/>
              <a:cs typeface="Courier New" panose="02070309020205020404" pitchFamily="49" charset="0"/>
            </a:endParaRPr>
          </a:p>
          <a:p>
            <a:pPr marL="457200" lvl="1" indent="0">
              <a:buNone/>
            </a:pPr>
            <a:endParaRPr lang="en-US" altLang="en-US" b="1" dirty="0">
              <a:latin typeface="Courier New" panose="02070309020205020404" pitchFamily="49" charset="0"/>
              <a:cs typeface="Courier New" panose="02070309020205020404" pitchFamily="49" charset="0"/>
            </a:endParaRPr>
          </a:p>
          <a:p>
            <a:pPr lvl="1"/>
            <a:endParaRPr lang="en-US" altLang="en-US" b="1" dirty="0">
              <a:latin typeface="Courier New" panose="02070309020205020404" pitchFamily="49" charset="0"/>
              <a:cs typeface="Courier New" panose="02070309020205020404" pitchFamily="49" charset="0"/>
            </a:endParaRPr>
          </a:p>
        </p:txBody>
      </p:sp>
      <p:sp>
        <p:nvSpPr>
          <p:cNvPr id="37893"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71035498-7642-485E-A59D-25F985EF9082}" type="slidenum">
              <a:rPr lang="en-US" altLang="en-US" smtClean="0">
                <a:solidFill>
                  <a:schemeClr val="bg1"/>
                </a:solidFill>
              </a:rPr>
              <a:pPr/>
              <a:t>54</a:t>
            </a:fld>
            <a:endParaRPr lang="en-US" altLang="en-US" dirty="0">
              <a:solidFill>
                <a:schemeClr val="bg1"/>
              </a:solidFill>
            </a:endParaRPr>
          </a:p>
        </p:txBody>
      </p:sp>
      <p:sp>
        <p:nvSpPr>
          <p:cNvPr id="2" name="TextBox 1">
            <a:extLst>
              <a:ext uri="{FF2B5EF4-FFF2-40B4-BE49-F238E27FC236}">
                <a16:creationId xmlns:a16="http://schemas.microsoft.com/office/drawing/2014/main" id="{E142E03D-8A90-1B4A-AF28-EC3F26F9E301}"/>
              </a:ext>
            </a:extLst>
          </p:cNvPr>
          <p:cNvSpPr txBox="1"/>
          <p:nvPr/>
        </p:nvSpPr>
        <p:spPr>
          <a:xfrm>
            <a:off x="2274848" y="4237464"/>
            <a:ext cx="6846849" cy="2308324"/>
          </a:xfrm>
          <a:prstGeom prst="rect">
            <a:avLst/>
          </a:prstGeom>
          <a:noFill/>
        </p:spPr>
        <p:txBody>
          <a:bodyPr wrap="square" rtlCol="0">
            <a:spAutoFit/>
          </a:bodyPr>
          <a:lstStyle/>
          <a:p>
            <a:pPr marL="285750" indent="-285750">
              <a:buFont typeface="Arial" panose="020B0604020202020204" pitchFamily="34" charset="0"/>
              <a:buChar char="•"/>
            </a:pPr>
            <a:r>
              <a:rPr lang="en-US" dirty="0"/>
              <a:t>Note: If, later in the class, you find yourself implementing systems where you </a:t>
            </a:r>
            <a:r>
              <a:rPr lang="en-US" i="1" dirty="0"/>
              <a:t>have</a:t>
            </a:r>
            <a:r>
              <a:rPr lang="en-US" dirty="0"/>
              <a:t> to use casting, this is generally a sign that your design is not great. Casting is somewhat dangerous – the type system is there to protect you from unpredictable and hard-to-diagnose errors produced by supplying the wrong type of data to functions, and by circumventing the type system through casting you’re opening yourself up to all of those errors.</a:t>
            </a:r>
          </a:p>
          <a:p>
            <a:endParaRPr lang="en-US" dirty="0"/>
          </a:p>
        </p:txBody>
      </p:sp>
    </p:spTree>
    <p:extLst>
      <p:ext uri="{BB962C8B-B14F-4D97-AF65-F5344CB8AC3E}">
        <p14:creationId xmlns:p14="http://schemas.microsoft.com/office/powerpoint/2010/main" val="37771514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
          <p:cNvSpPr>
            <a:spLocks noGrp="1" noChangeArrowheads="1"/>
          </p:cNvSpPr>
          <p:nvPr>
            <p:ph type="title"/>
          </p:nvPr>
        </p:nvSpPr>
        <p:spPr/>
        <p:txBody>
          <a:bodyPr/>
          <a:lstStyle/>
          <a:p>
            <a:pPr eaLnBrk="1" hangingPunct="1"/>
            <a:r>
              <a:rPr lang="en-US" altLang="en-US" dirty="0"/>
              <a:t>Type Conversion (Casting) (2 of 2)</a:t>
            </a:r>
          </a:p>
        </p:txBody>
      </p:sp>
      <p:pic>
        <p:nvPicPr>
          <p:cNvPr id="6" name="Picture 2" descr="Example 2-9 shows how cast operators work."/>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343285" y="1600141"/>
            <a:ext cx="750543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916" name="Footer Placeholder 3"/>
          <p:cNvSpPr>
            <a:spLocks noGrp="1"/>
          </p:cNvSpPr>
          <p:nvPr>
            <p:ph type="ftr" sz="quarter" idx="4294967295"/>
          </p:nvPr>
        </p:nvSpPr>
        <p:spPr bwMode="auto">
          <a:xfrm>
            <a:off x="3121683" y="6578466"/>
            <a:ext cx="6781693" cy="2445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dirty="0">
                <a:solidFill>
                  <a:schemeClr val="bg1"/>
                </a:solidFill>
              </a:rPr>
              <a:t>© 2018 Cengage Learning. All Rights Reserved. May not be copied, scanned, or duplicated, in whole or in part, except for use as permitted in a license distributed with a certain product or service or otherwise on a password-protected website for classroom</a:t>
            </a:r>
          </a:p>
        </p:txBody>
      </p:sp>
      <p:sp>
        <p:nvSpPr>
          <p:cNvPr id="38915" name="Slide Number Placeholder 4"/>
          <p:cNvSpPr>
            <a:spLocks noGrp="1"/>
          </p:cNvSpPr>
          <p:nvPr>
            <p:ph type="sldNum" sz="quarter" idx="4294967295"/>
          </p:nvPr>
        </p:nvSpPr>
        <p:spPr bwMode="auto">
          <a:xfrm>
            <a:off x="8534400" y="6356351"/>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809835E9-16B9-4CF3-A0FB-549493C9DAE9}" type="slidenum">
              <a:rPr lang="en-US" altLang="en-US" smtClean="0">
                <a:solidFill>
                  <a:schemeClr val="bg1"/>
                </a:solidFill>
              </a:rPr>
              <a:pPr/>
              <a:t>55</a:t>
            </a:fld>
            <a:endParaRPr lang="en-US" altLang="en-US" dirty="0">
              <a:solidFill>
                <a:schemeClr val="bg1"/>
              </a:solidFill>
            </a:endParaRPr>
          </a:p>
        </p:txBody>
      </p:sp>
    </p:spTree>
    <p:extLst>
      <p:ext uri="{BB962C8B-B14F-4D97-AF65-F5344CB8AC3E}">
        <p14:creationId xmlns:p14="http://schemas.microsoft.com/office/powerpoint/2010/main" val="3809341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2C474-DA4A-4643-8F92-997D2C8693FE}"/>
              </a:ext>
            </a:extLst>
          </p:cNvPr>
          <p:cNvSpPr>
            <a:spLocks noGrp="1"/>
          </p:cNvSpPr>
          <p:nvPr>
            <p:ph type="title"/>
          </p:nvPr>
        </p:nvSpPr>
        <p:spPr/>
        <p:txBody>
          <a:bodyPr/>
          <a:lstStyle/>
          <a:p>
            <a:r>
              <a:rPr lang="en-US" dirty="0"/>
              <a:t>PAUSING FOR A SECOND</a:t>
            </a:r>
          </a:p>
        </p:txBody>
      </p:sp>
      <p:sp>
        <p:nvSpPr>
          <p:cNvPr id="3" name="Content Placeholder 2">
            <a:extLst>
              <a:ext uri="{FF2B5EF4-FFF2-40B4-BE49-F238E27FC236}">
                <a16:creationId xmlns:a16="http://schemas.microsoft.com/office/drawing/2014/main" id="{E1D3E397-D155-2844-BF2A-72E75BF40B90}"/>
              </a:ext>
            </a:extLst>
          </p:cNvPr>
          <p:cNvSpPr>
            <a:spLocks noGrp="1"/>
          </p:cNvSpPr>
          <p:nvPr>
            <p:ph idx="1"/>
          </p:nvPr>
        </p:nvSpPr>
        <p:spPr/>
        <p:txBody>
          <a:bodyPr>
            <a:normAutofit fontScale="85000" lnSpcReduction="10000"/>
          </a:bodyPr>
          <a:lstStyle/>
          <a:p>
            <a:r>
              <a:rPr lang="en-US" dirty="0"/>
              <a:t>There are aspects of the rest of this talk (and of this course as a whole) that are COMPLICATED</a:t>
            </a:r>
            <a:br>
              <a:rPr lang="en-US" dirty="0"/>
            </a:br>
            <a:endParaRPr lang="en-US" dirty="0"/>
          </a:p>
          <a:p>
            <a:r>
              <a:rPr lang="en-US" dirty="0"/>
              <a:t>No, like seriously, it's complicated. Back in undergrad, it took me a little while to get some of this stuff. When I did, I felt a bit like I had just seen the matrix.</a:t>
            </a:r>
            <a:br>
              <a:rPr lang="en-US" dirty="0"/>
            </a:br>
            <a:endParaRPr lang="en-US" dirty="0"/>
          </a:p>
          <a:p>
            <a:r>
              <a:rPr lang="en-US" dirty="0"/>
              <a:t>It is review for some of you. It is definitely</a:t>
            </a:r>
            <a:br>
              <a:rPr lang="en-US" dirty="0"/>
            </a:br>
            <a:r>
              <a:rPr lang="en-US" i="1" dirty="0"/>
              <a:t>not </a:t>
            </a:r>
            <a:r>
              <a:rPr lang="en-US" dirty="0"/>
              <a:t>review for others. </a:t>
            </a:r>
            <a:br>
              <a:rPr lang="en-US" dirty="0"/>
            </a:br>
            <a:endParaRPr lang="en-US" dirty="0"/>
          </a:p>
          <a:p>
            <a:r>
              <a:rPr lang="en-US" dirty="0"/>
              <a:t>I don't expect you to get all of this today.</a:t>
            </a:r>
            <a:br>
              <a:rPr lang="en-US" dirty="0"/>
            </a:br>
            <a:r>
              <a:rPr lang="en-US" dirty="0"/>
              <a:t>I'm introducing it now so that you'll</a:t>
            </a:r>
            <a:br>
              <a:rPr lang="en-US" dirty="0"/>
            </a:br>
            <a:r>
              <a:rPr lang="en-US" dirty="0"/>
              <a:t>have a better shot at getting it by the</a:t>
            </a:r>
            <a:br>
              <a:rPr lang="en-US" dirty="0"/>
            </a:br>
            <a:r>
              <a:rPr lang="en-US" dirty="0"/>
              <a:t>end of the semester.</a:t>
            </a:r>
          </a:p>
          <a:p>
            <a:endParaRPr lang="en-US" dirty="0"/>
          </a:p>
        </p:txBody>
      </p:sp>
    </p:spTree>
    <p:extLst>
      <p:ext uri="{BB962C8B-B14F-4D97-AF65-F5344CB8AC3E}">
        <p14:creationId xmlns:p14="http://schemas.microsoft.com/office/powerpoint/2010/main" val="28235095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4" y="1325064"/>
            <a:ext cx="5141222" cy="5221510"/>
          </a:xfrm>
        </p:spPr>
        <p:txBody>
          <a:bodyPr>
            <a:normAutofit fontScale="92500" lnSpcReduction="20000"/>
          </a:bodyPr>
          <a:lstStyle/>
          <a:p>
            <a:r>
              <a:rPr lang="en-US" dirty="0"/>
              <a:t>Say you're like "Karel was super easy and I get this C++ stuff completely"</a:t>
            </a:r>
            <a:br>
              <a:rPr lang="en-US" dirty="0"/>
            </a:br>
            <a:endParaRPr lang="en-US" dirty="0"/>
          </a:p>
          <a:p>
            <a:r>
              <a:rPr lang="en-US" dirty="0"/>
              <a:t>Make sure your neighbors (and other classmates) get the material too! The best way to learn something better is to teach it to someone else </a:t>
            </a:r>
            <a:br>
              <a:rPr lang="en-US" dirty="0"/>
            </a:br>
            <a:endParaRPr lang="en-US" dirty="0"/>
          </a:p>
          <a:p>
            <a:r>
              <a:rPr lang="en-US" dirty="0"/>
              <a:t>(as I learned when I started teaching) </a:t>
            </a:r>
            <a:br>
              <a:rPr lang="en-US" dirty="0"/>
            </a:br>
            <a:endParaRPr lang="en-US" dirty="0"/>
          </a:p>
          <a:p>
            <a:r>
              <a:rPr lang="en-US" dirty="0">
                <a:solidFill>
                  <a:srgbClr val="FF0000"/>
                </a:solidFill>
              </a:rPr>
              <a:t>☆ Help your comrades ☆</a:t>
            </a:r>
            <a:br>
              <a:rPr lang="en-US" dirty="0"/>
            </a:br>
            <a:endParaRPr lang="en-US" dirty="0"/>
          </a:p>
        </p:txBody>
      </p:sp>
      <p:sp>
        <p:nvSpPr>
          <p:cNvPr id="7" name="Title 6">
            <a:extLst>
              <a:ext uri="{FF2B5EF4-FFF2-40B4-BE49-F238E27FC236}">
                <a16:creationId xmlns:a16="http://schemas.microsoft.com/office/drawing/2014/main" id="{3C0C0535-BABF-DA48-89D9-30E70B541732}"/>
              </a:ext>
            </a:extLst>
          </p:cNvPr>
          <p:cNvSpPr>
            <a:spLocks noGrp="1"/>
          </p:cNvSpPr>
          <p:nvPr>
            <p:ph type="title"/>
          </p:nvPr>
        </p:nvSpPr>
        <p:spPr>
          <a:xfrm>
            <a:off x="829917" y="120753"/>
            <a:ext cx="10532165" cy="701986"/>
          </a:xfrm>
        </p:spPr>
        <p:txBody>
          <a:bodyPr>
            <a:normAutofit/>
          </a:bodyPr>
          <a:lstStyle/>
          <a:p>
            <a:r>
              <a:rPr lang="en-US" sz="3200" dirty="0"/>
              <a:t>WHAT TO DO WHEN YOU'RE AHEAD OF YOUR CLASSMATES</a:t>
            </a:r>
          </a:p>
        </p:txBody>
      </p:sp>
      <p:pic>
        <p:nvPicPr>
          <p:cNvPr id="35842" name="Picture 2" descr="Image result for never leave anyone behind">
            <a:extLst>
              <a:ext uri="{FF2B5EF4-FFF2-40B4-BE49-F238E27FC236}">
                <a16:creationId xmlns:a16="http://schemas.microsoft.com/office/drawing/2014/main" id="{72B5B8F3-386F-094D-BFC7-B8DA922004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822739"/>
            <a:ext cx="5080000" cy="5080000"/>
          </a:xfrm>
          <a:prstGeom prst="rect">
            <a:avLst/>
          </a:prstGeom>
          <a:noFill/>
          <a:extLst>
            <a:ext uri="{909E8E84-426E-40DD-AFC4-6F175D3DCCD1}">
              <a14:hiddenFill xmlns:a14="http://schemas.microsoft.com/office/drawing/2010/main">
                <a:solidFill>
                  <a:srgbClr val="FFFFFF"/>
                </a:solidFill>
              </a14:hiddenFill>
            </a:ext>
          </a:extLst>
        </p:spPr>
      </p:pic>
      <p:sp>
        <p:nvSpPr>
          <p:cNvPr id="51" name="Right Arrow 50">
            <a:extLst>
              <a:ext uri="{FF2B5EF4-FFF2-40B4-BE49-F238E27FC236}">
                <a16:creationId xmlns:a16="http://schemas.microsoft.com/office/drawing/2014/main" id="{1D103943-23A5-864F-AE2D-CFDC682087BB}"/>
              </a:ext>
            </a:extLst>
          </p:cNvPr>
          <p:cNvSpPr/>
          <p:nvPr/>
        </p:nvSpPr>
        <p:spPr>
          <a:xfrm rot="18450625" flipV="1">
            <a:off x="7953598" y="5484055"/>
            <a:ext cx="583000"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1E2DF47F-BFF6-664C-936D-9388D5A6A55C}"/>
              </a:ext>
            </a:extLst>
          </p:cNvPr>
          <p:cNvCxnSpPr/>
          <p:nvPr/>
        </p:nvCxnSpPr>
        <p:spPr>
          <a:xfrm>
            <a:off x="7553739" y="1895061"/>
            <a:ext cx="1881809"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F12852C-A9E6-7A4D-9002-8E99FFDEE0AE}"/>
              </a:ext>
            </a:extLst>
          </p:cNvPr>
          <p:cNvCxnSpPr>
            <a:cxnSpLocks/>
          </p:cNvCxnSpPr>
          <p:nvPr/>
        </p:nvCxnSpPr>
        <p:spPr>
          <a:xfrm>
            <a:off x="7991061" y="5135218"/>
            <a:ext cx="123245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72" name="Right Arrow 71">
            <a:extLst>
              <a:ext uri="{FF2B5EF4-FFF2-40B4-BE49-F238E27FC236}">
                <a16:creationId xmlns:a16="http://schemas.microsoft.com/office/drawing/2014/main" id="{DAFE7DB1-F204-7E4E-8B3B-9FFAEC153C1A}"/>
              </a:ext>
            </a:extLst>
          </p:cNvPr>
          <p:cNvSpPr/>
          <p:nvPr/>
        </p:nvSpPr>
        <p:spPr>
          <a:xfrm rot="3275005" flipV="1">
            <a:off x="7262238" y="1169999"/>
            <a:ext cx="583000"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1CB206B-E0CC-674D-85E6-30D9BB461439}"/>
              </a:ext>
            </a:extLst>
          </p:cNvPr>
          <p:cNvSpPr txBox="1"/>
          <p:nvPr/>
        </p:nvSpPr>
        <p:spPr>
          <a:xfrm>
            <a:off x="6095999" y="798332"/>
            <a:ext cx="1398268" cy="369332"/>
          </a:xfrm>
          <a:prstGeom prst="rect">
            <a:avLst/>
          </a:prstGeom>
          <a:noFill/>
        </p:spPr>
        <p:txBody>
          <a:bodyPr wrap="none" rtlCol="0">
            <a:spAutoFit/>
          </a:bodyPr>
          <a:lstStyle/>
          <a:p>
            <a:r>
              <a:rPr lang="en-US" dirty="0"/>
              <a:t>022 students</a:t>
            </a:r>
          </a:p>
        </p:txBody>
      </p:sp>
      <p:sp>
        <p:nvSpPr>
          <p:cNvPr id="73" name="TextBox 72">
            <a:extLst>
              <a:ext uri="{FF2B5EF4-FFF2-40B4-BE49-F238E27FC236}">
                <a16:creationId xmlns:a16="http://schemas.microsoft.com/office/drawing/2014/main" id="{DED1E476-62D1-6B45-B1C8-91493D59D4D0}"/>
              </a:ext>
            </a:extLst>
          </p:cNvPr>
          <p:cNvSpPr txBox="1"/>
          <p:nvPr/>
        </p:nvSpPr>
        <p:spPr>
          <a:xfrm>
            <a:off x="6440558" y="6148130"/>
            <a:ext cx="5367130" cy="369332"/>
          </a:xfrm>
          <a:prstGeom prst="rect">
            <a:avLst/>
          </a:prstGeom>
          <a:noFill/>
        </p:spPr>
        <p:txBody>
          <a:bodyPr wrap="square" rtlCol="0">
            <a:spAutoFit/>
          </a:bodyPr>
          <a:lstStyle/>
          <a:p>
            <a:r>
              <a:rPr lang="en-US" dirty="0"/>
              <a:t>man, or woman, or non-binary/genderqueer person</a:t>
            </a:r>
          </a:p>
        </p:txBody>
      </p:sp>
    </p:spTree>
    <p:extLst>
      <p:ext uri="{BB962C8B-B14F-4D97-AF65-F5344CB8AC3E}">
        <p14:creationId xmlns:p14="http://schemas.microsoft.com/office/powerpoint/2010/main" val="42330976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3" y="1325064"/>
            <a:ext cx="5640313" cy="5221510"/>
          </a:xfrm>
        </p:spPr>
        <p:txBody>
          <a:bodyPr>
            <a:normAutofit/>
          </a:bodyPr>
          <a:lstStyle/>
          <a:p>
            <a:r>
              <a:rPr lang="en-US" dirty="0"/>
              <a:t>Say you're thinking "I don't understand Karel and C++ frightens me and I don't know what to do"</a:t>
            </a:r>
            <a:br>
              <a:rPr lang="en-US" dirty="0"/>
            </a:br>
            <a:endParaRPr lang="en-US" dirty="0"/>
          </a:p>
          <a:p>
            <a:r>
              <a:rPr lang="en-US" dirty="0"/>
              <a:t>Ask your neighbors for help! </a:t>
            </a:r>
            <a:br>
              <a:rPr lang="en-US" dirty="0"/>
            </a:br>
            <a:endParaRPr lang="en-US" dirty="0"/>
          </a:p>
          <a:p>
            <a:r>
              <a:rPr lang="en-US" dirty="0"/>
              <a:t>I'm about to make everyone promise to help their neighbors whenever they can. </a:t>
            </a:r>
            <a:br>
              <a:rPr lang="en-US" dirty="0"/>
            </a:br>
            <a:endParaRPr lang="en-US" dirty="0"/>
          </a:p>
          <a:p>
            <a:r>
              <a:rPr lang="en-US" dirty="0">
                <a:solidFill>
                  <a:srgbClr val="FF0000"/>
                </a:solidFill>
              </a:rPr>
              <a:t>☆ Get help from your comrades ☆</a:t>
            </a:r>
            <a:br>
              <a:rPr lang="en-US" dirty="0"/>
            </a:br>
            <a:endParaRPr lang="en-US" dirty="0"/>
          </a:p>
        </p:txBody>
      </p:sp>
      <p:sp>
        <p:nvSpPr>
          <p:cNvPr id="7" name="Title 6">
            <a:extLst>
              <a:ext uri="{FF2B5EF4-FFF2-40B4-BE49-F238E27FC236}">
                <a16:creationId xmlns:a16="http://schemas.microsoft.com/office/drawing/2014/main" id="{3C0C0535-BABF-DA48-89D9-30E70B541732}"/>
              </a:ext>
            </a:extLst>
          </p:cNvPr>
          <p:cNvSpPr>
            <a:spLocks noGrp="1"/>
          </p:cNvSpPr>
          <p:nvPr>
            <p:ph type="title"/>
          </p:nvPr>
        </p:nvSpPr>
        <p:spPr>
          <a:xfrm>
            <a:off x="829917" y="120753"/>
            <a:ext cx="10532165" cy="701986"/>
          </a:xfrm>
        </p:spPr>
        <p:txBody>
          <a:bodyPr>
            <a:normAutofit/>
          </a:bodyPr>
          <a:lstStyle/>
          <a:p>
            <a:r>
              <a:rPr lang="en-US" sz="3200" dirty="0"/>
              <a:t>WHAT TO DO WHEN YOU'RE BEHIND YOUR CLASSMATES</a:t>
            </a:r>
          </a:p>
        </p:txBody>
      </p:sp>
      <p:pic>
        <p:nvPicPr>
          <p:cNvPr id="35842" name="Picture 2" descr="Image result for never leave anyone behind">
            <a:extLst>
              <a:ext uri="{FF2B5EF4-FFF2-40B4-BE49-F238E27FC236}">
                <a16:creationId xmlns:a16="http://schemas.microsoft.com/office/drawing/2014/main" id="{72B5B8F3-386F-094D-BFC7-B8DA922004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822739"/>
            <a:ext cx="5080000" cy="5080000"/>
          </a:xfrm>
          <a:prstGeom prst="rect">
            <a:avLst/>
          </a:prstGeom>
          <a:noFill/>
          <a:extLst>
            <a:ext uri="{909E8E84-426E-40DD-AFC4-6F175D3DCCD1}">
              <a14:hiddenFill xmlns:a14="http://schemas.microsoft.com/office/drawing/2010/main">
                <a:solidFill>
                  <a:srgbClr val="FFFFFF"/>
                </a:solidFill>
              </a14:hiddenFill>
            </a:ext>
          </a:extLst>
        </p:spPr>
      </p:pic>
      <p:sp>
        <p:nvSpPr>
          <p:cNvPr id="51" name="Right Arrow 50">
            <a:extLst>
              <a:ext uri="{FF2B5EF4-FFF2-40B4-BE49-F238E27FC236}">
                <a16:creationId xmlns:a16="http://schemas.microsoft.com/office/drawing/2014/main" id="{1D103943-23A5-864F-AE2D-CFDC682087BB}"/>
              </a:ext>
            </a:extLst>
          </p:cNvPr>
          <p:cNvSpPr/>
          <p:nvPr/>
        </p:nvSpPr>
        <p:spPr>
          <a:xfrm rot="18450625" flipV="1">
            <a:off x="7953598" y="5484055"/>
            <a:ext cx="583000"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DB73C18-BF10-324E-8EE7-D1C5D0D04E81}"/>
              </a:ext>
            </a:extLst>
          </p:cNvPr>
          <p:cNvSpPr txBox="1"/>
          <p:nvPr/>
        </p:nvSpPr>
        <p:spPr>
          <a:xfrm>
            <a:off x="6440558" y="6148130"/>
            <a:ext cx="5367130" cy="369332"/>
          </a:xfrm>
          <a:prstGeom prst="rect">
            <a:avLst/>
          </a:prstGeom>
          <a:noFill/>
        </p:spPr>
        <p:txBody>
          <a:bodyPr wrap="square" rtlCol="0">
            <a:spAutoFit/>
          </a:bodyPr>
          <a:lstStyle/>
          <a:p>
            <a:r>
              <a:rPr lang="en-US" dirty="0"/>
              <a:t>man, or woman, or non-binary/genderqueer person</a:t>
            </a:r>
          </a:p>
        </p:txBody>
      </p:sp>
      <p:cxnSp>
        <p:nvCxnSpPr>
          <p:cNvPr id="11" name="Straight Connector 10">
            <a:extLst>
              <a:ext uri="{FF2B5EF4-FFF2-40B4-BE49-F238E27FC236}">
                <a16:creationId xmlns:a16="http://schemas.microsoft.com/office/drawing/2014/main" id="{1E2DF47F-BFF6-664C-936D-9388D5A6A55C}"/>
              </a:ext>
            </a:extLst>
          </p:cNvPr>
          <p:cNvCxnSpPr/>
          <p:nvPr/>
        </p:nvCxnSpPr>
        <p:spPr>
          <a:xfrm>
            <a:off x="7553739" y="1895061"/>
            <a:ext cx="1881809"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F12852C-A9E6-7A4D-9002-8E99FFDEE0AE}"/>
              </a:ext>
            </a:extLst>
          </p:cNvPr>
          <p:cNvCxnSpPr>
            <a:cxnSpLocks/>
          </p:cNvCxnSpPr>
          <p:nvPr/>
        </p:nvCxnSpPr>
        <p:spPr>
          <a:xfrm>
            <a:off x="7991061" y="5135218"/>
            <a:ext cx="123245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72" name="Right Arrow 71">
            <a:extLst>
              <a:ext uri="{FF2B5EF4-FFF2-40B4-BE49-F238E27FC236}">
                <a16:creationId xmlns:a16="http://schemas.microsoft.com/office/drawing/2014/main" id="{DAFE7DB1-F204-7E4E-8B3B-9FFAEC153C1A}"/>
              </a:ext>
            </a:extLst>
          </p:cNvPr>
          <p:cNvSpPr/>
          <p:nvPr/>
        </p:nvSpPr>
        <p:spPr>
          <a:xfrm rot="3275005" flipV="1">
            <a:off x="7262238" y="1169999"/>
            <a:ext cx="583000"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1CB206B-E0CC-674D-85E6-30D9BB461439}"/>
              </a:ext>
            </a:extLst>
          </p:cNvPr>
          <p:cNvSpPr txBox="1"/>
          <p:nvPr/>
        </p:nvSpPr>
        <p:spPr>
          <a:xfrm>
            <a:off x="6095999" y="798332"/>
            <a:ext cx="1398268" cy="369332"/>
          </a:xfrm>
          <a:prstGeom prst="rect">
            <a:avLst/>
          </a:prstGeom>
          <a:noFill/>
        </p:spPr>
        <p:txBody>
          <a:bodyPr wrap="none" rtlCol="0">
            <a:spAutoFit/>
          </a:bodyPr>
          <a:lstStyle/>
          <a:p>
            <a:r>
              <a:rPr lang="en-US" dirty="0"/>
              <a:t>022 students</a:t>
            </a:r>
          </a:p>
        </p:txBody>
      </p:sp>
    </p:spTree>
    <p:extLst>
      <p:ext uri="{BB962C8B-B14F-4D97-AF65-F5344CB8AC3E}">
        <p14:creationId xmlns:p14="http://schemas.microsoft.com/office/powerpoint/2010/main" val="21492136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Content Placeholder 2">
            <a:extLst>
              <a:ext uri="{FF2B5EF4-FFF2-40B4-BE49-F238E27FC236}">
                <a16:creationId xmlns:a16="http://schemas.microsoft.com/office/drawing/2014/main" id="{40BDA340-2E2C-D840-BBD2-41111016FE18}"/>
              </a:ext>
            </a:extLst>
          </p:cNvPr>
          <p:cNvSpPr>
            <a:spLocks noGrp="1"/>
          </p:cNvSpPr>
          <p:nvPr>
            <p:ph idx="1"/>
          </p:nvPr>
        </p:nvSpPr>
        <p:spPr>
          <a:xfrm>
            <a:off x="172973" y="1325064"/>
            <a:ext cx="5640313" cy="5221510"/>
          </a:xfrm>
        </p:spPr>
        <p:txBody>
          <a:bodyPr>
            <a:normAutofit/>
          </a:bodyPr>
          <a:lstStyle/>
          <a:p>
            <a:r>
              <a:rPr lang="en-US" dirty="0"/>
              <a:t>It is </a:t>
            </a:r>
            <a:r>
              <a:rPr lang="en-US" dirty="0">
                <a:solidFill>
                  <a:srgbClr val="FF0000"/>
                </a:solidFill>
              </a:rPr>
              <a:t>awesome</a:t>
            </a:r>
            <a:r>
              <a:rPr lang="en-US" dirty="0"/>
              <a:t> to help your classmates with how to design their algorithms.</a:t>
            </a:r>
            <a:br>
              <a:rPr lang="en-US" dirty="0"/>
            </a:br>
            <a:endParaRPr lang="en-US" dirty="0"/>
          </a:p>
          <a:p>
            <a:r>
              <a:rPr lang="en-US" dirty="0"/>
              <a:t>It is </a:t>
            </a:r>
            <a:r>
              <a:rPr lang="en-US" dirty="0">
                <a:solidFill>
                  <a:srgbClr val="FF0000"/>
                </a:solidFill>
              </a:rPr>
              <a:t>awesome</a:t>
            </a:r>
            <a:r>
              <a:rPr lang="en-US" dirty="0"/>
              <a:t> to help your classmates with how C++ syntax works</a:t>
            </a:r>
            <a:br>
              <a:rPr lang="en-US" dirty="0"/>
            </a:br>
            <a:endParaRPr lang="en-US" dirty="0"/>
          </a:p>
          <a:p>
            <a:r>
              <a:rPr lang="en-US" dirty="0"/>
              <a:t>It is </a:t>
            </a:r>
            <a:r>
              <a:rPr lang="en-US" dirty="0">
                <a:solidFill>
                  <a:srgbClr val="FF0000"/>
                </a:solidFill>
              </a:rPr>
              <a:t>not awesome </a:t>
            </a:r>
            <a:r>
              <a:rPr lang="en-US" dirty="0"/>
              <a:t>to show them your code. You're not really helping if you just let people copy off of you.</a:t>
            </a:r>
          </a:p>
        </p:txBody>
      </p:sp>
      <p:sp>
        <p:nvSpPr>
          <p:cNvPr id="7" name="Title 6">
            <a:extLst>
              <a:ext uri="{FF2B5EF4-FFF2-40B4-BE49-F238E27FC236}">
                <a16:creationId xmlns:a16="http://schemas.microsoft.com/office/drawing/2014/main" id="{3C0C0535-BABF-DA48-89D9-30E70B541732}"/>
              </a:ext>
            </a:extLst>
          </p:cNvPr>
          <p:cNvSpPr>
            <a:spLocks noGrp="1"/>
          </p:cNvSpPr>
          <p:nvPr>
            <p:ph type="title"/>
          </p:nvPr>
        </p:nvSpPr>
        <p:spPr>
          <a:xfrm>
            <a:off x="829917" y="120753"/>
            <a:ext cx="10532165" cy="701986"/>
          </a:xfrm>
        </p:spPr>
        <p:txBody>
          <a:bodyPr>
            <a:normAutofit/>
          </a:bodyPr>
          <a:lstStyle/>
          <a:p>
            <a:r>
              <a:rPr lang="en-US" sz="3200" dirty="0"/>
              <a:t>rules for sharing</a:t>
            </a:r>
          </a:p>
        </p:txBody>
      </p:sp>
      <p:pic>
        <p:nvPicPr>
          <p:cNvPr id="35842" name="Picture 2" descr="Image result for never leave anyone behind">
            <a:extLst>
              <a:ext uri="{FF2B5EF4-FFF2-40B4-BE49-F238E27FC236}">
                <a16:creationId xmlns:a16="http://schemas.microsoft.com/office/drawing/2014/main" id="{72B5B8F3-386F-094D-BFC7-B8DA922004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822739"/>
            <a:ext cx="5080000" cy="5080000"/>
          </a:xfrm>
          <a:prstGeom prst="rect">
            <a:avLst/>
          </a:prstGeom>
          <a:noFill/>
          <a:extLst>
            <a:ext uri="{909E8E84-426E-40DD-AFC4-6F175D3DCCD1}">
              <a14:hiddenFill xmlns:a14="http://schemas.microsoft.com/office/drawing/2010/main">
                <a:solidFill>
                  <a:srgbClr val="FFFFFF"/>
                </a:solidFill>
              </a14:hiddenFill>
            </a:ext>
          </a:extLst>
        </p:spPr>
      </p:pic>
      <p:sp>
        <p:nvSpPr>
          <p:cNvPr id="51" name="Right Arrow 50">
            <a:extLst>
              <a:ext uri="{FF2B5EF4-FFF2-40B4-BE49-F238E27FC236}">
                <a16:creationId xmlns:a16="http://schemas.microsoft.com/office/drawing/2014/main" id="{1D103943-23A5-864F-AE2D-CFDC682087BB}"/>
              </a:ext>
            </a:extLst>
          </p:cNvPr>
          <p:cNvSpPr/>
          <p:nvPr/>
        </p:nvSpPr>
        <p:spPr>
          <a:xfrm rot="18450625" flipV="1">
            <a:off x="7953598" y="5484055"/>
            <a:ext cx="583000"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DB73C18-BF10-324E-8EE7-D1C5D0D04E81}"/>
              </a:ext>
            </a:extLst>
          </p:cNvPr>
          <p:cNvSpPr txBox="1"/>
          <p:nvPr/>
        </p:nvSpPr>
        <p:spPr>
          <a:xfrm>
            <a:off x="6440558" y="6148130"/>
            <a:ext cx="5367130" cy="369332"/>
          </a:xfrm>
          <a:prstGeom prst="rect">
            <a:avLst/>
          </a:prstGeom>
          <a:noFill/>
        </p:spPr>
        <p:txBody>
          <a:bodyPr wrap="square" rtlCol="0">
            <a:spAutoFit/>
          </a:bodyPr>
          <a:lstStyle/>
          <a:p>
            <a:r>
              <a:rPr lang="en-US" dirty="0"/>
              <a:t>man, or woman, or non-binary/genderqueer person</a:t>
            </a:r>
          </a:p>
        </p:txBody>
      </p:sp>
      <p:cxnSp>
        <p:nvCxnSpPr>
          <p:cNvPr id="11" name="Straight Connector 10">
            <a:extLst>
              <a:ext uri="{FF2B5EF4-FFF2-40B4-BE49-F238E27FC236}">
                <a16:creationId xmlns:a16="http://schemas.microsoft.com/office/drawing/2014/main" id="{1E2DF47F-BFF6-664C-936D-9388D5A6A55C}"/>
              </a:ext>
            </a:extLst>
          </p:cNvPr>
          <p:cNvCxnSpPr/>
          <p:nvPr/>
        </p:nvCxnSpPr>
        <p:spPr>
          <a:xfrm>
            <a:off x="7553739" y="1895061"/>
            <a:ext cx="1881809"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F12852C-A9E6-7A4D-9002-8E99FFDEE0AE}"/>
              </a:ext>
            </a:extLst>
          </p:cNvPr>
          <p:cNvCxnSpPr>
            <a:cxnSpLocks/>
          </p:cNvCxnSpPr>
          <p:nvPr/>
        </p:nvCxnSpPr>
        <p:spPr>
          <a:xfrm>
            <a:off x="7991061" y="5135218"/>
            <a:ext cx="123245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72" name="Right Arrow 71">
            <a:extLst>
              <a:ext uri="{FF2B5EF4-FFF2-40B4-BE49-F238E27FC236}">
                <a16:creationId xmlns:a16="http://schemas.microsoft.com/office/drawing/2014/main" id="{DAFE7DB1-F204-7E4E-8B3B-9FFAEC153C1A}"/>
              </a:ext>
            </a:extLst>
          </p:cNvPr>
          <p:cNvSpPr/>
          <p:nvPr/>
        </p:nvSpPr>
        <p:spPr>
          <a:xfrm rot="3275005" flipV="1">
            <a:off x="7262238" y="1169999"/>
            <a:ext cx="583000" cy="53806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1CB206B-E0CC-674D-85E6-30D9BB461439}"/>
              </a:ext>
            </a:extLst>
          </p:cNvPr>
          <p:cNvSpPr txBox="1"/>
          <p:nvPr/>
        </p:nvSpPr>
        <p:spPr>
          <a:xfrm>
            <a:off x="6095999" y="798332"/>
            <a:ext cx="1398268" cy="369332"/>
          </a:xfrm>
          <a:prstGeom prst="rect">
            <a:avLst/>
          </a:prstGeom>
          <a:noFill/>
        </p:spPr>
        <p:txBody>
          <a:bodyPr wrap="none" rtlCol="0">
            <a:spAutoFit/>
          </a:bodyPr>
          <a:lstStyle/>
          <a:p>
            <a:r>
              <a:rPr lang="en-US" dirty="0"/>
              <a:t>022 students</a:t>
            </a:r>
          </a:p>
        </p:txBody>
      </p:sp>
      <p:sp>
        <p:nvSpPr>
          <p:cNvPr id="3" name="TextBox 2">
            <a:extLst>
              <a:ext uri="{FF2B5EF4-FFF2-40B4-BE49-F238E27FC236}">
                <a16:creationId xmlns:a16="http://schemas.microsoft.com/office/drawing/2014/main" id="{D310218F-02CF-4643-B526-A417AC912AA6}"/>
              </a:ext>
            </a:extLst>
          </p:cNvPr>
          <p:cNvSpPr txBox="1"/>
          <p:nvPr/>
        </p:nvSpPr>
        <p:spPr>
          <a:xfrm>
            <a:off x="172973" y="6517462"/>
            <a:ext cx="1989647" cy="292388"/>
          </a:xfrm>
          <a:prstGeom prst="rect">
            <a:avLst/>
          </a:prstGeom>
          <a:noFill/>
        </p:spPr>
        <p:txBody>
          <a:bodyPr wrap="none" rtlCol="0">
            <a:spAutoFit/>
          </a:bodyPr>
          <a:lstStyle/>
          <a:p>
            <a:r>
              <a:rPr lang="en-US" sz="1300" dirty="0"/>
              <a:t>helping each other is dope</a:t>
            </a:r>
          </a:p>
        </p:txBody>
      </p:sp>
    </p:spTree>
    <p:extLst>
      <p:ext uri="{BB962C8B-B14F-4D97-AF65-F5344CB8AC3E}">
        <p14:creationId xmlns:p14="http://schemas.microsoft.com/office/powerpoint/2010/main" val="12718140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ame 20">
            <a:extLst>
              <a:ext uri="{FF2B5EF4-FFF2-40B4-BE49-F238E27FC236}">
                <a16:creationId xmlns:a16="http://schemas.microsoft.com/office/drawing/2014/main" id="{7D866EBA-073C-8244-A303-9B78DB1EC3BD}"/>
              </a:ext>
            </a:extLst>
          </p:cNvPr>
          <p:cNvSpPr/>
          <p:nvPr/>
        </p:nvSpPr>
        <p:spPr>
          <a:xfrm>
            <a:off x="10436813" y="279127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Frame 4">
            <a:extLst>
              <a:ext uri="{FF2B5EF4-FFF2-40B4-BE49-F238E27FC236}">
                <a16:creationId xmlns:a16="http://schemas.microsoft.com/office/drawing/2014/main" id="{4FB5BBDE-99DF-254D-9A65-3AB0725E4DD9}"/>
              </a:ext>
            </a:extLst>
          </p:cNvPr>
          <p:cNvSpPr/>
          <p:nvPr/>
        </p:nvSpPr>
        <p:spPr>
          <a:xfrm>
            <a:off x="5311619" y="279224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ame 15">
            <a:extLst>
              <a:ext uri="{FF2B5EF4-FFF2-40B4-BE49-F238E27FC236}">
                <a16:creationId xmlns:a16="http://schemas.microsoft.com/office/drawing/2014/main" id="{98A6FBDA-7627-974B-B914-E515AF955F33}"/>
              </a:ext>
            </a:extLst>
          </p:cNvPr>
          <p:cNvSpPr/>
          <p:nvPr/>
        </p:nvSpPr>
        <p:spPr>
          <a:xfrm>
            <a:off x="6845555" y="279224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ame 16">
            <a:extLst>
              <a:ext uri="{FF2B5EF4-FFF2-40B4-BE49-F238E27FC236}">
                <a16:creationId xmlns:a16="http://schemas.microsoft.com/office/drawing/2014/main" id="{8E77E690-0676-5A40-8718-2497F95214CF}"/>
              </a:ext>
            </a:extLst>
          </p:cNvPr>
          <p:cNvSpPr/>
          <p:nvPr/>
        </p:nvSpPr>
        <p:spPr>
          <a:xfrm>
            <a:off x="7570391" y="279224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ame 17">
            <a:extLst>
              <a:ext uri="{FF2B5EF4-FFF2-40B4-BE49-F238E27FC236}">
                <a16:creationId xmlns:a16="http://schemas.microsoft.com/office/drawing/2014/main" id="{64320DEA-0527-A44B-B73D-4A8A4371FD5A}"/>
              </a:ext>
            </a:extLst>
          </p:cNvPr>
          <p:cNvSpPr/>
          <p:nvPr/>
        </p:nvSpPr>
        <p:spPr>
          <a:xfrm>
            <a:off x="8295227" y="279224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ame 18">
            <a:extLst>
              <a:ext uri="{FF2B5EF4-FFF2-40B4-BE49-F238E27FC236}">
                <a16:creationId xmlns:a16="http://schemas.microsoft.com/office/drawing/2014/main" id="{410BC00E-018A-FB43-970F-E64AF26B364E}"/>
              </a:ext>
            </a:extLst>
          </p:cNvPr>
          <p:cNvSpPr/>
          <p:nvPr/>
        </p:nvSpPr>
        <p:spPr>
          <a:xfrm>
            <a:off x="8979969" y="279175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ame 14">
            <a:extLst>
              <a:ext uri="{FF2B5EF4-FFF2-40B4-BE49-F238E27FC236}">
                <a16:creationId xmlns:a16="http://schemas.microsoft.com/office/drawing/2014/main" id="{30FBC087-F371-AB40-B034-AB5F4C7D3023}"/>
              </a:ext>
            </a:extLst>
          </p:cNvPr>
          <p:cNvSpPr/>
          <p:nvPr/>
        </p:nvSpPr>
        <p:spPr>
          <a:xfrm>
            <a:off x="6074407" y="2792246"/>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ame 19">
            <a:extLst>
              <a:ext uri="{FF2B5EF4-FFF2-40B4-BE49-F238E27FC236}">
                <a16:creationId xmlns:a16="http://schemas.microsoft.com/office/drawing/2014/main" id="{054105C8-47C8-AC45-9CED-5D1DDB15AD58}"/>
              </a:ext>
            </a:extLst>
          </p:cNvPr>
          <p:cNvSpPr/>
          <p:nvPr/>
        </p:nvSpPr>
        <p:spPr>
          <a:xfrm>
            <a:off x="9737390" y="279127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TextBox 45">
            <a:extLst>
              <a:ext uri="{FF2B5EF4-FFF2-40B4-BE49-F238E27FC236}">
                <a16:creationId xmlns:a16="http://schemas.microsoft.com/office/drawing/2014/main" id="{E73E0100-453B-844F-A9B8-23D14D306288}"/>
              </a:ext>
            </a:extLst>
          </p:cNvPr>
          <p:cNvSpPr txBox="1"/>
          <p:nvPr/>
        </p:nvSpPr>
        <p:spPr>
          <a:xfrm>
            <a:off x="10508538" y="3055784"/>
            <a:ext cx="595035" cy="215444"/>
          </a:xfrm>
          <a:prstGeom prst="rect">
            <a:avLst/>
          </a:prstGeom>
          <a:noFill/>
        </p:spPr>
        <p:txBody>
          <a:bodyPr wrap="none" rtlCol="0">
            <a:spAutoFit/>
          </a:bodyPr>
          <a:lstStyle/>
          <a:p>
            <a:r>
              <a:rPr lang="en-US" sz="800" dirty="0"/>
              <a:t>00110011</a:t>
            </a:r>
          </a:p>
        </p:txBody>
      </p:sp>
      <p:sp>
        <p:nvSpPr>
          <p:cNvPr id="6" name="Rectangle 5">
            <a:extLst>
              <a:ext uri="{FF2B5EF4-FFF2-40B4-BE49-F238E27FC236}">
                <a16:creationId xmlns:a16="http://schemas.microsoft.com/office/drawing/2014/main" id="{DE095D7D-2B98-8940-ADBB-24778A5E1F7F}"/>
              </a:ext>
            </a:extLst>
          </p:cNvPr>
          <p:cNvSpPr/>
          <p:nvPr/>
        </p:nvSpPr>
        <p:spPr>
          <a:xfrm>
            <a:off x="10851979" y="2735665"/>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E8D3975-DA4E-4940-A7FF-C9F7417EBB95}"/>
              </a:ext>
            </a:extLst>
          </p:cNvPr>
          <p:cNvSpPr/>
          <p:nvPr/>
        </p:nvSpPr>
        <p:spPr>
          <a:xfrm>
            <a:off x="10841251" y="2826890"/>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0F0A092-93B0-1043-97B0-5C0999780AE7}"/>
              </a:ext>
            </a:extLst>
          </p:cNvPr>
          <p:cNvSpPr/>
          <p:nvPr/>
        </p:nvSpPr>
        <p:spPr>
          <a:xfrm>
            <a:off x="5311618" y="2792247"/>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A6C2E929-5AD6-5146-8154-8C0B0A9687E7}"/>
              </a:ext>
            </a:extLst>
          </p:cNvPr>
          <p:cNvSpPr/>
          <p:nvPr/>
        </p:nvSpPr>
        <p:spPr>
          <a:xfrm>
            <a:off x="11039158" y="2939738"/>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94033F0-8F2C-2241-AB67-79F5D7109B72}"/>
              </a:ext>
            </a:extLst>
          </p:cNvPr>
          <p:cNvSpPr txBox="1"/>
          <p:nvPr/>
        </p:nvSpPr>
        <p:spPr>
          <a:xfrm>
            <a:off x="5468471" y="3017368"/>
            <a:ext cx="595035" cy="215444"/>
          </a:xfrm>
          <a:prstGeom prst="rect">
            <a:avLst/>
          </a:prstGeom>
          <a:noFill/>
        </p:spPr>
        <p:txBody>
          <a:bodyPr wrap="none" rtlCol="0">
            <a:spAutoFit/>
          </a:bodyPr>
          <a:lstStyle/>
          <a:p>
            <a:r>
              <a:rPr lang="en-US" sz="800" dirty="0"/>
              <a:t>10101010</a:t>
            </a:r>
          </a:p>
        </p:txBody>
      </p:sp>
      <p:sp>
        <p:nvSpPr>
          <p:cNvPr id="41" name="TextBox 40">
            <a:extLst>
              <a:ext uri="{FF2B5EF4-FFF2-40B4-BE49-F238E27FC236}">
                <a16:creationId xmlns:a16="http://schemas.microsoft.com/office/drawing/2014/main" id="{4E3D7E68-EAE1-ED42-8264-FA8F5366EED1}"/>
              </a:ext>
            </a:extLst>
          </p:cNvPr>
          <p:cNvSpPr txBox="1"/>
          <p:nvPr/>
        </p:nvSpPr>
        <p:spPr>
          <a:xfrm>
            <a:off x="9785040" y="2837454"/>
            <a:ext cx="1027290" cy="415498"/>
          </a:xfrm>
          <a:prstGeom prst="rect">
            <a:avLst/>
          </a:prstGeom>
          <a:noFill/>
        </p:spPr>
        <p:txBody>
          <a:bodyPr wrap="square" rtlCol="0">
            <a:spAutoFit/>
          </a:bodyPr>
          <a:lstStyle/>
          <a:p>
            <a:endParaRPr lang="ja-JP" altLang="en-US" sz="1200"/>
          </a:p>
          <a:p>
            <a:r>
              <a:rPr lang="en-US" sz="800" dirty="0"/>
              <a:t>11100010</a:t>
            </a:r>
          </a:p>
        </p:txBody>
      </p:sp>
      <p:sp>
        <p:nvSpPr>
          <p:cNvPr id="37" name="TextBox 36">
            <a:extLst>
              <a:ext uri="{FF2B5EF4-FFF2-40B4-BE49-F238E27FC236}">
                <a16:creationId xmlns:a16="http://schemas.microsoft.com/office/drawing/2014/main" id="{03246CF3-7B6D-4543-B14C-2AC117A0F16F}"/>
              </a:ext>
            </a:extLst>
          </p:cNvPr>
          <p:cNvSpPr txBox="1"/>
          <p:nvPr/>
        </p:nvSpPr>
        <p:spPr>
          <a:xfrm>
            <a:off x="6205667" y="3049359"/>
            <a:ext cx="595035" cy="215444"/>
          </a:xfrm>
          <a:prstGeom prst="rect">
            <a:avLst/>
          </a:prstGeom>
          <a:noFill/>
        </p:spPr>
        <p:txBody>
          <a:bodyPr wrap="none" rtlCol="0">
            <a:spAutoFit/>
          </a:bodyPr>
          <a:lstStyle/>
          <a:p>
            <a:r>
              <a:rPr lang="en-US" sz="800" dirty="0"/>
              <a:t>11111111</a:t>
            </a:r>
          </a:p>
        </p:txBody>
      </p:sp>
      <p:sp>
        <p:nvSpPr>
          <p:cNvPr id="42" name="TextBox 41">
            <a:extLst>
              <a:ext uri="{FF2B5EF4-FFF2-40B4-BE49-F238E27FC236}">
                <a16:creationId xmlns:a16="http://schemas.microsoft.com/office/drawing/2014/main" id="{876B0114-A059-0F4E-9FD5-AA3F80675EA1}"/>
              </a:ext>
            </a:extLst>
          </p:cNvPr>
          <p:cNvSpPr txBox="1"/>
          <p:nvPr/>
        </p:nvSpPr>
        <p:spPr>
          <a:xfrm>
            <a:off x="6945759" y="3078841"/>
            <a:ext cx="595035" cy="215444"/>
          </a:xfrm>
          <a:prstGeom prst="rect">
            <a:avLst/>
          </a:prstGeom>
          <a:noFill/>
        </p:spPr>
        <p:txBody>
          <a:bodyPr wrap="none" rtlCol="0">
            <a:spAutoFit/>
          </a:bodyPr>
          <a:lstStyle/>
          <a:p>
            <a:r>
              <a:rPr lang="en-US" sz="800" dirty="0"/>
              <a:t>01110011</a:t>
            </a:r>
          </a:p>
        </p:txBody>
      </p:sp>
      <p:sp>
        <p:nvSpPr>
          <p:cNvPr id="43" name="TextBox 42">
            <a:extLst>
              <a:ext uri="{FF2B5EF4-FFF2-40B4-BE49-F238E27FC236}">
                <a16:creationId xmlns:a16="http://schemas.microsoft.com/office/drawing/2014/main" id="{262878DA-88FB-4D4E-BAB0-0097525E2D5D}"/>
              </a:ext>
            </a:extLst>
          </p:cNvPr>
          <p:cNvSpPr txBox="1"/>
          <p:nvPr/>
        </p:nvSpPr>
        <p:spPr>
          <a:xfrm>
            <a:off x="7664738" y="3068287"/>
            <a:ext cx="595035" cy="215444"/>
          </a:xfrm>
          <a:prstGeom prst="rect">
            <a:avLst/>
          </a:prstGeom>
          <a:noFill/>
        </p:spPr>
        <p:txBody>
          <a:bodyPr wrap="none" rtlCol="0">
            <a:spAutoFit/>
          </a:bodyPr>
          <a:lstStyle/>
          <a:p>
            <a:r>
              <a:rPr lang="en-US" sz="800" dirty="0"/>
              <a:t>00110011</a:t>
            </a:r>
          </a:p>
        </p:txBody>
      </p:sp>
      <p:sp>
        <p:nvSpPr>
          <p:cNvPr id="44" name="TextBox 43">
            <a:extLst>
              <a:ext uri="{FF2B5EF4-FFF2-40B4-BE49-F238E27FC236}">
                <a16:creationId xmlns:a16="http://schemas.microsoft.com/office/drawing/2014/main" id="{4FF12601-6724-5D47-80BC-344096188A62}"/>
              </a:ext>
            </a:extLst>
          </p:cNvPr>
          <p:cNvSpPr txBox="1"/>
          <p:nvPr/>
        </p:nvSpPr>
        <p:spPr>
          <a:xfrm>
            <a:off x="9092466" y="3049409"/>
            <a:ext cx="595035" cy="215444"/>
          </a:xfrm>
          <a:prstGeom prst="rect">
            <a:avLst/>
          </a:prstGeom>
          <a:noFill/>
        </p:spPr>
        <p:txBody>
          <a:bodyPr wrap="none" rtlCol="0">
            <a:spAutoFit/>
          </a:bodyPr>
          <a:lstStyle/>
          <a:p>
            <a:r>
              <a:rPr lang="en-US" sz="800" dirty="0"/>
              <a:t>11001100</a:t>
            </a:r>
          </a:p>
        </p:txBody>
      </p:sp>
      <p:sp>
        <p:nvSpPr>
          <p:cNvPr id="45" name="TextBox 44">
            <a:extLst>
              <a:ext uri="{FF2B5EF4-FFF2-40B4-BE49-F238E27FC236}">
                <a16:creationId xmlns:a16="http://schemas.microsoft.com/office/drawing/2014/main" id="{692A528E-A7ED-454A-99C6-E32BCFAB6FFD}"/>
              </a:ext>
            </a:extLst>
          </p:cNvPr>
          <p:cNvSpPr txBox="1"/>
          <p:nvPr/>
        </p:nvSpPr>
        <p:spPr>
          <a:xfrm>
            <a:off x="8359989" y="3049359"/>
            <a:ext cx="595035" cy="215444"/>
          </a:xfrm>
          <a:prstGeom prst="rect">
            <a:avLst/>
          </a:prstGeom>
          <a:noFill/>
        </p:spPr>
        <p:txBody>
          <a:bodyPr wrap="none" rtlCol="0">
            <a:spAutoFit/>
          </a:bodyPr>
          <a:lstStyle/>
          <a:p>
            <a:r>
              <a:rPr lang="en-US" sz="800" dirty="0"/>
              <a:t>00110011</a:t>
            </a:r>
          </a:p>
        </p:txBody>
      </p:sp>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memory – an analogy</a:t>
            </a:r>
          </a:p>
        </p:txBody>
      </p:sp>
      <p:sp>
        <p:nvSpPr>
          <p:cNvPr id="14" name="Content Placeholder 2">
            <a:extLst>
              <a:ext uri="{FF2B5EF4-FFF2-40B4-BE49-F238E27FC236}">
                <a16:creationId xmlns:a16="http://schemas.microsoft.com/office/drawing/2014/main" id="{7B147281-921E-3047-97E3-08C183CD5A02}"/>
              </a:ext>
            </a:extLst>
          </p:cNvPr>
          <p:cNvSpPr>
            <a:spLocks noGrp="1"/>
          </p:cNvSpPr>
          <p:nvPr>
            <p:ph idx="1"/>
          </p:nvPr>
        </p:nvSpPr>
        <p:spPr>
          <a:xfrm>
            <a:off x="173181" y="1579453"/>
            <a:ext cx="3725990" cy="4837972"/>
          </a:xfrm>
        </p:spPr>
        <p:txBody>
          <a:bodyPr>
            <a:noAutofit/>
          </a:bodyPr>
          <a:lstStyle/>
          <a:p>
            <a:pPr marL="0" indent="0">
              <a:buNone/>
            </a:pPr>
            <a:r>
              <a:rPr lang="en-US" sz="1800" dirty="0"/>
              <a:t>You can get the address of an object in memory by using the &amp; operator:</a:t>
            </a:r>
          </a:p>
          <a:p>
            <a:pPr marL="0" indent="0">
              <a:buNone/>
            </a:pPr>
            <a:endParaRPr lang="en-US" sz="1800" dirty="0"/>
          </a:p>
          <a:p>
            <a:pPr marL="0" indent="0">
              <a:buNone/>
            </a:pPr>
            <a:br>
              <a:rPr lang="en-US" sz="1800" dirty="0"/>
            </a:br>
            <a:br>
              <a:rPr lang="en-US" sz="1800" dirty="0"/>
            </a:br>
            <a:endParaRPr lang="en-US" sz="1800" dirty="0"/>
          </a:p>
        </p:txBody>
      </p:sp>
      <p:sp>
        <p:nvSpPr>
          <p:cNvPr id="9" name="TextBox 8">
            <a:extLst>
              <a:ext uri="{FF2B5EF4-FFF2-40B4-BE49-F238E27FC236}">
                <a16:creationId xmlns:a16="http://schemas.microsoft.com/office/drawing/2014/main" id="{4C787C15-52EA-6749-A0C6-D23C73358E5F}"/>
              </a:ext>
            </a:extLst>
          </p:cNvPr>
          <p:cNvSpPr txBox="1"/>
          <p:nvPr/>
        </p:nvSpPr>
        <p:spPr>
          <a:xfrm>
            <a:off x="5542170" y="3776818"/>
            <a:ext cx="301686" cy="369332"/>
          </a:xfrm>
          <a:prstGeom prst="rect">
            <a:avLst/>
          </a:prstGeom>
          <a:noFill/>
        </p:spPr>
        <p:txBody>
          <a:bodyPr wrap="none" rtlCol="0">
            <a:spAutoFit/>
          </a:bodyPr>
          <a:lstStyle/>
          <a:p>
            <a:r>
              <a:rPr lang="en-US" dirty="0"/>
              <a:t>0</a:t>
            </a:r>
          </a:p>
        </p:txBody>
      </p:sp>
      <p:sp>
        <p:nvSpPr>
          <p:cNvPr id="22" name="TextBox 21">
            <a:extLst>
              <a:ext uri="{FF2B5EF4-FFF2-40B4-BE49-F238E27FC236}">
                <a16:creationId xmlns:a16="http://schemas.microsoft.com/office/drawing/2014/main" id="{B1817DF7-773F-2647-9195-1C19091E9235}"/>
              </a:ext>
            </a:extLst>
          </p:cNvPr>
          <p:cNvSpPr txBox="1"/>
          <p:nvPr/>
        </p:nvSpPr>
        <p:spPr>
          <a:xfrm>
            <a:off x="6304958" y="3776818"/>
            <a:ext cx="301686" cy="369332"/>
          </a:xfrm>
          <a:prstGeom prst="rect">
            <a:avLst/>
          </a:prstGeom>
          <a:noFill/>
        </p:spPr>
        <p:txBody>
          <a:bodyPr wrap="square" rtlCol="0">
            <a:spAutoFit/>
          </a:bodyPr>
          <a:lstStyle/>
          <a:p>
            <a:r>
              <a:rPr lang="en-US" dirty="0"/>
              <a:t>1</a:t>
            </a:r>
          </a:p>
        </p:txBody>
      </p:sp>
      <p:sp>
        <p:nvSpPr>
          <p:cNvPr id="23" name="TextBox 22">
            <a:extLst>
              <a:ext uri="{FF2B5EF4-FFF2-40B4-BE49-F238E27FC236}">
                <a16:creationId xmlns:a16="http://schemas.microsoft.com/office/drawing/2014/main" id="{D589732C-F994-0247-A653-757F4315D177}"/>
              </a:ext>
            </a:extLst>
          </p:cNvPr>
          <p:cNvSpPr txBox="1"/>
          <p:nvPr/>
        </p:nvSpPr>
        <p:spPr>
          <a:xfrm>
            <a:off x="7076106" y="3776818"/>
            <a:ext cx="301686" cy="369332"/>
          </a:xfrm>
          <a:prstGeom prst="rect">
            <a:avLst/>
          </a:prstGeom>
          <a:noFill/>
        </p:spPr>
        <p:txBody>
          <a:bodyPr wrap="square" rtlCol="0">
            <a:spAutoFit/>
          </a:bodyPr>
          <a:lstStyle/>
          <a:p>
            <a:r>
              <a:rPr lang="en-US" dirty="0"/>
              <a:t>2</a:t>
            </a:r>
          </a:p>
        </p:txBody>
      </p:sp>
      <p:sp>
        <p:nvSpPr>
          <p:cNvPr id="24" name="TextBox 23">
            <a:extLst>
              <a:ext uri="{FF2B5EF4-FFF2-40B4-BE49-F238E27FC236}">
                <a16:creationId xmlns:a16="http://schemas.microsoft.com/office/drawing/2014/main" id="{687711E0-0955-934A-98E0-F89A04522FB8}"/>
              </a:ext>
            </a:extLst>
          </p:cNvPr>
          <p:cNvSpPr txBox="1"/>
          <p:nvPr/>
        </p:nvSpPr>
        <p:spPr>
          <a:xfrm>
            <a:off x="7800942" y="3776818"/>
            <a:ext cx="301686" cy="369332"/>
          </a:xfrm>
          <a:prstGeom prst="rect">
            <a:avLst/>
          </a:prstGeom>
          <a:noFill/>
        </p:spPr>
        <p:txBody>
          <a:bodyPr wrap="square" rtlCol="0">
            <a:spAutoFit/>
          </a:bodyPr>
          <a:lstStyle/>
          <a:p>
            <a:r>
              <a:rPr lang="en-US" dirty="0"/>
              <a:t>3</a:t>
            </a:r>
          </a:p>
        </p:txBody>
      </p:sp>
      <p:sp>
        <p:nvSpPr>
          <p:cNvPr id="25" name="TextBox 24">
            <a:extLst>
              <a:ext uri="{FF2B5EF4-FFF2-40B4-BE49-F238E27FC236}">
                <a16:creationId xmlns:a16="http://schemas.microsoft.com/office/drawing/2014/main" id="{D45C8889-142A-F34C-BA72-9A940E737FCB}"/>
              </a:ext>
            </a:extLst>
          </p:cNvPr>
          <p:cNvSpPr txBox="1"/>
          <p:nvPr/>
        </p:nvSpPr>
        <p:spPr>
          <a:xfrm>
            <a:off x="8525778" y="3776818"/>
            <a:ext cx="301686" cy="369332"/>
          </a:xfrm>
          <a:prstGeom prst="rect">
            <a:avLst/>
          </a:prstGeom>
          <a:noFill/>
        </p:spPr>
        <p:txBody>
          <a:bodyPr wrap="square" rtlCol="0">
            <a:spAutoFit/>
          </a:bodyPr>
          <a:lstStyle/>
          <a:p>
            <a:r>
              <a:rPr lang="en-US" dirty="0"/>
              <a:t>4</a:t>
            </a:r>
          </a:p>
        </p:txBody>
      </p:sp>
      <p:sp>
        <p:nvSpPr>
          <p:cNvPr id="26" name="TextBox 25">
            <a:extLst>
              <a:ext uri="{FF2B5EF4-FFF2-40B4-BE49-F238E27FC236}">
                <a16:creationId xmlns:a16="http://schemas.microsoft.com/office/drawing/2014/main" id="{58B00257-5BCD-4745-876E-82FE88477805}"/>
              </a:ext>
            </a:extLst>
          </p:cNvPr>
          <p:cNvSpPr txBox="1"/>
          <p:nvPr/>
        </p:nvSpPr>
        <p:spPr>
          <a:xfrm>
            <a:off x="9210520" y="3776818"/>
            <a:ext cx="301686" cy="369332"/>
          </a:xfrm>
          <a:prstGeom prst="rect">
            <a:avLst/>
          </a:prstGeom>
          <a:noFill/>
        </p:spPr>
        <p:txBody>
          <a:bodyPr wrap="square" rtlCol="0">
            <a:spAutoFit/>
          </a:bodyPr>
          <a:lstStyle/>
          <a:p>
            <a:r>
              <a:rPr lang="en-US" dirty="0"/>
              <a:t>5</a:t>
            </a:r>
          </a:p>
        </p:txBody>
      </p:sp>
      <p:sp>
        <p:nvSpPr>
          <p:cNvPr id="27" name="TextBox 26">
            <a:extLst>
              <a:ext uri="{FF2B5EF4-FFF2-40B4-BE49-F238E27FC236}">
                <a16:creationId xmlns:a16="http://schemas.microsoft.com/office/drawing/2014/main" id="{070EEC1A-EC5C-5E47-BBDC-25570310964A}"/>
              </a:ext>
            </a:extLst>
          </p:cNvPr>
          <p:cNvSpPr txBox="1"/>
          <p:nvPr/>
        </p:nvSpPr>
        <p:spPr>
          <a:xfrm>
            <a:off x="9967941" y="3775828"/>
            <a:ext cx="301686" cy="369332"/>
          </a:xfrm>
          <a:prstGeom prst="rect">
            <a:avLst/>
          </a:prstGeom>
          <a:noFill/>
        </p:spPr>
        <p:txBody>
          <a:bodyPr wrap="square" rtlCol="0">
            <a:spAutoFit/>
          </a:bodyPr>
          <a:lstStyle/>
          <a:p>
            <a:r>
              <a:rPr lang="en-US" dirty="0"/>
              <a:t>6</a:t>
            </a:r>
          </a:p>
        </p:txBody>
      </p:sp>
      <p:sp>
        <p:nvSpPr>
          <p:cNvPr id="28" name="TextBox 27">
            <a:extLst>
              <a:ext uri="{FF2B5EF4-FFF2-40B4-BE49-F238E27FC236}">
                <a16:creationId xmlns:a16="http://schemas.microsoft.com/office/drawing/2014/main" id="{2BA1D67F-748D-864C-9EC6-2165838F3179}"/>
              </a:ext>
            </a:extLst>
          </p:cNvPr>
          <p:cNvSpPr txBox="1"/>
          <p:nvPr/>
        </p:nvSpPr>
        <p:spPr>
          <a:xfrm>
            <a:off x="10588246" y="3775828"/>
            <a:ext cx="301686" cy="369332"/>
          </a:xfrm>
          <a:prstGeom prst="rect">
            <a:avLst/>
          </a:prstGeom>
          <a:noFill/>
        </p:spPr>
        <p:txBody>
          <a:bodyPr wrap="square" rtlCol="0">
            <a:spAutoFit/>
          </a:bodyPr>
          <a:lstStyle/>
          <a:p>
            <a:r>
              <a:rPr lang="en-US" dirty="0"/>
              <a:t>7</a:t>
            </a:r>
          </a:p>
        </p:txBody>
      </p:sp>
      <p:sp>
        <p:nvSpPr>
          <p:cNvPr id="29" name="TextBox 28">
            <a:extLst>
              <a:ext uri="{FF2B5EF4-FFF2-40B4-BE49-F238E27FC236}">
                <a16:creationId xmlns:a16="http://schemas.microsoft.com/office/drawing/2014/main" id="{EE8E038E-F409-CF4F-A864-B93A211ED449}"/>
              </a:ext>
            </a:extLst>
          </p:cNvPr>
          <p:cNvSpPr txBox="1"/>
          <p:nvPr/>
        </p:nvSpPr>
        <p:spPr>
          <a:xfrm>
            <a:off x="11199601" y="3775828"/>
            <a:ext cx="343364" cy="369332"/>
          </a:xfrm>
          <a:prstGeom prst="rect">
            <a:avLst/>
          </a:prstGeom>
          <a:noFill/>
        </p:spPr>
        <p:txBody>
          <a:bodyPr wrap="none" rtlCol="0">
            <a:spAutoFit/>
          </a:bodyPr>
          <a:lstStyle/>
          <a:p>
            <a:r>
              <a:rPr lang="en-US" dirty="0"/>
              <a:t>…</a:t>
            </a:r>
          </a:p>
        </p:txBody>
      </p:sp>
      <p:sp>
        <p:nvSpPr>
          <p:cNvPr id="30" name="TextBox 29">
            <a:extLst>
              <a:ext uri="{FF2B5EF4-FFF2-40B4-BE49-F238E27FC236}">
                <a16:creationId xmlns:a16="http://schemas.microsoft.com/office/drawing/2014/main" id="{47178FB3-57C0-6A42-AFF8-BB494C36B881}"/>
              </a:ext>
            </a:extLst>
          </p:cNvPr>
          <p:cNvSpPr txBox="1"/>
          <p:nvPr/>
        </p:nvSpPr>
        <p:spPr>
          <a:xfrm>
            <a:off x="4185578" y="3775828"/>
            <a:ext cx="973536" cy="369332"/>
          </a:xfrm>
          <a:prstGeom prst="rect">
            <a:avLst/>
          </a:prstGeom>
          <a:noFill/>
        </p:spPr>
        <p:txBody>
          <a:bodyPr wrap="none" rtlCol="0">
            <a:spAutoFit/>
          </a:bodyPr>
          <a:lstStyle/>
          <a:p>
            <a:r>
              <a:rPr lang="en-US" dirty="0"/>
              <a:t>address:</a:t>
            </a:r>
          </a:p>
        </p:txBody>
      </p:sp>
      <p:sp>
        <p:nvSpPr>
          <p:cNvPr id="35" name="Right Arrow 34">
            <a:extLst>
              <a:ext uri="{FF2B5EF4-FFF2-40B4-BE49-F238E27FC236}">
                <a16:creationId xmlns:a16="http://schemas.microsoft.com/office/drawing/2014/main" id="{78A37C0C-4290-344E-9C05-AE1FED8BBAB3}"/>
              </a:ext>
            </a:extLst>
          </p:cNvPr>
          <p:cNvSpPr/>
          <p:nvPr/>
        </p:nvSpPr>
        <p:spPr>
          <a:xfrm rot="6889097">
            <a:off x="5479606" y="2418354"/>
            <a:ext cx="1752514" cy="774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352D3B3-B320-E345-B75F-A00F62698D7D}"/>
              </a:ext>
            </a:extLst>
          </p:cNvPr>
          <p:cNvSpPr txBox="1"/>
          <p:nvPr/>
        </p:nvSpPr>
        <p:spPr>
          <a:xfrm>
            <a:off x="5693432" y="1210121"/>
            <a:ext cx="4979825" cy="369332"/>
          </a:xfrm>
          <a:prstGeom prst="rect">
            <a:avLst/>
          </a:prstGeom>
          <a:noFill/>
        </p:spPr>
        <p:txBody>
          <a:bodyPr wrap="none" rtlCol="0">
            <a:spAutoFit/>
          </a:bodyPr>
          <a:lstStyle/>
          <a:p>
            <a:r>
              <a:rPr lang="en-US" dirty="0"/>
              <a:t>real addresses don't look quite like this, of course…</a:t>
            </a:r>
          </a:p>
        </p:txBody>
      </p:sp>
      <p:pic>
        <p:nvPicPr>
          <p:cNvPr id="10" name="Picture 9">
            <a:extLst>
              <a:ext uri="{FF2B5EF4-FFF2-40B4-BE49-F238E27FC236}">
                <a16:creationId xmlns:a16="http://schemas.microsoft.com/office/drawing/2014/main" id="{1B5D3F27-FCCC-0744-9391-C78CEA0196D6}"/>
              </a:ext>
            </a:extLst>
          </p:cNvPr>
          <p:cNvPicPr>
            <a:picLocks noChangeAspect="1"/>
          </p:cNvPicPr>
          <p:nvPr/>
        </p:nvPicPr>
        <p:blipFill>
          <a:blip r:embed="rId2"/>
          <a:stretch>
            <a:fillRect/>
          </a:stretch>
        </p:blipFill>
        <p:spPr>
          <a:xfrm>
            <a:off x="7374962" y="5565917"/>
            <a:ext cx="4597400" cy="952500"/>
          </a:xfrm>
          <a:prstGeom prst="rect">
            <a:avLst/>
          </a:prstGeom>
        </p:spPr>
      </p:pic>
      <p:sp>
        <p:nvSpPr>
          <p:cNvPr id="38" name="Right Arrow 37">
            <a:extLst>
              <a:ext uri="{FF2B5EF4-FFF2-40B4-BE49-F238E27FC236}">
                <a16:creationId xmlns:a16="http://schemas.microsoft.com/office/drawing/2014/main" id="{949A6122-451E-3142-A58E-9E4F93B5D848}"/>
              </a:ext>
            </a:extLst>
          </p:cNvPr>
          <p:cNvSpPr/>
          <p:nvPr/>
        </p:nvSpPr>
        <p:spPr>
          <a:xfrm rot="2912595">
            <a:off x="10076993" y="4779320"/>
            <a:ext cx="654700" cy="774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E8035-F562-5449-9885-B12E42972208}"/>
              </a:ext>
            </a:extLst>
          </p:cNvPr>
          <p:cNvSpPr txBox="1"/>
          <p:nvPr/>
        </p:nvSpPr>
        <p:spPr>
          <a:xfrm>
            <a:off x="6421474" y="4320086"/>
            <a:ext cx="3266028" cy="1200329"/>
          </a:xfrm>
          <a:prstGeom prst="rect">
            <a:avLst/>
          </a:prstGeom>
          <a:noFill/>
        </p:spPr>
        <p:txBody>
          <a:bodyPr wrap="square" rtlCol="0">
            <a:spAutoFit/>
          </a:bodyPr>
          <a:lstStyle/>
          <a:p>
            <a:r>
              <a:rPr lang="en-US" dirty="0"/>
              <a:t>here's what I get when </a:t>
            </a:r>
          </a:p>
          <a:p>
            <a:r>
              <a:rPr lang="en-US" dirty="0"/>
              <a:t>I run this.  this is what addresses typically look like… long hexadecimal numbers</a:t>
            </a:r>
          </a:p>
        </p:txBody>
      </p:sp>
      <p:pic>
        <p:nvPicPr>
          <p:cNvPr id="8" name="Picture 7">
            <a:extLst>
              <a:ext uri="{FF2B5EF4-FFF2-40B4-BE49-F238E27FC236}">
                <a16:creationId xmlns:a16="http://schemas.microsoft.com/office/drawing/2014/main" id="{79F4C363-9BC8-5440-B667-871421AF9F25}"/>
              </a:ext>
            </a:extLst>
          </p:cNvPr>
          <p:cNvPicPr>
            <a:picLocks noChangeAspect="1"/>
          </p:cNvPicPr>
          <p:nvPr/>
        </p:nvPicPr>
        <p:blipFill>
          <a:blip r:embed="rId3"/>
          <a:stretch>
            <a:fillRect/>
          </a:stretch>
        </p:blipFill>
        <p:spPr>
          <a:xfrm>
            <a:off x="317426" y="2902856"/>
            <a:ext cx="4775200" cy="2832100"/>
          </a:xfrm>
          <a:prstGeom prst="rect">
            <a:avLst/>
          </a:prstGeom>
        </p:spPr>
      </p:pic>
      <p:sp>
        <p:nvSpPr>
          <p:cNvPr id="40" name="Right Arrow 39">
            <a:extLst>
              <a:ext uri="{FF2B5EF4-FFF2-40B4-BE49-F238E27FC236}">
                <a16:creationId xmlns:a16="http://schemas.microsoft.com/office/drawing/2014/main" id="{5CAC9A74-9C93-6F40-871A-3F7E7CE2FD98}"/>
              </a:ext>
            </a:extLst>
          </p:cNvPr>
          <p:cNvSpPr/>
          <p:nvPr/>
        </p:nvSpPr>
        <p:spPr>
          <a:xfrm rot="18698149">
            <a:off x="192500" y="5008661"/>
            <a:ext cx="1479672" cy="4666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C75097F-E688-0146-9F39-9175CBB70CC4}"/>
              </a:ext>
            </a:extLst>
          </p:cNvPr>
          <p:cNvSpPr txBox="1"/>
          <p:nvPr/>
        </p:nvSpPr>
        <p:spPr>
          <a:xfrm>
            <a:off x="0" y="5934670"/>
            <a:ext cx="3390900" cy="523220"/>
          </a:xfrm>
          <a:prstGeom prst="rect">
            <a:avLst/>
          </a:prstGeom>
          <a:noFill/>
        </p:spPr>
        <p:txBody>
          <a:bodyPr wrap="square" rtlCol="0">
            <a:spAutoFit/>
          </a:bodyPr>
          <a:lstStyle/>
          <a:p>
            <a:r>
              <a:rPr lang="en-US" sz="1400" dirty="0"/>
              <a:t>a variable that stores an address is called a pointer. we'll talk about pointers in a second</a:t>
            </a:r>
          </a:p>
        </p:txBody>
      </p:sp>
    </p:spTree>
    <p:extLst>
      <p:ext uri="{BB962C8B-B14F-4D97-AF65-F5344CB8AC3E}">
        <p14:creationId xmlns:p14="http://schemas.microsoft.com/office/powerpoint/2010/main" val="6544723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ame 20">
            <a:extLst>
              <a:ext uri="{FF2B5EF4-FFF2-40B4-BE49-F238E27FC236}">
                <a16:creationId xmlns:a16="http://schemas.microsoft.com/office/drawing/2014/main" id="{7D866EBA-073C-8244-A303-9B78DB1EC3BD}"/>
              </a:ext>
            </a:extLst>
          </p:cNvPr>
          <p:cNvSpPr/>
          <p:nvPr/>
        </p:nvSpPr>
        <p:spPr>
          <a:xfrm>
            <a:off x="10436813" y="279127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Frame 4">
            <a:extLst>
              <a:ext uri="{FF2B5EF4-FFF2-40B4-BE49-F238E27FC236}">
                <a16:creationId xmlns:a16="http://schemas.microsoft.com/office/drawing/2014/main" id="{4FB5BBDE-99DF-254D-9A65-3AB0725E4DD9}"/>
              </a:ext>
            </a:extLst>
          </p:cNvPr>
          <p:cNvSpPr/>
          <p:nvPr/>
        </p:nvSpPr>
        <p:spPr>
          <a:xfrm>
            <a:off x="5311619" y="279224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ame 15">
            <a:extLst>
              <a:ext uri="{FF2B5EF4-FFF2-40B4-BE49-F238E27FC236}">
                <a16:creationId xmlns:a16="http://schemas.microsoft.com/office/drawing/2014/main" id="{98A6FBDA-7627-974B-B914-E515AF955F33}"/>
              </a:ext>
            </a:extLst>
          </p:cNvPr>
          <p:cNvSpPr/>
          <p:nvPr/>
        </p:nvSpPr>
        <p:spPr>
          <a:xfrm>
            <a:off x="6845555" y="279224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ame 16">
            <a:extLst>
              <a:ext uri="{FF2B5EF4-FFF2-40B4-BE49-F238E27FC236}">
                <a16:creationId xmlns:a16="http://schemas.microsoft.com/office/drawing/2014/main" id="{8E77E690-0676-5A40-8718-2497F95214CF}"/>
              </a:ext>
            </a:extLst>
          </p:cNvPr>
          <p:cNvSpPr/>
          <p:nvPr/>
        </p:nvSpPr>
        <p:spPr>
          <a:xfrm>
            <a:off x="7570391" y="279224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ame 17">
            <a:extLst>
              <a:ext uri="{FF2B5EF4-FFF2-40B4-BE49-F238E27FC236}">
                <a16:creationId xmlns:a16="http://schemas.microsoft.com/office/drawing/2014/main" id="{64320DEA-0527-A44B-B73D-4A8A4371FD5A}"/>
              </a:ext>
            </a:extLst>
          </p:cNvPr>
          <p:cNvSpPr/>
          <p:nvPr/>
        </p:nvSpPr>
        <p:spPr>
          <a:xfrm>
            <a:off x="8295227" y="279224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ame 18">
            <a:extLst>
              <a:ext uri="{FF2B5EF4-FFF2-40B4-BE49-F238E27FC236}">
                <a16:creationId xmlns:a16="http://schemas.microsoft.com/office/drawing/2014/main" id="{410BC00E-018A-FB43-970F-E64AF26B364E}"/>
              </a:ext>
            </a:extLst>
          </p:cNvPr>
          <p:cNvSpPr/>
          <p:nvPr/>
        </p:nvSpPr>
        <p:spPr>
          <a:xfrm>
            <a:off x="8979969" y="279175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ame 14">
            <a:extLst>
              <a:ext uri="{FF2B5EF4-FFF2-40B4-BE49-F238E27FC236}">
                <a16:creationId xmlns:a16="http://schemas.microsoft.com/office/drawing/2014/main" id="{30FBC087-F371-AB40-B034-AB5F4C7D3023}"/>
              </a:ext>
            </a:extLst>
          </p:cNvPr>
          <p:cNvSpPr/>
          <p:nvPr/>
        </p:nvSpPr>
        <p:spPr>
          <a:xfrm>
            <a:off x="6074407" y="2792246"/>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ame 19">
            <a:extLst>
              <a:ext uri="{FF2B5EF4-FFF2-40B4-BE49-F238E27FC236}">
                <a16:creationId xmlns:a16="http://schemas.microsoft.com/office/drawing/2014/main" id="{054105C8-47C8-AC45-9CED-5D1DDB15AD58}"/>
              </a:ext>
            </a:extLst>
          </p:cNvPr>
          <p:cNvSpPr/>
          <p:nvPr/>
        </p:nvSpPr>
        <p:spPr>
          <a:xfrm>
            <a:off x="9737390" y="279127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TextBox 45">
            <a:extLst>
              <a:ext uri="{FF2B5EF4-FFF2-40B4-BE49-F238E27FC236}">
                <a16:creationId xmlns:a16="http://schemas.microsoft.com/office/drawing/2014/main" id="{E73E0100-453B-844F-A9B8-23D14D306288}"/>
              </a:ext>
            </a:extLst>
          </p:cNvPr>
          <p:cNvSpPr txBox="1"/>
          <p:nvPr/>
        </p:nvSpPr>
        <p:spPr>
          <a:xfrm>
            <a:off x="10508538" y="3055784"/>
            <a:ext cx="595035" cy="215444"/>
          </a:xfrm>
          <a:prstGeom prst="rect">
            <a:avLst/>
          </a:prstGeom>
          <a:noFill/>
        </p:spPr>
        <p:txBody>
          <a:bodyPr wrap="none" rtlCol="0">
            <a:spAutoFit/>
          </a:bodyPr>
          <a:lstStyle/>
          <a:p>
            <a:r>
              <a:rPr lang="en-US" sz="800" dirty="0"/>
              <a:t>00110011</a:t>
            </a:r>
          </a:p>
        </p:txBody>
      </p:sp>
      <p:sp>
        <p:nvSpPr>
          <p:cNvPr id="6" name="Rectangle 5">
            <a:extLst>
              <a:ext uri="{FF2B5EF4-FFF2-40B4-BE49-F238E27FC236}">
                <a16:creationId xmlns:a16="http://schemas.microsoft.com/office/drawing/2014/main" id="{DE095D7D-2B98-8940-ADBB-24778A5E1F7F}"/>
              </a:ext>
            </a:extLst>
          </p:cNvPr>
          <p:cNvSpPr/>
          <p:nvPr/>
        </p:nvSpPr>
        <p:spPr>
          <a:xfrm>
            <a:off x="10851979" y="2735665"/>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E8D3975-DA4E-4940-A7FF-C9F7417EBB95}"/>
              </a:ext>
            </a:extLst>
          </p:cNvPr>
          <p:cNvSpPr/>
          <p:nvPr/>
        </p:nvSpPr>
        <p:spPr>
          <a:xfrm>
            <a:off x="10841251" y="2826890"/>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0F0A092-93B0-1043-97B0-5C0999780AE7}"/>
              </a:ext>
            </a:extLst>
          </p:cNvPr>
          <p:cNvSpPr/>
          <p:nvPr/>
        </p:nvSpPr>
        <p:spPr>
          <a:xfrm>
            <a:off x="5311618" y="2792247"/>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A6C2E929-5AD6-5146-8154-8C0B0A9687E7}"/>
              </a:ext>
            </a:extLst>
          </p:cNvPr>
          <p:cNvSpPr/>
          <p:nvPr/>
        </p:nvSpPr>
        <p:spPr>
          <a:xfrm>
            <a:off x="11039158" y="2939738"/>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94033F0-8F2C-2241-AB67-79F5D7109B72}"/>
              </a:ext>
            </a:extLst>
          </p:cNvPr>
          <p:cNvSpPr txBox="1"/>
          <p:nvPr/>
        </p:nvSpPr>
        <p:spPr>
          <a:xfrm>
            <a:off x="5468471" y="3017368"/>
            <a:ext cx="595035" cy="215444"/>
          </a:xfrm>
          <a:prstGeom prst="rect">
            <a:avLst/>
          </a:prstGeom>
          <a:noFill/>
        </p:spPr>
        <p:txBody>
          <a:bodyPr wrap="none" rtlCol="0">
            <a:spAutoFit/>
          </a:bodyPr>
          <a:lstStyle/>
          <a:p>
            <a:r>
              <a:rPr lang="en-US" sz="800" dirty="0"/>
              <a:t>10101010</a:t>
            </a:r>
          </a:p>
        </p:txBody>
      </p:sp>
      <p:sp>
        <p:nvSpPr>
          <p:cNvPr id="41" name="TextBox 40">
            <a:extLst>
              <a:ext uri="{FF2B5EF4-FFF2-40B4-BE49-F238E27FC236}">
                <a16:creationId xmlns:a16="http://schemas.microsoft.com/office/drawing/2014/main" id="{4E3D7E68-EAE1-ED42-8264-FA8F5366EED1}"/>
              </a:ext>
            </a:extLst>
          </p:cNvPr>
          <p:cNvSpPr txBox="1"/>
          <p:nvPr/>
        </p:nvSpPr>
        <p:spPr>
          <a:xfrm>
            <a:off x="9785040" y="2837454"/>
            <a:ext cx="1027290" cy="415498"/>
          </a:xfrm>
          <a:prstGeom prst="rect">
            <a:avLst/>
          </a:prstGeom>
          <a:noFill/>
        </p:spPr>
        <p:txBody>
          <a:bodyPr wrap="square" rtlCol="0">
            <a:spAutoFit/>
          </a:bodyPr>
          <a:lstStyle/>
          <a:p>
            <a:endParaRPr lang="ja-JP" altLang="en-US" sz="1200"/>
          </a:p>
          <a:p>
            <a:r>
              <a:rPr lang="en-US" sz="800" dirty="0"/>
              <a:t>11100010</a:t>
            </a:r>
          </a:p>
        </p:txBody>
      </p:sp>
      <p:sp>
        <p:nvSpPr>
          <p:cNvPr id="37" name="TextBox 36">
            <a:extLst>
              <a:ext uri="{FF2B5EF4-FFF2-40B4-BE49-F238E27FC236}">
                <a16:creationId xmlns:a16="http://schemas.microsoft.com/office/drawing/2014/main" id="{03246CF3-7B6D-4543-B14C-2AC117A0F16F}"/>
              </a:ext>
            </a:extLst>
          </p:cNvPr>
          <p:cNvSpPr txBox="1"/>
          <p:nvPr/>
        </p:nvSpPr>
        <p:spPr>
          <a:xfrm>
            <a:off x="6205667" y="3049359"/>
            <a:ext cx="595035" cy="215444"/>
          </a:xfrm>
          <a:prstGeom prst="rect">
            <a:avLst/>
          </a:prstGeom>
          <a:noFill/>
        </p:spPr>
        <p:txBody>
          <a:bodyPr wrap="none" rtlCol="0">
            <a:spAutoFit/>
          </a:bodyPr>
          <a:lstStyle/>
          <a:p>
            <a:r>
              <a:rPr lang="en-US" sz="800" dirty="0"/>
              <a:t>11111111</a:t>
            </a:r>
          </a:p>
        </p:txBody>
      </p:sp>
      <p:sp>
        <p:nvSpPr>
          <p:cNvPr id="42" name="TextBox 41">
            <a:extLst>
              <a:ext uri="{FF2B5EF4-FFF2-40B4-BE49-F238E27FC236}">
                <a16:creationId xmlns:a16="http://schemas.microsoft.com/office/drawing/2014/main" id="{876B0114-A059-0F4E-9FD5-AA3F80675EA1}"/>
              </a:ext>
            </a:extLst>
          </p:cNvPr>
          <p:cNvSpPr txBox="1"/>
          <p:nvPr/>
        </p:nvSpPr>
        <p:spPr>
          <a:xfrm>
            <a:off x="6945759" y="3078841"/>
            <a:ext cx="595035" cy="215444"/>
          </a:xfrm>
          <a:prstGeom prst="rect">
            <a:avLst/>
          </a:prstGeom>
          <a:noFill/>
        </p:spPr>
        <p:txBody>
          <a:bodyPr wrap="none" rtlCol="0">
            <a:spAutoFit/>
          </a:bodyPr>
          <a:lstStyle/>
          <a:p>
            <a:r>
              <a:rPr lang="en-US" sz="800" dirty="0"/>
              <a:t>01110011</a:t>
            </a:r>
          </a:p>
        </p:txBody>
      </p:sp>
      <p:sp>
        <p:nvSpPr>
          <p:cNvPr id="43" name="TextBox 42">
            <a:extLst>
              <a:ext uri="{FF2B5EF4-FFF2-40B4-BE49-F238E27FC236}">
                <a16:creationId xmlns:a16="http://schemas.microsoft.com/office/drawing/2014/main" id="{262878DA-88FB-4D4E-BAB0-0097525E2D5D}"/>
              </a:ext>
            </a:extLst>
          </p:cNvPr>
          <p:cNvSpPr txBox="1"/>
          <p:nvPr/>
        </p:nvSpPr>
        <p:spPr>
          <a:xfrm>
            <a:off x="7664738" y="3068287"/>
            <a:ext cx="595035" cy="215444"/>
          </a:xfrm>
          <a:prstGeom prst="rect">
            <a:avLst/>
          </a:prstGeom>
          <a:noFill/>
        </p:spPr>
        <p:txBody>
          <a:bodyPr wrap="none" rtlCol="0">
            <a:spAutoFit/>
          </a:bodyPr>
          <a:lstStyle/>
          <a:p>
            <a:r>
              <a:rPr lang="en-US" sz="800" dirty="0"/>
              <a:t>00110011</a:t>
            </a:r>
          </a:p>
        </p:txBody>
      </p:sp>
      <p:sp>
        <p:nvSpPr>
          <p:cNvPr id="44" name="TextBox 43">
            <a:extLst>
              <a:ext uri="{FF2B5EF4-FFF2-40B4-BE49-F238E27FC236}">
                <a16:creationId xmlns:a16="http://schemas.microsoft.com/office/drawing/2014/main" id="{4FF12601-6724-5D47-80BC-344096188A62}"/>
              </a:ext>
            </a:extLst>
          </p:cNvPr>
          <p:cNvSpPr txBox="1"/>
          <p:nvPr/>
        </p:nvSpPr>
        <p:spPr>
          <a:xfrm>
            <a:off x="9092466" y="3049409"/>
            <a:ext cx="595035" cy="215444"/>
          </a:xfrm>
          <a:prstGeom prst="rect">
            <a:avLst/>
          </a:prstGeom>
          <a:noFill/>
        </p:spPr>
        <p:txBody>
          <a:bodyPr wrap="none" rtlCol="0">
            <a:spAutoFit/>
          </a:bodyPr>
          <a:lstStyle/>
          <a:p>
            <a:r>
              <a:rPr lang="en-US" sz="800" dirty="0"/>
              <a:t>11001100</a:t>
            </a:r>
          </a:p>
        </p:txBody>
      </p:sp>
      <p:sp>
        <p:nvSpPr>
          <p:cNvPr id="45" name="TextBox 44">
            <a:extLst>
              <a:ext uri="{FF2B5EF4-FFF2-40B4-BE49-F238E27FC236}">
                <a16:creationId xmlns:a16="http://schemas.microsoft.com/office/drawing/2014/main" id="{692A528E-A7ED-454A-99C6-E32BCFAB6FFD}"/>
              </a:ext>
            </a:extLst>
          </p:cNvPr>
          <p:cNvSpPr txBox="1"/>
          <p:nvPr/>
        </p:nvSpPr>
        <p:spPr>
          <a:xfrm>
            <a:off x="8359989" y="3049359"/>
            <a:ext cx="595035" cy="215444"/>
          </a:xfrm>
          <a:prstGeom prst="rect">
            <a:avLst/>
          </a:prstGeom>
          <a:noFill/>
        </p:spPr>
        <p:txBody>
          <a:bodyPr wrap="none" rtlCol="0">
            <a:spAutoFit/>
          </a:bodyPr>
          <a:lstStyle/>
          <a:p>
            <a:r>
              <a:rPr lang="en-US" sz="800" dirty="0"/>
              <a:t>00110011</a:t>
            </a:r>
          </a:p>
        </p:txBody>
      </p:sp>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pointers</a:t>
            </a:r>
          </a:p>
        </p:txBody>
      </p:sp>
      <p:sp>
        <p:nvSpPr>
          <p:cNvPr id="14" name="Content Placeholder 2">
            <a:extLst>
              <a:ext uri="{FF2B5EF4-FFF2-40B4-BE49-F238E27FC236}">
                <a16:creationId xmlns:a16="http://schemas.microsoft.com/office/drawing/2014/main" id="{7B147281-921E-3047-97E3-08C183CD5A02}"/>
              </a:ext>
            </a:extLst>
          </p:cNvPr>
          <p:cNvSpPr>
            <a:spLocks noGrp="1"/>
          </p:cNvSpPr>
          <p:nvPr>
            <p:ph idx="1"/>
          </p:nvPr>
        </p:nvSpPr>
        <p:spPr>
          <a:xfrm>
            <a:off x="174555" y="1175474"/>
            <a:ext cx="3725990" cy="4837972"/>
          </a:xfrm>
        </p:spPr>
        <p:txBody>
          <a:bodyPr>
            <a:noAutofit/>
          </a:bodyPr>
          <a:lstStyle/>
          <a:p>
            <a:pPr marL="0" indent="0">
              <a:buNone/>
            </a:pPr>
            <a:r>
              <a:rPr lang="en-US" sz="1800" dirty="0"/>
              <a:t>a pointer is a variable type that stores the address of another variable</a:t>
            </a:r>
          </a:p>
          <a:p>
            <a:pPr marL="0" indent="0">
              <a:buNone/>
            </a:pPr>
            <a:r>
              <a:rPr lang="en-US" sz="1800" dirty="0"/>
              <a:t>you can store the value of an address by using the * indirection operator before the name of a pointer.</a:t>
            </a:r>
            <a:br>
              <a:rPr lang="en-US" sz="1800" dirty="0"/>
            </a:br>
            <a:br>
              <a:rPr lang="en-US" sz="1800" dirty="0"/>
            </a:br>
            <a:r>
              <a:rPr lang="en-US" sz="1800" dirty="0"/>
              <a:t>once you have an address in the pointer, you can use the * operator again to get what's stored at the address. This is called "dereferencing the pointer"</a:t>
            </a:r>
          </a:p>
          <a:p>
            <a:pPr marL="0" indent="0">
              <a:buNone/>
            </a:pPr>
            <a:endParaRPr lang="en-US" sz="1800" dirty="0"/>
          </a:p>
          <a:p>
            <a:pPr marL="0" indent="0">
              <a:buNone/>
            </a:pPr>
            <a:endParaRPr lang="en-US" sz="1800" dirty="0"/>
          </a:p>
          <a:p>
            <a:pPr marL="0" indent="0">
              <a:buNone/>
            </a:pPr>
            <a:endParaRPr lang="en-US" sz="1800" dirty="0"/>
          </a:p>
          <a:p>
            <a:pPr marL="0" indent="0">
              <a:buNone/>
            </a:pPr>
            <a:br>
              <a:rPr lang="en-US" sz="1800" dirty="0"/>
            </a:br>
            <a:br>
              <a:rPr lang="en-US" sz="1800" dirty="0"/>
            </a:br>
            <a:endParaRPr lang="en-US" sz="1800" dirty="0"/>
          </a:p>
        </p:txBody>
      </p:sp>
      <p:sp>
        <p:nvSpPr>
          <p:cNvPr id="9" name="TextBox 8">
            <a:extLst>
              <a:ext uri="{FF2B5EF4-FFF2-40B4-BE49-F238E27FC236}">
                <a16:creationId xmlns:a16="http://schemas.microsoft.com/office/drawing/2014/main" id="{4C787C15-52EA-6749-A0C6-D23C73358E5F}"/>
              </a:ext>
            </a:extLst>
          </p:cNvPr>
          <p:cNvSpPr txBox="1"/>
          <p:nvPr/>
        </p:nvSpPr>
        <p:spPr>
          <a:xfrm>
            <a:off x="5542170" y="3776818"/>
            <a:ext cx="301686" cy="369332"/>
          </a:xfrm>
          <a:prstGeom prst="rect">
            <a:avLst/>
          </a:prstGeom>
          <a:noFill/>
        </p:spPr>
        <p:txBody>
          <a:bodyPr wrap="none" rtlCol="0">
            <a:spAutoFit/>
          </a:bodyPr>
          <a:lstStyle/>
          <a:p>
            <a:r>
              <a:rPr lang="en-US" dirty="0"/>
              <a:t>0</a:t>
            </a:r>
          </a:p>
        </p:txBody>
      </p:sp>
      <p:sp>
        <p:nvSpPr>
          <p:cNvPr id="22" name="TextBox 21">
            <a:extLst>
              <a:ext uri="{FF2B5EF4-FFF2-40B4-BE49-F238E27FC236}">
                <a16:creationId xmlns:a16="http://schemas.microsoft.com/office/drawing/2014/main" id="{B1817DF7-773F-2647-9195-1C19091E9235}"/>
              </a:ext>
            </a:extLst>
          </p:cNvPr>
          <p:cNvSpPr txBox="1"/>
          <p:nvPr/>
        </p:nvSpPr>
        <p:spPr>
          <a:xfrm>
            <a:off x="6304958" y="3776818"/>
            <a:ext cx="301686" cy="369332"/>
          </a:xfrm>
          <a:prstGeom prst="rect">
            <a:avLst/>
          </a:prstGeom>
          <a:noFill/>
        </p:spPr>
        <p:txBody>
          <a:bodyPr wrap="square" rtlCol="0">
            <a:spAutoFit/>
          </a:bodyPr>
          <a:lstStyle/>
          <a:p>
            <a:r>
              <a:rPr lang="en-US" dirty="0"/>
              <a:t>1</a:t>
            </a:r>
          </a:p>
        </p:txBody>
      </p:sp>
      <p:sp>
        <p:nvSpPr>
          <p:cNvPr id="23" name="TextBox 22">
            <a:extLst>
              <a:ext uri="{FF2B5EF4-FFF2-40B4-BE49-F238E27FC236}">
                <a16:creationId xmlns:a16="http://schemas.microsoft.com/office/drawing/2014/main" id="{D589732C-F994-0247-A653-757F4315D177}"/>
              </a:ext>
            </a:extLst>
          </p:cNvPr>
          <p:cNvSpPr txBox="1"/>
          <p:nvPr/>
        </p:nvSpPr>
        <p:spPr>
          <a:xfrm>
            <a:off x="7076106" y="3776818"/>
            <a:ext cx="301686" cy="369332"/>
          </a:xfrm>
          <a:prstGeom prst="rect">
            <a:avLst/>
          </a:prstGeom>
          <a:noFill/>
        </p:spPr>
        <p:txBody>
          <a:bodyPr wrap="square" rtlCol="0">
            <a:spAutoFit/>
          </a:bodyPr>
          <a:lstStyle/>
          <a:p>
            <a:r>
              <a:rPr lang="en-US" dirty="0"/>
              <a:t>2</a:t>
            </a:r>
          </a:p>
        </p:txBody>
      </p:sp>
      <p:sp>
        <p:nvSpPr>
          <p:cNvPr id="24" name="TextBox 23">
            <a:extLst>
              <a:ext uri="{FF2B5EF4-FFF2-40B4-BE49-F238E27FC236}">
                <a16:creationId xmlns:a16="http://schemas.microsoft.com/office/drawing/2014/main" id="{687711E0-0955-934A-98E0-F89A04522FB8}"/>
              </a:ext>
            </a:extLst>
          </p:cNvPr>
          <p:cNvSpPr txBox="1"/>
          <p:nvPr/>
        </p:nvSpPr>
        <p:spPr>
          <a:xfrm>
            <a:off x="7800942" y="3776818"/>
            <a:ext cx="301686" cy="369332"/>
          </a:xfrm>
          <a:prstGeom prst="rect">
            <a:avLst/>
          </a:prstGeom>
          <a:noFill/>
        </p:spPr>
        <p:txBody>
          <a:bodyPr wrap="square" rtlCol="0">
            <a:spAutoFit/>
          </a:bodyPr>
          <a:lstStyle/>
          <a:p>
            <a:r>
              <a:rPr lang="en-US" dirty="0"/>
              <a:t>3</a:t>
            </a:r>
          </a:p>
        </p:txBody>
      </p:sp>
      <p:sp>
        <p:nvSpPr>
          <p:cNvPr id="25" name="TextBox 24">
            <a:extLst>
              <a:ext uri="{FF2B5EF4-FFF2-40B4-BE49-F238E27FC236}">
                <a16:creationId xmlns:a16="http://schemas.microsoft.com/office/drawing/2014/main" id="{D45C8889-142A-F34C-BA72-9A940E737FCB}"/>
              </a:ext>
            </a:extLst>
          </p:cNvPr>
          <p:cNvSpPr txBox="1"/>
          <p:nvPr/>
        </p:nvSpPr>
        <p:spPr>
          <a:xfrm>
            <a:off x="8525778" y="3776818"/>
            <a:ext cx="301686" cy="369332"/>
          </a:xfrm>
          <a:prstGeom prst="rect">
            <a:avLst/>
          </a:prstGeom>
          <a:noFill/>
        </p:spPr>
        <p:txBody>
          <a:bodyPr wrap="square" rtlCol="0">
            <a:spAutoFit/>
          </a:bodyPr>
          <a:lstStyle/>
          <a:p>
            <a:r>
              <a:rPr lang="en-US" dirty="0"/>
              <a:t>4</a:t>
            </a:r>
          </a:p>
        </p:txBody>
      </p:sp>
      <p:sp>
        <p:nvSpPr>
          <p:cNvPr id="26" name="TextBox 25">
            <a:extLst>
              <a:ext uri="{FF2B5EF4-FFF2-40B4-BE49-F238E27FC236}">
                <a16:creationId xmlns:a16="http://schemas.microsoft.com/office/drawing/2014/main" id="{58B00257-5BCD-4745-876E-82FE88477805}"/>
              </a:ext>
            </a:extLst>
          </p:cNvPr>
          <p:cNvSpPr txBox="1"/>
          <p:nvPr/>
        </p:nvSpPr>
        <p:spPr>
          <a:xfrm>
            <a:off x="9210520" y="3776818"/>
            <a:ext cx="301686" cy="369332"/>
          </a:xfrm>
          <a:prstGeom prst="rect">
            <a:avLst/>
          </a:prstGeom>
          <a:noFill/>
        </p:spPr>
        <p:txBody>
          <a:bodyPr wrap="square" rtlCol="0">
            <a:spAutoFit/>
          </a:bodyPr>
          <a:lstStyle/>
          <a:p>
            <a:r>
              <a:rPr lang="en-US" dirty="0"/>
              <a:t>5</a:t>
            </a:r>
          </a:p>
        </p:txBody>
      </p:sp>
      <p:sp>
        <p:nvSpPr>
          <p:cNvPr id="27" name="TextBox 26">
            <a:extLst>
              <a:ext uri="{FF2B5EF4-FFF2-40B4-BE49-F238E27FC236}">
                <a16:creationId xmlns:a16="http://schemas.microsoft.com/office/drawing/2014/main" id="{070EEC1A-EC5C-5E47-BBDC-25570310964A}"/>
              </a:ext>
            </a:extLst>
          </p:cNvPr>
          <p:cNvSpPr txBox="1"/>
          <p:nvPr/>
        </p:nvSpPr>
        <p:spPr>
          <a:xfrm>
            <a:off x="9967941" y="3775828"/>
            <a:ext cx="301686" cy="369332"/>
          </a:xfrm>
          <a:prstGeom prst="rect">
            <a:avLst/>
          </a:prstGeom>
          <a:noFill/>
        </p:spPr>
        <p:txBody>
          <a:bodyPr wrap="square" rtlCol="0">
            <a:spAutoFit/>
          </a:bodyPr>
          <a:lstStyle/>
          <a:p>
            <a:r>
              <a:rPr lang="en-US" dirty="0"/>
              <a:t>6</a:t>
            </a:r>
          </a:p>
        </p:txBody>
      </p:sp>
      <p:sp>
        <p:nvSpPr>
          <p:cNvPr id="28" name="TextBox 27">
            <a:extLst>
              <a:ext uri="{FF2B5EF4-FFF2-40B4-BE49-F238E27FC236}">
                <a16:creationId xmlns:a16="http://schemas.microsoft.com/office/drawing/2014/main" id="{2BA1D67F-748D-864C-9EC6-2165838F3179}"/>
              </a:ext>
            </a:extLst>
          </p:cNvPr>
          <p:cNvSpPr txBox="1"/>
          <p:nvPr/>
        </p:nvSpPr>
        <p:spPr>
          <a:xfrm>
            <a:off x="10588246" y="3775828"/>
            <a:ext cx="301686" cy="369332"/>
          </a:xfrm>
          <a:prstGeom prst="rect">
            <a:avLst/>
          </a:prstGeom>
          <a:noFill/>
        </p:spPr>
        <p:txBody>
          <a:bodyPr wrap="square" rtlCol="0">
            <a:spAutoFit/>
          </a:bodyPr>
          <a:lstStyle/>
          <a:p>
            <a:r>
              <a:rPr lang="en-US" dirty="0"/>
              <a:t>7</a:t>
            </a:r>
          </a:p>
        </p:txBody>
      </p:sp>
      <p:sp>
        <p:nvSpPr>
          <p:cNvPr id="29" name="TextBox 28">
            <a:extLst>
              <a:ext uri="{FF2B5EF4-FFF2-40B4-BE49-F238E27FC236}">
                <a16:creationId xmlns:a16="http://schemas.microsoft.com/office/drawing/2014/main" id="{EE8E038E-F409-CF4F-A864-B93A211ED449}"/>
              </a:ext>
            </a:extLst>
          </p:cNvPr>
          <p:cNvSpPr txBox="1"/>
          <p:nvPr/>
        </p:nvSpPr>
        <p:spPr>
          <a:xfrm>
            <a:off x="11199601" y="3775828"/>
            <a:ext cx="343364" cy="369332"/>
          </a:xfrm>
          <a:prstGeom prst="rect">
            <a:avLst/>
          </a:prstGeom>
          <a:noFill/>
        </p:spPr>
        <p:txBody>
          <a:bodyPr wrap="none" rtlCol="0">
            <a:spAutoFit/>
          </a:bodyPr>
          <a:lstStyle/>
          <a:p>
            <a:r>
              <a:rPr lang="en-US" dirty="0"/>
              <a:t>…</a:t>
            </a:r>
          </a:p>
        </p:txBody>
      </p:sp>
      <p:sp>
        <p:nvSpPr>
          <p:cNvPr id="30" name="TextBox 29">
            <a:extLst>
              <a:ext uri="{FF2B5EF4-FFF2-40B4-BE49-F238E27FC236}">
                <a16:creationId xmlns:a16="http://schemas.microsoft.com/office/drawing/2014/main" id="{47178FB3-57C0-6A42-AFF8-BB494C36B881}"/>
              </a:ext>
            </a:extLst>
          </p:cNvPr>
          <p:cNvSpPr txBox="1"/>
          <p:nvPr/>
        </p:nvSpPr>
        <p:spPr>
          <a:xfrm>
            <a:off x="4185578" y="3775828"/>
            <a:ext cx="973536" cy="369332"/>
          </a:xfrm>
          <a:prstGeom prst="rect">
            <a:avLst/>
          </a:prstGeom>
          <a:noFill/>
        </p:spPr>
        <p:txBody>
          <a:bodyPr wrap="none" rtlCol="0">
            <a:spAutoFit/>
          </a:bodyPr>
          <a:lstStyle/>
          <a:p>
            <a:r>
              <a:rPr lang="en-US" dirty="0"/>
              <a:t>address:</a:t>
            </a:r>
          </a:p>
        </p:txBody>
      </p:sp>
      <p:sp>
        <p:nvSpPr>
          <p:cNvPr id="35" name="Right Arrow 34">
            <a:extLst>
              <a:ext uri="{FF2B5EF4-FFF2-40B4-BE49-F238E27FC236}">
                <a16:creationId xmlns:a16="http://schemas.microsoft.com/office/drawing/2014/main" id="{78A37C0C-4290-344E-9C05-AE1FED8BBAB3}"/>
              </a:ext>
            </a:extLst>
          </p:cNvPr>
          <p:cNvSpPr/>
          <p:nvPr/>
        </p:nvSpPr>
        <p:spPr>
          <a:xfrm rot="6889097">
            <a:off x="5479606" y="2418354"/>
            <a:ext cx="1752514" cy="774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352D3B3-B320-E345-B75F-A00F62698D7D}"/>
              </a:ext>
            </a:extLst>
          </p:cNvPr>
          <p:cNvSpPr txBox="1"/>
          <p:nvPr/>
        </p:nvSpPr>
        <p:spPr>
          <a:xfrm>
            <a:off x="5693432" y="1210121"/>
            <a:ext cx="4979825" cy="369332"/>
          </a:xfrm>
          <a:prstGeom prst="rect">
            <a:avLst/>
          </a:prstGeom>
          <a:noFill/>
        </p:spPr>
        <p:txBody>
          <a:bodyPr wrap="none" rtlCol="0">
            <a:spAutoFit/>
          </a:bodyPr>
          <a:lstStyle/>
          <a:p>
            <a:r>
              <a:rPr lang="en-US" dirty="0"/>
              <a:t>real addresses don't look quite like this, of course…</a:t>
            </a:r>
          </a:p>
        </p:txBody>
      </p:sp>
      <p:sp>
        <p:nvSpPr>
          <p:cNvPr id="38" name="Right Arrow 37">
            <a:extLst>
              <a:ext uri="{FF2B5EF4-FFF2-40B4-BE49-F238E27FC236}">
                <a16:creationId xmlns:a16="http://schemas.microsoft.com/office/drawing/2014/main" id="{949A6122-451E-3142-A58E-9E4F93B5D848}"/>
              </a:ext>
            </a:extLst>
          </p:cNvPr>
          <p:cNvSpPr/>
          <p:nvPr/>
        </p:nvSpPr>
        <p:spPr>
          <a:xfrm rot="2912595">
            <a:off x="10076993" y="4779320"/>
            <a:ext cx="654700" cy="774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E8035-F562-5449-9885-B12E42972208}"/>
              </a:ext>
            </a:extLst>
          </p:cNvPr>
          <p:cNvSpPr txBox="1"/>
          <p:nvPr/>
        </p:nvSpPr>
        <p:spPr>
          <a:xfrm>
            <a:off x="7491301" y="4320086"/>
            <a:ext cx="2372509" cy="646331"/>
          </a:xfrm>
          <a:prstGeom prst="rect">
            <a:avLst/>
          </a:prstGeom>
          <a:noFill/>
        </p:spPr>
        <p:txBody>
          <a:bodyPr wrap="none" rtlCol="0">
            <a:spAutoFit/>
          </a:bodyPr>
          <a:lstStyle/>
          <a:p>
            <a:r>
              <a:rPr lang="en-US" dirty="0"/>
              <a:t>here's what I get when </a:t>
            </a:r>
          </a:p>
          <a:p>
            <a:r>
              <a:rPr lang="en-US" dirty="0"/>
              <a:t>I run this</a:t>
            </a:r>
          </a:p>
        </p:txBody>
      </p:sp>
      <p:pic>
        <p:nvPicPr>
          <p:cNvPr id="12" name="Picture 11">
            <a:extLst>
              <a:ext uri="{FF2B5EF4-FFF2-40B4-BE49-F238E27FC236}">
                <a16:creationId xmlns:a16="http://schemas.microsoft.com/office/drawing/2014/main" id="{D3860D85-D515-D34F-BEA3-2C298F0114BB}"/>
              </a:ext>
            </a:extLst>
          </p:cNvPr>
          <p:cNvPicPr>
            <a:picLocks noChangeAspect="1"/>
          </p:cNvPicPr>
          <p:nvPr/>
        </p:nvPicPr>
        <p:blipFill>
          <a:blip r:embed="rId2"/>
          <a:stretch>
            <a:fillRect/>
          </a:stretch>
        </p:blipFill>
        <p:spPr>
          <a:xfrm>
            <a:off x="6460970" y="5623746"/>
            <a:ext cx="5499100" cy="1168400"/>
          </a:xfrm>
          <a:prstGeom prst="rect">
            <a:avLst/>
          </a:prstGeom>
        </p:spPr>
      </p:pic>
      <p:pic>
        <p:nvPicPr>
          <p:cNvPr id="13" name="Picture 12">
            <a:extLst>
              <a:ext uri="{FF2B5EF4-FFF2-40B4-BE49-F238E27FC236}">
                <a16:creationId xmlns:a16="http://schemas.microsoft.com/office/drawing/2014/main" id="{D6C43AD6-3CC3-644E-93C4-6A8A864C1F31}"/>
              </a:ext>
            </a:extLst>
          </p:cNvPr>
          <p:cNvPicPr>
            <a:picLocks noChangeAspect="1"/>
          </p:cNvPicPr>
          <p:nvPr/>
        </p:nvPicPr>
        <p:blipFill>
          <a:blip r:embed="rId3"/>
          <a:stretch>
            <a:fillRect/>
          </a:stretch>
        </p:blipFill>
        <p:spPr>
          <a:xfrm>
            <a:off x="0" y="4326580"/>
            <a:ext cx="6203683" cy="2465566"/>
          </a:xfrm>
          <a:prstGeom prst="rect">
            <a:avLst/>
          </a:prstGeom>
        </p:spPr>
      </p:pic>
    </p:spTree>
    <p:extLst>
      <p:ext uri="{BB962C8B-B14F-4D97-AF65-F5344CB8AC3E}">
        <p14:creationId xmlns:p14="http://schemas.microsoft.com/office/powerpoint/2010/main" val="9932122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6C43AD6-3CC3-644E-93C4-6A8A864C1F31}"/>
              </a:ext>
            </a:extLst>
          </p:cNvPr>
          <p:cNvPicPr>
            <a:picLocks noChangeAspect="1"/>
          </p:cNvPicPr>
          <p:nvPr/>
        </p:nvPicPr>
        <p:blipFill>
          <a:blip r:embed="rId2"/>
          <a:stretch>
            <a:fillRect/>
          </a:stretch>
        </p:blipFill>
        <p:spPr>
          <a:xfrm>
            <a:off x="0" y="4326580"/>
            <a:ext cx="6203683" cy="2465566"/>
          </a:xfrm>
          <a:prstGeom prst="rect">
            <a:avLst/>
          </a:prstGeom>
        </p:spPr>
      </p:pic>
      <p:sp>
        <p:nvSpPr>
          <p:cNvPr id="21" name="Frame 20">
            <a:extLst>
              <a:ext uri="{FF2B5EF4-FFF2-40B4-BE49-F238E27FC236}">
                <a16:creationId xmlns:a16="http://schemas.microsoft.com/office/drawing/2014/main" id="{7D866EBA-073C-8244-A303-9B78DB1EC3BD}"/>
              </a:ext>
            </a:extLst>
          </p:cNvPr>
          <p:cNvSpPr/>
          <p:nvPr/>
        </p:nvSpPr>
        <p:spPr>
          <a:xfrm>
            <a:off x="10436813" y="279127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Frame 4">
            <a:extLst>
              <a:ext uri="{FF2B5EF4-FFF2-40B4-BE49-F238E27FC236}">
                <a16:creationId xmlns:a16="http://schemas.microsoft.com/office/drawing/2014/main" id="{4FB5BBDE-99DF-254D-9A65-3AB0725E4DD9}"/>
              </a:ext>
            </a:extLst>
          </p:cNvPr>
          <p:cNvSpPr/>
          <p:nvPr/>
        </p:nvSpPr>
        <p:spPr>
          <a:xfrm>
            <a:off x="5311619" y="2792247"/>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ame 15">
            <a:extLst>
              <a:ext uri="{FF2B5EF4-FFF2-40B4-BE49-F238E27FC236}">
                <a16:creationId xmlns:a16="http://schemas.microsoft.com/office/drawing/2014/main" id="{98A6FBDA-7627-974B-B914-E515AF955F33}"/>
              </a:ext>
            </a:extLst>
          </p:cNvPr>
          <p:cNvSpPr/>
          <p:nvPr/>
        </p:nvSpPr>
        <p:spPr>
          <a:xfrm>
            <a:off x="6845555" y="279224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ame 16">
            <a:extLst>
              <a:ext uri="{FF2B5EF4-FFF2-40B4-BE49-F238E27FC236}">
                <a16:creationId xmlns:a16="http://schemas.microsoft.com/office/drawing/2014/main" id="{8E77E690-0676-5A40-8718-2497F95214CF}"/>
              </a:ext>
            </a:extLst>
          </p:cNvPr>
          <p:cNvSpPr/>
          <p:nvPr/>
        </p:nvSpPr>
        <p:spPr>
          <a:xfrm>
            <a:off x="7570391" y="279224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Frame 17">
            <a:extLst>
              <a:ext uri="{FF2B5EF4-FFF2-40B4-BE49-F238E27FC236}">
                <a16:creationId xmlns:a16="http://schemas.microsoft.com/office/drawing/2014/main" id="{64320DEA-0527-A44B-B73D-4A8A4371FD5A}"/>
              </a:ext>
            </a:extLst>
          </p:cNvPr>
          <p:cNvSpPr/>
          <p:nvPr/>
        </p:nvSpPr>
        <p:spPr>
          <a:xfrm>
            <a:off x="8295227" y="2792243"/>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ame 18">
            <a:extLst>
              <a:ext uri="{FF2B5EF4-FFF2-40B4-BE49-F238E27FC236}">
                <a16:creationId xmlns:a16="http://schemas.microsoft.com/office/drawing/2014/main" id="{410BC00E-018A-FB43-970F-E64AF26B364E}"/>
              </a:ext>
            </a:extLst>
          </p:cNvPr>
          <p:cNvSpPr/>
          <p:nvPr/>
        </p:nvSpPr>
        <p:spPr>
          <a:xfrm>
            <a:off x="8979969" y="279175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ame 14">
            <a:extLst>
              <a:ext uri="{FF2B5EF4-FFF2-40B4-BE49-F238E27FC236}">
                <a16:creationId xmlns:a16="http://schemas.microsoft.com/office/drawing/2014/main" id="{30FBC087-F371-AB40-B034-AB5F4C7D3023}"/>
              </a:ext>
            </a:extLst>
          </p:cNvPr>
          <p:cNvSpPr/>
          <p:nvPr/>
        </p:nvSpPr>
        <p:spPr>
          <a:xfrm>
            <a:off x="6074407" y="2792246"/>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Frame 19">
            <a:extLst>
              <a:ext uri="{FF2B5EF4-FFF2-40B4-BE49-F238E27FC236}">
                <a16:creationId xmlns:a16="http://schemas.microsoft.com/office/drawing/2014/main" id="{054105C8-47C8-AC45-9CED-5D1DDB15AD58}"/>
              </a:ext>
            </a:extLst>
          </p:cNvPr>
          <p:cNvSpPr/>
          <p:nvPr/>
        </p:nvSpPr>
        <p:spPr>
          <a:xfrm>
            <a:off x="9737390" y="279127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6" name="TextBox 45">
            <a:extLst>
              <a:ext uri="{FF2B5EF4-FFF2-40B4-BE49-F238E27FC236}">
                <a16:creationId xmlns:a16="http://schemas.microsoft.com/office/drawing/2014/main" id="{E73E0100-453B-844F-A9B8-23D14D306288}"/>
              </a:ext>
            </a:extLst>
          </p:cNvPr>
          <p:cNvSpPr txBox="1"/>
          <p:nvPr/>
        </p:nvSpPr>
        <p:spPr>
          <a:xfrm>
            <a:off x="10508538" y="3055784"/>
            <a:ext cx="595035" cy="215444"/>
          </a:xfrm>
          <a:prstGeom prst="rect">
            <a:avLst/>
          </a:prstGeom>
          <a:noFill/>
        </p:spPr>
        <p:txBody>
          <a:bodyPr wrap="none" rtlCol="0">
            <a:spAutoFit/>
          </a:bodyPr>
          <a:lstStyle/>
          <a:p>
            <a:r>
              <a:rPr lang="en-US" sz="800" dirty="0"/>
              <a:t>00110011</a:t>
            </a:r>
          </a:p>
        </p:txBody>
      </p:sp>
      <p:sp>
        <p:nvSpPr>
          <p:cNvPr id="6" name="Rectangle 5">
            <a:extLst>
              <a:ext uri="{FF2B5EF4-FFF2-40B4-BE49-F238E27FC236}">
                <a16:creationId xmlns:a16="http://schemas.microsoft.com/office/drawing/2014/main" id="{DE095D7D-2B98-8940-ADBB-24778A5E1F7F}"/>
              </a:ext>
            </a:extLst>
          </p:cNvPr>
          <p:cNvSpPr/>
          <p:nvPr/>
        </p:nvSpPr>
        <p:spPr>
          <a:xfrm>
            <a:off x="10851979" y="2735665"/>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E8D3975-DA4E-4940-A7FF-C9F7417EBB95}"/>
              </a:ext>
            </a:extLst>
          </p:cNvPr>
          <p:cNvSpPr/>
          <p:nvPr/>
        </p:nvSpPr>
        <p:spPr>
          <a:xfrm>
            <a:off x="10841251" y="2826890"/>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0F0A092-93B0-1043-97B0-5C0999780AE7}"/>
              </a:ext>
            </a:extLst>
          </p:cNvPr>
          <p:cNvSpPr/>
          <p:nvPr/>
        </p:nvSpPr>
        <p:spPr>
          <a:xfrm>
            <a:off x="5311618" y="2792247"/>
            <a:ext cx="5540361" cy="803189"/>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A6C2E929-5AD6-5146-8154-8C0B0A9687E7}"/>
              </a:ext>
            </a:extLst>
          </p:cNvPr>
          <p:cNvSpPr/>
          <p:nvPr/>
        </p:nvSpPr>
        <p:spPr>
          <a:xfrm>
            <a:off x="11039158" y="2939738"/>
            <a:ext cx="978408" cy="484632"/>
          </a:xfrm>
          <a:prstGeom prst="rightArrow">
            <a:avLst/>
          </a:prstGeom>
          <a:solidFill>
            <a:schemeClr val="accent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94033F0-8F2C-2241-AB67-79F5D7109B72}"/>
              </a:ext>
            </a:extLst>
          </p:cNvPr>
          <p:cNvSpPr txBox="1"/>
          <p:nvPr/>
        </p:nvSpPr>
        <p:spPr>
          <a:xfrm>
            <a:off x="5468471" y="3017368"/>
            <a:ext cx="595035" cy="215444"/>
          </a:xfrm>
          <a:prstGeom prst="rect">
            <a:avLst/>
          </a:prstGeom>
          <a:noFill/>
        </p:spPr>
        <p:txBody>
          <a:bodyPr wrap="none" rtlCol="0">
            <a:spAutoFit/>
          </a:bodyPr>
          <a:lstStyle/>
          <a:p>
            <a:r>
              <a:rPr lang="en-US" sz="800" dirty="0"/>
              <a:t>10101010</a:t>
            </a:r>
          </a:p>
        </p:txBody>
      </p:sp>
      <p:sp>
        <p:nvSpPr>
          <p:cNvPr id="41" name="TextBox 40">
            <a:extLst>
              <a:ext uri="{FF2B5EF4-FFF2-40B4-BE49-F238E27FC236}">
                <a16:creationId xmlns:a16="http://schemas.microsoft.com/office/drawing/2014/main" id="{4E3D7E68-EAE1-ED42-8264-FA8F5366EED1}"/>
              </a:ext>
            </a:extLst>
          </p:cNvPr>
          <p:cNvSpPr txBox="1"/>
          <p:nvPr/>
        </p:nvSpPr>
        <p:spPr>
          <a:xfrm>
            <a:off x="9785040" y="2837454"/>
            <a:ext cx="1027290" cy="415498"/>
          </a:xfrm>
          <a:prstGeom prst="rect">
            <a:avLst/>
          </a:prstGeom>
          <a:noFill/>
        </p:spPr>
        <p:txBody>
          <a:bodyPr wrap="square" rtlCol="0">
            <a:spAutoFit/>
          </a:bodyPr>
          <a:lstStyle/>
          <a:p>
            <a:endParaRPr lang="ja-JP" altLang="en-US" sz="1200"/>
          </a:p>
          <a:p>
            <a:r>
              <a:rPr lang="en-US" sz="800" dirty="0"/>
              <a:t>11100010</a:t>
            </a:r>
          </a:p>
        </p:txBody>
      </p:sp>
      <p:sp>
        <p:nvSpPr>
          <p:cNvPr id="37" name="TextBox 36">
            <a:extLst>
              <a:ext uri="{FF2B5EF4-FFF2-40B4-BE49-F238E27FC236}">
                <a16:creationId xmlns:a16="http://schemas.microsoft.com/office/drawing/2014/main" id="{03246CF3-7B6D-4543-B14C-2AC117A0F16F}"/>
              </a:ext>
            </a:extLst>
          </p:cNvPr>
          <p:cNvSpPr txBox="1"/>
          <p:nvPr/>
        </p:nvSpPr>
        <p:spPr>
          <a:xfrm>
            <a:off x="6205667" y="3049359"/>
            <a:ext cx="595035" cy="215444"/>
          </a:xfrm>
          <a:prstGeom prst="rect">
            <a:avLst/>
          </a:prstGeom>
          <a:noFill/>
        </p:spPr>
        <p:txBody>
          <a:bodyPr wrap="none" rtlCol="0">
            <a:spAutoFit/>
          </a:bodyPr>
          <a:lstStyle/>
          <a:p>
            <a:r>
              <a:rPr lang="en-US" sz="800" dirty="0"/>
              <a:t>11111111</a:t>
            </a:r>
          </a:p>
        </p:txBody>
      </p:sp>
      <p:sp>
        <p:nvSpPr>
          <p:cNvPr id="42" name="TextBox 41">
            <a:extLst>
              <a:ext uri="{FF2B5EF4-FFF2-40B4-BE49-F238E27FC236}">
                <a16:creationId xmlns:a16="http://schemas.microsoft.com/office/drawing/2014/main" id="{876B0114-A059-0F4E-9FD5-AA3F80675EA1}"/>
              </a:ext>
            </a:extLst>
          </p:cNvPr>
          <p:cNvSpPr txBox="1"/>
          <p:nvPr/>
        </p:nvSpPr>
        <p:spPr>
          <a:xfrm>
            <a:off x="6945759" y="3078841"/>
            <a:ext cx="595035" cy="215444"/>
          </a:xfrm>
          <a:prstGeom prst="rect">
            <a:avLst/>
          </a:prstGeom>
          <a:noFill/>
        </p:spPr>
        <p:txBody>
          <a:bodyPr wrap="none" rtlCol="0">
            <a:spAutoFit/>
          </a:bodyPr>
          <a:lstStyle/>
          <a:p>
            <a:r>
              <a:rPr lang="en-US" sz="800" dirty="0"/>
              <a:t>01110011</a:t>
            </a:r>
          </a:p>
        </p:txBody>
      </p:sp>
      <p:sp>
        <p:nvSpPr>
          <p:cNvPr id="43" name="TextBox 42">
            <a:extLst>
              <a:ext uri="{FF2B5EF4-FFF2-40B4-BE49-F238E27FC236}">
                <a16:creationId xmlns:a16="http://schemas.microsoft.com/office/drawing/2014/main" id="{262878DA-88FB-4D4E-BAB0-0097525E2D5D}"/>
              </a:ext>
            </a:extLst>
          </p:cNvPr>
          <p:cNvSpPr txBox="1"/>
          <p:nvPr/>
        </p:nvSpPr>
        <p:spPr>
          <a:xfrm>
            <a:off x="7664738" y="3068287"/>
            <a:ext cx="595035" cy="215444"/>
          </a:xfrm>
          <a:prstGeom prst="rect">
            <a:avLst/>
          </a:prstGeom>
          <a:noFill/>
        </p:spPr>
        <p:txBody>
          <a:bodyPr wrap="none" rtlCol="0">
            <a:spAutoFit/>
          </a:bodyPr>
          <a:lstStyle/>
          <a:p>
            <a:r>
              <a:rPr lang="en-US" sz="800" dirty="0"/>
              <a:t>00110011</a:t>
            </a:r>
          </a:p>
        </p:txBody>
      </p:sp>
      <p:sp>
        <p:nvSpPr>
          <p:cNvPr id="44" name="TextBox 43">
            <a:extLst>
              <a:ext uri="{FF2B5EF4-FFF2-40B4-BE49-F238E27FC236}">
                <a16:creationId xmlns:a16="http://schemas.microsoft.com/office/drawing/2014/main" id="{4FF12601-6724-5D47-80BC-344096188A62}"/>
              </a:ext>
            </a:extLst>
          </p:cNvPr>
          <p:cNvSpPr txBox="1"/>
          <p:nvPr/>
        </p:nvSpPr>
        <p:spPr>
          <a:xfrm>
            <a:off x="9092466" y="3049409"/>
            <a:ext cx="595035" cy="215444"/>
          </a:xfrm>
          <a:prstGeom prst="rect">
            <a:avLst/>
          </a:prstGeom>
          <a:noFill/>
        </p:spPr>
        <p:txBody>
          <a:bodyPr wrap="none" rtlCol="0">
            <a:spAutoFit/>
          </a:bodyPr>
          <a:lstStyle/>
          <a:p>
            <a:r>
              <a:rPr lang="en-US" sz="800" dirty="0"/>
              <a:t>11001100</a:t>
            </a:r>
          </a:p>
        </p:txBody>
      </p:sp>
      <p:sp>
        <p:nvSpPr>
          <p:cNvPr id="45" name="TextBox 44">
            <a:extLst>
              <a:ext uri="{FF2B5EF4-FFF2-40B4-BE49-F238E27FC236}">
                <a16:creationId xmlns:a16="http://schemas.microsoft.com/office/drawing/2014/main" id="{692A528E-A7ED-454A-99C6-E32BCFAB6FFD}"/>
              </a:ext>
            </a:extLst>
          </p:cNvPr>
          <p:cNvSpPr txBox="1"/>
          <p:nvPr/>
        </p:nvSpPr>
        <p:spPr>
          <a:xfrm>
            <a:off x="8359989" y="3049359"/>
            <a:ext cx="595035" cy="215444"/>
          </a:xfrm>
          <a:prstGeom prst="rect">
            <a:avLst/>
          </a:prstGeom>
          <a:noFill/>
        </p:spPr>
        <p:txBody>
          <a:bodyPr wrap="none" rtlCol="0">
            <a:spAutoFit/>
          </a:bodyPr>
          <a:lstStyle/>
          <a:p>
            <a:r>
              <a:rPr lang="en-US" sz="800" dirty="0"/>
              <a:t>00110011</a:t>
            </a:r>
          </a:p>
        </p:txBody>
      </p:sp>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pointers</a:t>
            </a:r>
          </a:p>
        </p:txBody>
      </p:sp>
      <p:sp>
        <p:nvSpPr>
          <p:cNvPr id="14" name="Content Placeholder 2">
            <a:extLst>
              <a:ext uri="{FF2B5EF4-FFF2-40B4-BE49-F238E27FC236}">
                <a16:creationId xmlns:a16="http://schemas.microsoft.com/office/drawing/2014/main" id="{7B147281-921E-3047-97E3-08C183CD5A02}"/>
              </a:ext>
            </a:extLst>
          </p:cNvPr>
          <p:cNvSpPr>
            <a:spLocks noGrp="1"/>
          </p:cNvSpPr>
          <p:nvPr>
            <p:ph idx="1"/>
          </p:nvPr>
        </p:nvSpPr>
        <p:spPr>
          <a:xfrm>
            <a:off x="173478" y="1412233"/>
            <a:ext cx="3725990" cy="4837972"/>
          </a:xfrm>
        </p:spPr>
        <p:txBody>
          <a:bodyPr>
            <a:noAutofit/>
          </a:bodyPr>
          <a:lstStyle/>
          <a:p>
            <a:pPr marL="0" indent="0">
              <a:buNone/>
            </a:pPr>
            <a:r>
              <a:rPr lang="en-US" sz="1800" dirty="0"/>
              <a:t>a pointer is a variable type that stores the address of another variable</a:t>
            </a:r>
          </a:p>
          <a:p>
            <a:pPr marL="0" indent="0">
              <a:buNone/>
            </a:pPr>
            <a:endParaRPr lang="en-US" sz="1800" dirty="0"/>
          </a:p>
          <a:p>
            <a:pPr marL="0" indent="0">
              <a:buNone/>
            </a:pPr>
            <a:endParaRPr lang="en-US" sz="1800" dirty="0"/>
          </a:p>
          <a:p>
            <a:pPr marL="0" indent="0">
              <a:buNone/>
            </a:pPr>
            <a:endParaRPr lang="en-US" sz="1800" dirty="0"/>
          </a:p>
          <a:p>
            <a:pPr marL="0" indent="0">
              <a:buNone/>
            </a:pPr>
            <a:br>
              <a:rPr lang="en-US" sz="1800" dirty="0"/>
            </a:br>
            <a:br>
              <a:rPr lang="en-US" sz="1800" dirty="0"/>
            </a:br>
            <a:endParaRPr lang="en-US" sz="1800" dirty="0"/>
          </a:p>
        </p:txBody>
      </p:sp>
      <p:sp>
        <p:nvSpPr>
          <p:cNvPr id="9" name="TextBox 8">
            <a:extLst>
              <a:ext uri="{FF2B5EF4-FFF2-40B4-BE49-F238E27FC236}">
                <a16:creationId xmlns:a16="http://schemas.microsoft.com/office/drawing/2014/main" id="{4C787C15-52EA-6749-A0C6-D23C73358E5F}"/>
              </a:ext>
            </a:extLst>
          </p:cNvPr>
          <p:cNvSpPr txBox="1"/>
          <p:nvPr/>
        </p:nvSpPr>
        <p:spPr>
          <a:xfrm>
            <a:off x="5542170" y="3776818"/>
            <a:ext cx="301686" cy="369332"/>
          </a:xfrm>
          <a:prstGeom prst="rect">
            <a:avLst/>
          </a:prstGeom>
          <a:noFill/>
        </p:spPr>
        <p:txBody>
          <a:bodyPr wrap="none" rtlCol="0">
            <a:spAutoFit/>
          </a:bodyPr>
          <a:lstStyle/>
          <a:p>
            <a:r>
              <a:rPr lang="en-US" dirty="0"/>
              <a:t>0</a:t>
            </a:r>
          </a:p>
        </p:txBody>
      </p:sp>
      <p:sp>
        <p:nvSpPr>
          <p:cNvPr id="22" name="TextBox 21">
            <a:extLst>
              <a:ext uri="{FF2B5EF4-FFF2-40B4-BE49-F238E27FC236}">
                <a16:creationId xmlns:a16="http://schemas.microsoft.com/office/drawing/2014/main" id="{B1817DF7-773F-2647-9195-1C19091E9235}"/>
              </a:ext>
            </a:extLst>
          </p:cNvPr>
          <p:cNvSpPr txBox="1"/>
          <p:nvPr/>
        </p:nvSpPr>
        <p:spPr>
          <a:xfrm>
            <a:off x="6304958" y="3776818"/>
            <a:ext cx="301686" cy="369332"/>
          </a:xfrm>
          <a:prstGeom prst="rect">
            <a:avLst/>
          </a:prstGeom>
          <a:noFill/>
        </p:spPr>
        <p:txBody>
          <a:bodyPr wrap="square" rtlCol="0">
            <a:spAutoFit/>
          </a:bodyPr>
          <a:lstStyle/>
          <a:p>
            <a:r>
              <a:rPr lang="en-US" dirty="0"/>
              <a:t>1</a:t>
            </a:r>
          </a:p>
        </p:txBody>
      </p:sp>
      <p:sp>
        <p:nvSpPr>
          <p:cNvPr id="23" name="TextBox 22">
            <a:extLst>
              <a:ext uri="{FF2B5EF4-FFF2-40B4-BE49-F238E27FC236}">
                <a16:creationId xmlns:a16="http://schemas.microsoft.com/office/drawing/2014/main" id="{D589732C-F994-0247-A653-757F4315D177}"/>
              </a:ext>
            </a:extLst>
          </p:cNvPr>
          <p:cNvSpPr txBox="1"/>
          <p:nvPr/>
        </p:nvSpPr>
        <p:spPr>
          <a:xfrm>
            <a:off x="7076106" y="3776818"/>
            <a:ext cx="301686" cy="369332"/>
          </a:xfrm>
          <a:prstGeom prst="rect">
            <a:avLst/>
          </a:prstGeom>
          <a:noFill/>
        </p:spPr>
        <p:txBody>
          <a:bodyPr wrap="square" rtlCol="0">
            <a:spAutoFit/>
          </a:bodyPr>
          <a:lstStyle/>
          <a:p>
            <a:r>
              <a:rPr lang="en-US" dirty="0"/>
              <a:t>2</a:t>
            </a:r>
          </a:p>
        </p:txBody>
      </p:sp>
      <p:sp>
        <p:nvSpPr>
          <p:cNvPr id="24" name="TextBox 23">
            <a:extLst>
              <a:ext uri="{FF2B5EF4-FFF2-40B4-BE49-F238E27FC236}">
                <a16:creationId xmlns:a16="http://schemas.microsoft.com/office/drawing/2014/main" id="{687711E0-0955-934A-98E0-F89A04522FB8}"/>
              </a:ext>
            </a:extLst>
          </p:cNvPr>
          <p:cNvSpPr txBox="1"/>
          <p:nvPr/>
        </p:nvSpPr>
        <p:spPr>
          <a:xfrm>
            <a:off x="7800942" y="3776818"/>
            <a:ext cx="301686" cy="369332"/>
          </a:xfrm>
          <a:prstGeom prst="rect">
            <a:avLst/>
          </a:prstGeom>
          <a:noFill/>
        </p:spPr>
        <p:txBody>
          <a:bodyPr wrap="square" rtlCol="0">
            <a:spAutoFit/>
          </a:bodyPr>
          <a:lstStyle/>
          <a:p>
            <a:r>
              <a:rPr lang="en-US" dirty="0"/>
              <a:t>3</a:t>
            </a:r>
          </a:p>
        </p:txBody>
      </p:sp>
      <p:sp>
        <p:nvSpPr>
          <p:cNvPr id="25" name="TextBox 24">
            <a:extLst>
              <a:ext uri="{FF2B5EF4-FFF2-40B4-BE49-F238E27FC236}">
                <a16:creationId xmlns:a16="http://schemas.microsoft.com/office/drawing/2014/main" id="{D45C8889-142A-F34C-BA72-9A940E737FCB}"/>
              </a:ext>
            </a:extLst>
          </p:cNvPr>
          <p:cNvSpPr txBox="1"/>
          <p:nvPr/>
        </p:nvSpPr>
        <p:spPr>
          <a:xfrm>
            <a:off x="8525778" y="3776818"/>
            <a:ext cx="301686" cy="369332"/>
          </a:xfrm>
          <a:prstGeom prst="rect">
            <a:avLst/>
          </a:prstGeom>
          <a:noFill/>
        </p:spPr>
        <p:txBody>
          <a:bodyPr wrap="square" rtlCol="0">
            <a:spAutoFit/>
          </a:bodyPr>
          <a:lstStyle/>
          <a:p>
            <a:r>
              <a:rPr lang="en-US" dirty="0"/>
              <a:t>4</a:t>
            </a:r>
          </a:p>
        </p:txBody>
      </p:sp>
      <p:sp>
        <p:nvSpPr>
          <p:cNvPr id="26" name="TextBox 25">
            <a:extLst>
              <a:ext uri="{FF2B5EF4-FFF2-40B4-BE49-F238E27FC236}">
                <a16:creationId xmlns:a16="http://schemas.microsoft.com/office/drawing/2014/main" id="{58B00257-5BCD-4745-876E-82FE88477805}"/>
              </a:ext>
            </a:extLst>
          </p:cNvPr>
          <p:cNvSpPr txBox="1"/>
          <p:nvPr/>
        </p:nvSpPr>
        <p:spPr>
          <a:xfrm>
            <a:off x="9210520" y="3776818"/>
            <a:ext cx="301686" cy="369332"/>
          </a:xfrm>
          <a:prstGeom prst="rect">
            <a:avLst/>
          </a:prstGeom>
          <a:noFill/>
        </p:spPr>
        <p:txBody>
          <a:bodyPr wrap="square" rtlCol="0">
            <a:spAutoFit/>
          </a:bodyPr>
          <a:lstStyle/>
          <a:p>
            <a:r>
              <a:rPr lang="en-US" dirty="0"/>
              <a:t>5</a:t>
            </a:r>
          </a:p>
        </p:txBody>
      </p:sp>
      <p:sp>
        <p:nvSpPr>
          <p:cNvPr id="27" name="TextBox 26">
            <a:extLst>
              <a:ext uri="{FF2B5EF4-FFF2-40B4-BE49-F238E27FC236}">
                <a16:creationId xmlns:a16="http://schemas.microsoft.com/office/drawing/2014/main" id="{070EEC1A-EC5C-5E47-BBDC-25570310964A}"/>
              </a:ext>
            </a:extLst>
          </p:cNvPr>
          <p:cNvSpPr txBox="1"/>
          <p:nvPr/>
        </p:nvSpPr>
        <p:spPr>
          <a:xfrm>
            <a:off x="9967941" y="3775828"/>
            <a:ext cx="301686" cy="369332"/>
          </a:xfrm>
          <a:prstGeom prst="rect">
            <a:avLst/>
          </a:prstGeom>
          <a:noFill/>
        </p:spPr>
        <p:txBody>
          <a:bodyPr wrap="square" rtlCol="0">
            <a:spAutoFit/>
          </a:bodyPr>
          <a:lstStyle/>
          <a:p>
            <a:r>
              <a:rPr lang="en-US" dirty="0"/>
              <a:t>6</a:t>
            </a:r>
          </a:p>
        </p:txBody>
      </p:sp>
      <p:sp>
        <p:nvSpPr>
          <p:cNvPr id="28" name="TextBox 27">
            <a:extLst>
              <a:ext uri="{FF2B5EF4-FFF2-40B4-BE49-F238E27FC236}">
                <a16:creationId xmlns:a16="http://schemas.microsoft.com/office/drawing/2014/main" id="{2BA1D67F-748D-864C-9EC6-2165838F3179}"/>
              </a:ext>
            </a:extLst>
          </p:cNvPr>
          <p:cNvSpPr txBox="1"/>
          <p:nvPr/>
        </p:nvSpPr>
        <p:spPr>
          <a:xfrm>
            <a:off x="10588246" y="3775828"/>
            <a:ext cx="301686" cy="369332"/>
          </a:xfrm>
          <a:prstGeom prst="rect">
            <a:avLst/>
          </a:prstGeom>
          <a:noFill/>
        </p:spPr>
        <p:txBody>
          <a:bodyPr wrap="square" rtlCol="0">
            <a:spAutoFit/>
          </a:bodyPr>
          <a:lstStyle/>
          <a:p>
            <a:r>
              <a:rPr lang="en-US" dirty="0"/>
              <a:t>7</a:t>
            </a:r>
          </a:p>
        </p:txBody>
      </p:sp>
      <p:sp>
        <p:nvSpPr>
          <p:cNvPr id="29" name="TextBox 28">
            <a:extLst>
              <a:ext uri="{FF2B5EF4-FFF2-40B4-BE49-F238E27FC236}">
                <a16:creationId xmlns:a16="http://schemas.microsoft.com/office/drawing/2014/main" id="{EE8E038E-F409-CF4F-A864-B93A211ED449}"/>
              </a:ext>
            </a:extLst>
          </p:cNvPr>
          <p:cNvSpPr txBox="1"/>
          <p:nvPr/>
        </p:nvSpPr>
        <p:spPr>
          <a:xfrm>
            <a:off x="11199601" y="3775828"/>
            <a:ext cx="343364" cy="369332"/>
          </a:xfrm>
          <a:prstGeom prst="rect">
            <a:avLst/>
          </a:prstGeom>
          <a:noFill/>
        </p:spPr>
        <p:txBody>
          <a:bodyPr wrap="none" rtlCol="0">
            <a:spAutoFit/>
          </a:bodyPr>
          <a:lstStyle/>
          <a:p>
            <a:r>
              <a:rPr lang="en-US" dirty="0"/>
              <a:t>…</a:t>
            </a:r>
          </a:p>
        </p:txBody>
      </p:sp>
      <p:sp>
        <p:nvSpPr>
          <p:cNvPr id="30" name="TextBox 29">
            <a:extLst>
              <a:ext uri="{FF2B5EF4-FFF2-40B4-BE49-F238E27FC236}">
                <a16:creationId xmlns:a16="http://schemas.microsoft.com/office/drawing/2014/main" id="{47178FB3-57C0-6A42-AFF8-BB494C36B881}"/>
              </a:ext>
            </a:extLst>
          </p:cNvPr>
          <p:cNvSpPr txBox="1"/>
          <p:nvPr/>
        </p:nvSpPr>
        <p:spPr>
          <a:xfrm>
            <a:off x="4185578" y="3775828"/>
            <a:ext cx="973536" cy="369332"/>
          </a:xfrm>
          <a:prstGeom prst="rect">
            <a:avLst/>
          </a:prstGeom>
          <a:noFill/>
        </p:spPr>
        <p:txBody>
          <a:bodyPr wrap="none" rtlCol="0">
            <a:spAutoFit/>
          </a:bodyPr>
          <a:lstStyle/>
          <a:p>
            <a:r>
              <a:rPr lang="en-US" dirty="0"/>
              <a:t>address:</a:t>
            </a:r>
          </a:p>
        </p:txBody>
      </p:sp>
      <p:sp>
        <p:nvSpPr>
          <p:cNvPr id="35" name="Right Arrow 34">
            <a:extLst>
              <a:ext uri="{FF2B5EF4-FFF2-40B4-BE49-F238E27FC236}">
                <a16:creationId xmlns:a16="http://schemas.microsoft.com/office/drawing/2014/main" id="{78A37C0C-4290-344E-9C05-AE1FED8BBAB3}"/>
              </a:ext>
            </a:extLst>
          </p:cNvPr>
          <p:cNvSpPr/>
          <p:nvPr/>
        </p:nvSpPr>
        <p:spPr>
          <a:xfrm rot="6889097">
            <a:off x="475842" y="4490674"/>
            <a:ext cx="1948469" cy="774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352D3B3-B320-E345-B75F-A00F62698D7D}"/>
              </a:ext>
            </a:extLst>
          </p:cNvPr>
          <p:cNvSpPr txBox="1"/>
          <p:nvPr/>
        </p:nvSpPr>
        <p:spPr>
          <a:xfrm>
            <a:off x="5693432" y="1210121"/>
            <a:ext cx="4979825" cy="369332"/>
          </a:xfrm>
          <a:prstGeom prst="rect">
            <a:avLst/>
          </a:prstGeom>
          <a:noFill/>
        </p:spPr>
        <p:txBody>
          <a:bodyPr wrap="none" rtlCol="0">
            <a:spAutoFit/>
          </a:bodyPr>
          <a:lstStyle/>
          <a:p>
            <a:r>
              <a:rPr lang="en-US" dirty="0"/>
              <a:t>real addresses don't look quite like this, of course…</a:t>
            </a:r>
          </a:p>
        </p:txBody>
      </p:sp>
      <p:sp>
        <p:nvSpPr>
          <p:cNvPr id="38" name="Right Arrow 37">
            <a:extLst>
              <a:ext uri="{FF2B5EF4-FFF2-40B4-BE49-F238E27FC236}">
                <a16:creationId xmlns:a16="http://schemas.microsoft.com/office/drawing/2014/main" id="{949A6122-451E-3142-A58E-9E4F93B5D848}"/>
              </a:ext>
            </a:extLst>
          </p:cNvPr>
          <p:cNvSpPr/>
          <p:nvPr/>
        </p:nvSpPr>
        <p:spPr>
          <a:xfrm rot="2912595">
            <a:off x="10076993" y="4779320"/>
            <a:ext cx="654700" cy="774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F5E8035-F562-5449-9885-B12E42972208}"/>
              </a:ext>
            </a:extLst>
          </p:cNvPr>
          <p:cNvSpPr txBox="1"/>
          <p:nvPr/>
        </p:nvSpPr>
        <p:spPr>
          <a:xfrm>
            <a:off x="7491301" y="4320086"/>
            <a:ext cx="2372509" cy="646331"/>
          </a:xfrm>
          <a:prstGeom prst="rect">
            <a:avLst/>
          </a:prstGeom>
          <a:noFill/>
        </p:spPr>
        <p:txBody>
          <a:bodyPr wrap="none" rtlCol="0">
            <a:spAutoFit/>
          </a:bodyPr>
          <a:lstStyle/>
          <a:p>
            <a:r>
              <a:rPr lang="en-US" dirty="0"/>
              <a:t>here's what I get when </a:t>
            </a:r>
          </a:p>
          <a:p>
            <a:r>
              <a:rPr lang="en-US" dirty="0"/>
              <a:t>I run this</a:t>
            </a:r>
          </a:p>
        </p:txBody>
      </p:sp>
      <p:pic>
        <p:nvPicPr>
          <p:cNvPr id="12" name="Picture 11">
            <a:extLst>
              <a:ext uri="{FF2B5EF4-FFF2-40B4-BE49-F238E27FC236}">
                <a16:creationId xmlns:a16="http://schemas.microsoft.com/office/drawing/2014/main" id="{D3860D85-D515-D34F-BEA3-2C298F0114BB}"/>
              </a:ext>
            </a:extLst>
          </p:cNvPr>
          <p:cNvPicPr>
            <a:picLocks noChangeAspect="1"/>
          </p:cNvPicPr>
          <p:nvPr/>
        </p:nvPicPr>
        <p:blipFill>
          <a:blip r:embed="rId3"/>
          <a:stretch>
            <a:fillRect/>
          </a:stretch>
        </p:blipFill>
        <p:spPr>
          <a:xfrm>
            <a:off x="6460970" y="5623746"/>
            <a:ext cx="5499100" cy="1168400"/>
          </a:xfrm>
          <a:prstGeom prst="rect">
            <a:avLst/>
          </a:prstGeom>
        </p:spPr>
      </p:pic>
      <p:sp>
        <p:nvSpPr>
          <p:cNvPr id="8" name="TextBox 7">
            <a:extLst>
              <a:ext uri="{FF2B5EF4-FFF2-40B4-BE49-F238E27FC236}">
                <a16:creationId xmlns:a16="http://schemas.microsoft.com/office/drawing/2014/main" id="{BC5217DD-D177-1F43-8C95-33FA680D1FFB}"/>
              </a:ext>
            </a:extLst>
          </p:cNvPr>
          <p:cNvSpPr txBox="1"/>
          <p:nvPr/>
        </p:nvSpPr>
        <p:spPr>
          <a:xfrm>
            <a:off x="2037039" y="3400332"/>
            <a:ext cx="1711954" cy="861774"/>
          </a:xfrm>
          <a:prstGeom prst="rect">
            <a:avLst/>
          </a:prstGeom>
          <a:noFill/>
        </p:spPr>
        <p:txBody>
          <a:bodyPr wrap="square" rtlCol="0">
            <a:spAutoFit/>
          </a:bodyPr>
          <a:lstStyle/>
          <a:p>
            <a:r>
              <a:rPr lang="en-US" sz="1000" dirty="0"/>
              <a:t>declare a pointer by using the name of the type, and then putting * before the name you assign to the pointer.</a:t>
            </a:r>
          </a:p>
        </p:txBody>
      </p:sp>
    </p:spTree>
    <p:extLst>
      <p:ext uri="{BB962C8B-B14F-4D97-AF65-F5344CB8AC3E}">
        <p14:creationId xmlns:p14="http://schemas.microsoft.com/office/powerpoint/2010/main" val="5745295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F5B7BF4-64BD-664C-AE67-7D960EAE9706}"/>
              </a:ext>
            </a:extLst>
          </p:cNvPr>
          <p:cNvPicPr>
            <a:picLocks noChangeAspect="1"/>
          </p:cNvPicPr>
          <p:nvPr/>
        </p:nvPicPr>
        <p:blipFill>
          <a:blip r:embed="rId2"/>
          <a:stretch>
            <a:fillRect/>
          </a:stretch>
        </p:blipFill>
        <p:spPr>
          <a:xfrm>
            <a:off x="6203683" y="5226964"/>
            <a:ext cx="6532341" cy="1607788"/>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pointers</a:t>
            </a:r>
          </a:p>
        </p:txBody>
      </p:sp>
      <p:sp>
        <p:nvSpPr>
          <p:cNvPr id="14" name="Content Placeholder 2">
            <a:extLst>
              <a:ext uri="{FF2B5EF4-FFF2-40B4-BE49-F238E27FC236}">
                <a16:creationId xmlns:a16="http://schemas.microsoft.com/office/drawing/2014/main" id="{7B147281-921E-3047-97E3-08C183CD5A02}"/>
              </a:ext>
            </a:extLst>
          </p:cNvPr>
          <p:cNvSpPr>
            <a:spLocks noGrp="1"/>
          </p:cNvSpPr>
          <p:nvPr>
            <p:ph idx="1"/>
          </p:nvPr>
        </p:nvSpPr>
        <p:spPr>
          <a:xfrm>
            <a:off x="173181" y="1579453"/>
            <a:ext cx="3725990" cy="4837972"/>
          </a:xfrm>
        </p:spPr>
        <p:txBody>
          <a:bodyPr>
            <a:noAutofit/>
          </a:bodyPr>
          <a:lstStyle/>
          <a:p>
            <a:pPr marL="0" indent="0">
              <a:buNone/>
            </a:pPr>
            <a:endParaRPr lang="en-US" sz="1800" dirty="0"/>
          </a:p>
          <a:p>
            <a:pPr marL="0" indent="0">
              <a:buNone/>
            </a:pPr>
            <a:r>
              <a:rPr lang="en-US" sz="1800" dirty="0"/>
              <a:t>pointers are variables just like any other variables, and so you can get their addresses as well:</a:t>
            </a:r>
          </a:p>
          <a:p>
            <a:pPr marL="0" indent="0">
              <a:buNone/>
            </a:pPr>
            <a:endParaRPr lang="en-US" sz="1800" dirty="0"/>
          </a:p>
          <a:p>
            <a:pPr marL="0" indent="0">
              <a:buNone/>
            </a:pPr>
            <a:endParaRPr lang="en-US" sz="1800" dirty="0"/>
          </a:p>
          <a:p>
            <a:pPr marL="0" indent="0">
              <a:buNone/>
            </a:pPr>
            <a:endParaRPr lang="en-US" sz="1800" dirty="0"/>
          </a:p>
          <a:p>
            <a:pPr marL="0" indent="0">
              <a:buNone/>
            </a:pPr>
            <a:br>
              <a:rPr lang="en-US" sz="1800" dirty="0"/>
            </a:br>
            <a:br>
              <a:rPr lang="en-US" sz="1800" dirty="0"/>
            </a:br>
            <a:endParaRPr lang="en-US" sz="1800" dirty="0"/>
          </a:p>
        </p:txBody>
      </p:sp>
      <p:sp>
        <p:nvSpPr>
          <p:cNvPr id="38" name="Right Arrow 37">
            <a:extLst>
              <a:ext uri="{FF2B5EF4-FFF2-40B4-BE49-F238E27FC236}">
                <a16:creationId xmlns:a16="http://schemas.microsoft.com/office/drawing/2014/main" id="{949A6122-451E-3142-A58E-9E4F93B5D848}"/>
              </a:ext>
            </a:extLst>
          </p:cNvPr>
          <p:cNvSpPr/>
          <p:nvPr/>
        </p:nvSpPr>
        <p:spPr>
          <a:xfrm rot="2912595">
            <a:off x="9668126" y="4704480"/>
            <a:ext cx="1097313" cy="66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2F5E8035-F562-5449-9885-B12E42972208}"/>
              </a:ext>
            </a:extLst>
          </p:cNvPr>
          <p:cNvSpPr txBox="1"/>
          <p:nvPr/>
        </p:nvSpPr>
        <p:spPr>
          <a:xfrm>
            <a:off x="7491301" y="4320086"/>
            <a:ext cx="2372509" cy="646331"/>
          </a:xfrm>
          <a:prstGeom prst="rect">
            <a:avLst/>
          </a:prstGeom>
          <a:noFill/>
        </p:spPr>
        <p:txBody>
          <a:bodyPr wrap="none" rtlCol="0">
            <a:spAutoFit/>
          </a:bodyPr>
          <a:lstStyle/>
          <a:p>
            <a:r>
              <a:rPr lang="en-US" dirty="0"/>
              <a:t>here's what I get when </a:t>
            </a:r>
          </a:p>
          <a:p>
            <a:r>
              <a:rPr lang="en-US" dirty="0"/>
              <a:t>I run this</a:t>
            </a:r>
          </a:p>
        </p:txBody>
      </p:sp>
      <p:pic>
        <p:nvPicPr>
          <p:cNvPr id="10" name="Picture 9">
            <a:extLst>
              <a:ext uri="{FF2B5EF4-FFF2-40B4-BE49-F238E27FC236}">
                <a16:creationId xmlns:a16="http://schemas.microsoft.com/office/drawing/2014/main" id="{272667FB-081F-9D4A-80FA-E137968884FE}"/>
              </a:ext>
            </a:extLst>
          </p:cNvPr>
          <p:cNvPicPr>
            <a:picLocks noChangeAspect="1"/>
          </p:cNvPicPr>
          <p:nvPr/>
        </p:nvPicPr>
        <p:blipFill>
          <a:blip r:embed="rId3"/>
          <a:stretch>
            <a:fillRect/>
          </a:stretch>
        </p:blipFill>
        <p:spPr>
          <a:xfrm>
            <a:off x="4185578" y="600346"/>
            <a:ext cx="7632429" cy="2657084"/>
          </a:xfrm>
          <a:prstGeom prst="rect">
            <a:avLst/>
          </a:prstGeom>
        </p:spPr>
      </p:pic>
      <p:pic>
        <p:nvPicPr>
          <p:cNvPr id="47" name="Picture 46">
            <a:extLst>
              <a:ext uri="{FF2B5EF4-FFF2-40B4-BE49-F238E27FC236}">
                <a16:creationId xmlns:a16="http://schemas.microsoft.com/office/drawing/2014/main" id="{9BD39986-8A48-A948-A3FC-A484EBE5B80A}"/>
              </a:ext>
            </a:extLst>
          </p:cNvPr>
          <p:cNvPicPr>
            <a:picLocks noChangeAspect="1"/>
          </p:cNvPicPr>
          <p:nvPr/>
        </p:nvPicPr>
        <p:blipFill>
          <a:blip r:embed="rId3"/>
          <a:stretch>
            <a:fillRect/>
          </a:stretch>
        </p:blipFill>
        <p:spPr>
          <a:xfrm>
            <a:off x="4185578" y="1402455"/>
            <a:ext cx="7632429" cy="2657084"/>
          </a:xfrm>
          <a:prstGeom prst="rect">
            <a:avLst/>
          </a:prstGeom>
        </p:spPr>
      </p:pic>
    </p:spTree>
    <p:extLst>
      <p:ext uri="{BB962C8B-B14F-4D97-AF65-F5344CB8AC3E}">
        <p14:creationId xmlns:p14="http://schemas.microsoft.com/office/powerpoint/2010/main" val="6319707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normAutofit fontScale="90000"/>
          </a:bodyPr>
          <a:lstStyle/>
          <a:p>
            <a:r>
              <a:rPr lang="en-US" dirty="0"/>
              <a:t>okay so</a:t>
            </a:r>
            <a:br>
              <a:rPr lang="en-US" dirty="0"/>
            </a:br>
            <a:r>
              <a:rPr lang="en-US" dirty="0"/>
              <a:t>what's an</a:t>
            </a:r>
            <a:br>
              <a:rPr lang="en-US" dirty="0"/>
            </a:br>
            <a:r>
              <a:rPr lang="en-US" dirty="0"/>
              <a:t>array</a:t>
            </a:r>
          </a:p>
        </p:txBody>
      </p:sp>
      <p:sp>
        <p:nvSpPr>
          <p:cNvPr id="14" name="Content Placeholder 2">
            <a:extLst>
              <a:ext uri="{FF2B5EF4-FFF2-40B4-BE49-F238E27FC236}">
                <a16:creationId xmlns:a16="http://schemas.microsoft.com/office/drawing/2014/main" id="{7B147281-921E-3047-97E3-08C183CD5A02}"/>
              </a:ext>
            </a:extLst>
          </p:cNvPr>
          <p:cNvSpPr>
            <a:spLocks noGrp="1"/>
          </p:cNvSpPr>
          <p:nvPr>
            <p:ph idx="1"/>
          </p:nvPr>
        </p:nvSpPr>
        <p:spPr>
          <a:xfrm>
            <a:off x="172748" y="2117849"/>
            <a:ext cx="3725990" cy="4837972"/>
          </a:xfrm>
        </p:spPr>
        <p:txBody>
          <a:bodyPr>
            <a:noAutofit/>
          </a:bodyPr>
          <a:lstStyle/>
          <a:p>
            <a:pPr marL="0" indent="0">
              <a:buNone/>
            </a:pPr>
            <a:r>
              <a:rPr lang="en-US" sz="1800" dirty="0"/>
              <a:t>arrays are contiguous blocks of memory, starting at the address associated with the name of the array and advancing from there. </a:t>
            </a:r>
          </a:p>
          <a:p>
            <a:pPr marL="0" indent="0">
              <a:buNone/>
            </a:pPr>
            <a:endParaRPr lang="en-US" sz="1800" dirty="0"/>
          </a:p>
          <a:p>
            <a:pPr marL="0" indent="0">
              <a:buNone/>
            </a:pPr>
            <a:endParaRPr lang="en-US" sz="1800" dirty="0"/>
          </a:p>
          <a:p>
            <a:pPr marL="0" indent="0">
              <a:buNone/>
            </a:pPr>
            <a:br>
              <a:rPr lang="en-US" sz="1800" dirty="0"/>
            </a:br>
            <a:br>
              <a:rPr lang="en-US" sz="1800" dirty="0"/>
            </a:br>
            <a:endParaRPr lang="en-US" sz="1800" dirty="0"/>
          </a:p>
        </p:txBody>
      </p:sp>
      <p:sp>
        <p:nvSpPr>
          <p:cNvPr id="11" name="TextBox 10">
            <a:extLst>
              <a:ext uri="{FF2B5EF4-FFF2-40B4-BE49-F238E27FC236}">
                <a16:creationId xmlns:a16="http://schemas.microsoft.com/office/drawing/2014/main" id="{2F5E8035-F562-5449-9885-B12E42972208}"/>
              </a:ext>
            </a:extLst>
          </p:cNvPr>
          <p:cNvSpPr txBox="1"/>
          <p:nvPr/>
        </p:nvSpPr>
        <p:spPr>
          <a:xfrm>
            <a:off x="7491301" y="4320086"/>
            <a:ext cx="2372509" cy="646331"/>
          </a:xfrm>
          <a:prstGeom prst="rect">
            <a:avLst/>
          </a:prstGeom>
          <a:noFill/>
        </p:spPr>
        <p:txBody>
          <a:bodyPr wrap="none" rtlCol="0">
            <a:spAutoFit/>
          </a:bodyPr>
          <a:lstStyle/>
          <a:p>
            <a:r>
              <a:rPr lang="en-US" dirty="0"/>
              <a:t>here's what I get when </a:t>
            </a:r>
          </a:p>
          <a:p>
            <a:r>
              <a:rPr lang="en-US" dirty="0"/>
              <a:t>I run this</a:t>
            </a:r>
          </a:p>
        </p:txBody>
      </p:sp>
      <p:pic>
        <p:nvPicPr>
          <p:cNvPr id="3" name="Picture 2">
            <a:extLst>
              <a:ext uri="{FF2B5EF4-FFF2-40B4-BE49-F238E27FC236}">
                <a16:creationId xmlns:a16="http://schemas.microsoft.com/office/drawing/2014/main" id="{42BC2802-85E3-9644-B13A-619237B2045C}"/>
              </a:ext>
            </a:extLst>
          </p:cNvPr>
          <p:cNvPicPr>
            <a:picLocks noChangeAspect="1"/>
          </p:cNvPicPr>
          <p:nvPr/>
        </p:nvPicPr>
        <p:blipFill>
          <a:blip r:embed="rId2"/>
          <a:stretch>
            <a:fillRect/>
          </a:stretch>
        </p:blipFill>
        <p:spPr>
          <a:xfrm>
            <a:off x="3964685" y="409769"/>
            <a:ext cx="8054129" cy="2243490"/>
          </a:xfrm>
          <a:prstGeom prst="rect">
            <a:avLst/>
          </a:prstGeom>
        </p:spPr>
      </p:pic>
      <p:pic>
        <p:nvPicPr>
          <p:cNvPr id="9" name="Picture 8">
            <a:extLst>
              <a:ext uri="{FF2B5EF4-FFF2-40B4-BE49-F238E27FC236}">
                <a16:creationId xmlns:a16="http://schemas.microsoft.com/office/drawing/2014/main" id="{BDEDBF0B-5F37-AB4F-8933-0F2BD4C2E63F}"/>
              </a:ext>
            </a:extLst>
          </p:cNvPr>
          <p:cNvPicPr>
            <a:picLocks noChangeAspect="1"/>
          </p:cNvPicPr>
          <p:nvPr/>
        </p:nvPicPr>
        <p:blipFill>
          <a:blip r:embed="rId3"/>
          <a:stretch>
            <a:fillRect/>
          </a:stretch>
        </p:blipFill>
        <p:spPr>
          <a:xfrm>
            <a:off x="5440076" y="5896644"/>
            <a:ext cx="6108700" cy="736600"/>
          </a:xfrm>
          <a:prstGeom prst="rect">
            <a:avLst/>
          </a:prstGeom>
        </p:spPr>
      </p:pic>
      <p:sp>
        <p:nvSpPr>
          <p:cNvPr id="10" name="Frame 9">
            <a:extLst>
              <a:ext uri="{FF2B5EF4-FFF2-40B4-BE49-F238E27FC236}">
                <a16:creationId xmlns:a16="http://schemas.microsoft.com/office/drawing/2014/main" id="{D0A86E47-BC86-8649-B113-AB6E188A7CD4}"/>
              </a:ext>
            </a:extLst>
          </p:cNvPr>
          <p:cNvSpPr/>
          <p:nvPr/>
        </p:nvSpPr>
        <p:spPr>
          <a:xfrm>
            <a:off x="2035743" y="3918491"/>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ame 11">
            <a:extLst>
              <a:ext uri="{FF2B5EF4-FFF2-40B4-BE49-F238E27FC236}">
                <a16:creationId xmlns:a16="http://schemas.microsoft.com/office/drawing/2014/main" id="{73CB847C-C3D8-E54A-A10A-03CE7B9628F8}"/>
              </a:ext>
            </a:extLst>
          </p:cNvPr>
          <p:cNvSpPr/>
          <p:nvPr/>
        </p:nvSpPr>
        <p:spPr>
          <a:xfrm>
            <a:off x="2760579" y="39184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Frame 12">
            <a:extLst>
              <a:ext uri="{FF2B5EF4-FFF2-40B4-BE49-F238E27FC236}">
                <a16:creationId xmlns:a16="http://schemas.microsoft.com/office/drawing/2014/main" id="{D0E73523-FE17-5B42-A082-91963E23FABD}"/>
              </a:ext>
            </a:extLst>
          </p:cNvPr>
          <p:cNvSpPr/>
          <p:nvPr/>
        </p:nvSpPr>
        <p:spPr>
          <a:xfrm>
            <a:off x="3485415" y="3918489"/>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ame 14">
            <a:extLst>
              <a:ext uri="{FF2B5EF4-FFF2-40B4-BE49-F238E27FC236}">
                <a16:creationId xmlns:a16="http://schemas.microsoft.com/office/drawing/2014/main" id="{EF18E539-068F-C044-AB3B-0660FD2E53A4}"/>
              </a:ext>
            </a:extLst>
          </p:cNvPr>
          <p:cNvSpPr/>
          <p:nvPr/>
        </p:nvSpPr>
        <p:spPr>
          <a:xfrm>
            <a:off x="4170157" y="391800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ame 15">
            <a:extLst>
              <a:ext uri="{FF2B5EF4-FFF2-40B4-BE49-F238E27FC236}">
                <a16:creationId xmlns:a16="http://schemas.microsoft.com/office/drawing/2014/main" id="{E6DA6479-1A83-964A-A28E-6299E927FF02}"/>
              </a:ext>
            </a:extLst>
          </p:cNvPr>
          <p:cNvSpPr/>
          <p:nvPr/>
        </p:nvSpPr>
        <p:spPr>
          <a:xfrm>
            <a:off x="1264595" y="3918492"/>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Rectangle 17">
            <a:extLst>
              <a:ext uri="{FF2B5EF4-FFF2-40B4-BE49-F238E27FC236}">
                <a16:creationId xmlns:a16="http://schemas.microsoft.com/office/drawing/2014/main" id="{0C32C785-4A06-944D-841D-621228E4AD8C}"/>
              </a:ext>
            </a:extLst>
          </p:cNvPr>
          <p:cNvSpPr/>
          <p:nvPr/>
        </p:nvSpPr>
        <p:spPr>
          <a:xfrm>
            <a:off x="6042167" y="3861911"/>
            <a:ext cx="9144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949AA0E-2236-1A46-A9D8-EF13277526D2}"/>
              </a:ext>
            </a:extLst>
          </p:cNvPr>
          <p:cNvSpPr/>
          <p:nvPr/>
        </p:nvSpPr>
        <p:spPr>
          <a:xfrm>
            <a:off x="6031439" y="3953136"/>
            <a:ext cx="255085" cy="710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F3AD0A0C-046E-E34C-BF10-59D0B3540EC6}"/>
              </a:ext>
            </a:extLst>
          </p:cNvPr>
          <p:cNvSpPr txBox="1"/>
          <p:nvPr/>
        </p:nvSpPr>
        <p:spPr>
          <a:xfrm>
            <a:off x="1437210" y="4139507"/>
            <a:ext cx="301686" cy="369332"/>
          </a:xfrm>
          <a:prstGeom prst="rect">
            <a:avLst/>
          </a:prstGeom>
          <a:noFill/>
        </p:spPr>
        <p:txBody>
          <a:bodyPr wrap="none" rtlCol="0">
            <a:spAutoFit/>
          </a:bodyPr>
          <a:lstStyle/>
          <a:p>
            <a:r>
              <a:rPr lang="en-US" dirty="0"/>
              <a:t>1</a:t>
            </a:r>
          </a:p>
        </p:txBody>
      </p:sp>
      <p:sp>
        <p:nvSpPr>
          <p:cNvPr id="34" name="TextBox 33">
            <a:extLst>
              <a:ext uri="{FF2B5EF4-FFF2-40B4-BE49-F238E27FC236}">
                <a16:creationId xmlns:a16="http://schemas.microsoft.com/office/drawing/2014/main" id="{31B4277B-20F5-654F-BAF7-7B67BAA8FE1A}"/>
              </a:ext>
            </a:extLst>
          </p:cNvPr>
          <p:cNvSpPr txBox="1"/>
          <p:nvPr/>
        </p:nvSpPr>
        <p:spPr>
          <a:xfrm>
            <a:off x="2156026" y="4139507"/>
            <a:ext cx="301686" cy="369332"/>
          </a:xfrm>
          <a:prstGeom prst="rect">
            <a:avLst/>
          </a:prstGeom>
          <a:noFill/>
        </p:spPr>
        <p:txBody>
          <a:bodyPr wrap="none" rtlCol="0">
            <a:spAutoFit/>
          </a:bodyPr>
          <a:lstStyle/>
          <a:p>
            <a:r>
              <a:rPr lang="en-US" dirty="0"/>
              <a:t>1</a:t>
            </a:r>
          </a:p>
        </p:txBody>
      </p:sp>
      <p:sp>
        <p:nvSpPr>
          <p:cNvPr id="35" name="Frame 34">
            <a:extLst>
              <a:ext uri="{FF2B5EF4-FFF2-40B4-BE49-F238E27FC236}">
                <a16:creationId xmlns:a16="http://schemas.microsoft.com/office/drawing/2014/main" id="{3FC31F79-C6D4-F441-8C00-38DECF63B68C}"/>
              </a:ext>
            </a:extLst>
          </p:cNvPr>
          <p:cNvSpPr/>
          <p:nvPr/>
        </p:nvSpPr>
        <p:spPr>
          <a:xfrm>
            <a:off x="4892621" y="3918005"/>
            <a:ext cx="762788" cy="803189"/>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058A4DBF-2944-E945-AFA0-F10E84ACF9EB}"/>
              </a:ext>
            </a:extLst>
          </p:cNvPr>
          <p:cNvSpPr txBox="1"/>
          <p:nvPr/>
        </p:nvSpPr>
        <p:spPr>
          <a:xfrm>
            <a:off x="1167852" y="4776311"/>
            <a:ext cx="877869" cy="276999"/>
          </a:xfrm>
          <a:prstGeom prst="rect">
            <a:avLst/>
          </a:prstGeom>
          <a:noFill/>
        </p:spPr>
        <p:txBody>
          <a:bodyPr wrap="none" rtlCol="0">
            <a:spAutoFit/>
          </a:bodyPr>
          <a:lstStyle/>
          <a:p>
            <a:r>
              <a:rPr lang="en-US" sz="1200" dirty="0" err="1"/>
              <a:t>myArray</a:t>
            </a:r>
            <a:r>
              <a:rPr lang="en-US" sz="1200" dirty="0"/>
              <a:t>[0]</a:t>
            </a:r>
          </a:p>
        </p:txBody>
      </p:sp>
      <p:sp>
        <p:nvSpPr>
          <p:cNvPr id="36" name="TextBox 35">
            <a:extLst>
              <a:ext uri="{FF2B5EF4-FFF2-40B4-BE49-F238E27FC236}">
                <a16:creationId xmlns:a16="http://schemas.microsoft.com/office/drawing/2014/main" id="{2084CBE9-5684-FC47-9155-3F01645DFFB5}"/>
              </a:ext>
            </a:extLst>
          </p:cNvPr>
          <p:cNvSpPr txBox="1"/>
          <p:nvPr/>
        </p:nvSpPr>
        <p:spPr>
          <a:xfrm>
            <a:off x="1909131" y="4776310"/>
            <a:ext cx="877869" cy="276999"/>
          </a:xfrm>
          <a:prstGeom prst="rect">
            <a:avLst/>
          </a:prstGeom>
          <a:noFill/>
        </p:spPr>
        <p:txBody>
          <a:bodyPr wrap="none" rtlCol="0">
            <a:spAutoFit/>
          </a:bodyPr>
          <a:lstStyle/>
          <a:p>
            <a:r>
              <a:rPr lang="en-US" sz="1200" dirty="0" err="1"/>
              <a:t>myArray</a:t>
            </a:r>
            <a:r>
              <a:rPr lang="en-US" sz="1200" dirty="0"/>
              <a:t>[1]</a:t>
            </a:r>
          </a:p>
        </p:txBody>
      </p:sp>
      <p:sp>
        <p:nvSpPr>
          <p:cNvPr id="37" name="TextBox 36">
            <a:extLst>
              <a:ext uri="{FF2B5EF4-FFF2-40B4-BE49-F238E27FC236}">
                <a16:creationId xmlns:a16="http://schemas.microsoft.com/office/drawing/2014/main" id="{BB94DC6F-B68E-8C43-BB6F-746A63DDA4A8}"/>
              </a:ext>
            </a:extLst>
          </p:cNvPr>
          <p:cNvSpPr txBox="1"/>
          <p:nvPr/>
        </p:nvSpPr>
        <p:spPr>
          <a:xfrm>
            <a:off x="2669115" y="4776309"/>
            <a:ext cx="877869" cy="276999"/>
          </a:xfrm>
          <a:prstGeom prst="rect">
            <a:avLst/>
          </a:prstGeom>
          <a:noFill/>
        </p:spPr>
        <p:txBody>
          <a:bodyPr wrap="none" rtlCol="0">
            <a:spAutoFit/>
          </a:bodyPr>
          <a:lstStyle/>
          <a:p>
            <a:r>
              <a:rPr lang="en-US" sz="1200" dirty="0" err="1"/>
              <a:t>myArray</a:t>
            </a:r>
            <a:r>
              <a:rPr lang="en-US" sz="1200" dirty="0"/>
              <a:t>[2]</a:t>
            </a:r>
          </a:p>
        </p:txBody>
      </p:sp>
      <p:sp>
        <p:nvSpPr>
          <p:cNvPr id="39" name="TextBox 38">
            <a:extLst>
              <a:ext uri="{FF2B5EF4-FFF2-40B4-BE49-F238E27FC236}">
                <a16:creationId xmlns:a16="http://schemas.microsoft.com/office/drawing/2014/main" id="{3F4581EC-670D-1C41-AA73-FF9D7895B0A6}"/>
              </a:ext>
            </a:extLst>
          </p:cNvPr>
          <p:cNvSpPr txBox="1"/>
          <p:nvPr/>
        </p:nvSpPr>
        <p:spPr>
          <a:xfrm>
            <a:off x="3419632" y="4787231"/>
            <a:ext cx="877869" cy="276999"/>
          </a:xfrm>
          <a:prstGeom prst="rect">
            <a:avLst/>
          </a:prstGeom>
          <a:noFill/>
        </p:spPr>
        <p:txBody>
          <a:bodyPr wrap="none" rtlCol="0">
            <a:spAutoFit/>
          </a:bodyPr>
          <a:lstStyle/>
          <a:p>
            <a:r>
              <a:rPr lang="en-US" sz="1200" dirty="0" err="1"/>
              <a:t>myArray</a:t>
            </a:r>
            <a:r>
              <a:rPr lang="en-US" sz="1200" dirty="0"/>
              <a:t>[3]</a:t>
            </a:r>
          </a:p>
        </p:txBody>
      </p:sp>
      <p:sp>
        <p:nvSpPr>
          <p:cNvPr id="40" name="TextBox 39">
            <a:extLst>
              <a:ext uri="{FF2B5EF4-FFF2-40B4-BE49-F238E27FC236}">
                <a16:creationId xmlns:a16="http://schemas.microsoft.com/office/drawing/2014/main" id="{571BAD02-D4D4-CD46-BB0D-C1B0AF1512EF}"/>
              </a:ext>
            </a:extLst>
          </p:cNvPr>
          <p:cNvSpPr txBox="1"/>
          <p:nvPr/>
        </p:nvSpPr>
        <p:spPr>
          <a:xfrm>
            <a:off x="4112616" y="4776308"/>
            <a:ext cx="877869" cy="276999"/>
          </a:xfrm>
          <a:prstGeom prst="rect">
            <a:avLst/>
          </a:prstGeom>
          <a:noFill/>
        </p:spPr>
        <p:txBody>
          <a:bodyPr wrap="none" rtlCol="0">
            <a:spAutoFit/>
          </a:bodyPr>
          <a:lstStyle/>
          <a:p>
            <a:r>
              <a:rPr lang="en-US" sz="1200" dirty="0" err="1"/>
              <a:t>myArray</a:t>
            </a:r>
            <a:r>
              <a:rPr lang="en-US" sz="1200" dirty="0"/>
              <a:t>[4]</a:t>
            </a:r>
          </a:p>
        </p:txBody>
      </p:sp>
      <p:sp>
        <p:nvSpPr>
          <p:cNvPr id="41" name="TextBox 40">
            <a:extLst>
              <a:ext uri="{FF2B5EF4-FFF2-40B4-BE49-F238E27FC236}">
                <a16:creationId xmlns:a16="http://schemas.microsoft.com/office/drawing/2014/main" id="{B428F05D-7533-8444-882E-B2551ECEA497}"/>
              </a:ext>
            </a:extLst>
          </p:cNvPr>
          <p:cNvSpPr txBox="1"/>
          <p:nvPr/>
        </p:nvSpPr>
        <p:spPr>
          <a:xfrm>
            <a:off x="4892621" y="4775824"/>
            <a:ext cx="877869" cy="276999"/>
          </a:xfrm>
          <a:prstGeom prst="rect">
            <a:avLst/>
          </a:prstGeom>
          <a:noFill/>
        </p:spPr>
        <p:txBody>
          <a:bodyPr wrap="none" rtlCol="0">
            <a:spAutoFit/>
          </a:bodyPr>
          <a:lstStyle/>
          <a:p>
            <a:r>
              <a:rPr lang="en-US" sz="1200" dirty="0" err="1"/>
              <a:t>myArray</a:t>
            </a:r>
            <a:r>
              <a:rPr lang="en-US" sz="1200" dirty="0"/>
              <a:t>[5]</a:t>
            </a:r>
          </a:p>
        </p:txBody>
      </p:sp>
      <p:sp>
        <p:nvSpPr>
          <p:cNvPr id="42" name="TextBox 41">
            <a:extLst>
              <a:ext uri="{FF2B5EF4-FFF2-40B4-BE49-F238E27FC236}">
                <a16:creationId xmlns:a16="http://schemas.microsoft.com/office/drawing/2014/main" id="{B793CF45-D31F-4342-B6D6-70CB01E80833}"/>
              </a:ext>
            </a:extLst>
          </p:cNvPr>
          <p:cNvSpPr txBox="1"/>
          <p:nvPr/>
        </p:nvSpPr>
        <p:spPr>
          <a:xfrm>
            <a:off x="2916362" y="4102617"/>
            <a:ext cx="301686" cy="369332"/>
          </a:xfrm>
          <a:prstGeom prst="rect">
            <a:avLst/>
          </a:prstGeom>
          <a:noFill/>
        </p:spPr>
        <p:txBody>
          <a:bodyPr wrap="none" rtlCol="0">
            <a:spAutoFit/>
          </a:bodyPr>
          <a:lstStyle/>
          <a:p>
            <a:r>
              <a:rPr lang="en-US" dirty="0"/>
              <a:t>2</a:t>
            </a:r>
          </a:p>
        </p:txBody>
      </p:sp>
      <p:sp>
        <p:nvSpPr>
          <p:cNvPr id="43" name="TextBox 42">
            <a:extLst>
              <a:ext uri="{FF2B5EF4-FFF2-40B4-BE49-F238E27FC236}">
                <a16:creationId xmlns:a16="http://schemas.microsoft.com/office/drawing/2014/main" id="{5062D2D0-A642-1E46-BCAA-1C18D2171CE8}"/>
              </a:ext>
            </a:extLst>
          </p:cNvPr>
          <p:cNvSpPr txBox="1"/>
          <p:nvPr/>
        </p:nvSpPr>
        <p:spPr>
          <a:xfrm>
            <a:off x="3694733" y="4116010"/>
            <a:ext cx="301686" cy="369332"/>
          </a:xfrm>
          <a:prstGeom prst="rect">
            <a:avLst/>
          </a:prstGeom>
          <a:noFill/>
        </p:spPr>
        <p:txBody>
          <a:bodyPr wrap="none" rtlCol="0">
            <a:spAutoFit/>
          </a:bodyPr>
          <a:lstStyle/>
          <a:p>
            <a:r>
              <a:rPr lang="en-US" dirty="0"/>
              <a:t>3</a:t>
            </a:r>
          </a:p>
        </p:txBody>
      </p:sp>
      <p:sp>
        <p:nvSpPr>
          <p:cNvPr id="44" name="TextBox 43">
            <a:extLst>
              <a:ext uri="{FF2B5EF4-FFF2-40B4-BE49-F238E27FC236}">
                <a16:creationId xmlns:a16="http://schemas.microsoft.com/office/drawing/2014/main" id="{78EEADBF-7C23-224F-8B4B-BF5429501C53}"/>
              </a:ext>
            </a:extLst>
          </p:cNvPr>
          <p:cNvSpPr txBox="1"/>
          <p:nvPr/>
        </p:nvSpPr>
        <p:spPr>
          <a:xfrm>
            <a:off x="4432381" y="4139507"/>
            <a:ext cx="301686" cy="369332"/>
          </a:xfrm>
          <a:prstGeom prst="rect">
            <a:avLst/>
          </a:prstGeom>
          <a:noFill/>
        </p:spPr>
        <p:txBody>
          <a:bodyPr wrap="none" rtlCol="0">
            <a:spAutoFit/>
          </a:bodyPr>
          <a:lstStyle/>
          <a:p>
            <a:r>
              <a:rPr lang="en-US" dirty="0"/>
              <a:t>5</a:t>
            </a:r>
          </a:p>
        </p:txBody>
      </p:sp>
      <p:sp>
        <p:nvSpPr>
          <p:cNvPr id="45" name="TextBox 44">
            <a:extLst>
              <a:ext uri="{FF2B5EF4-FFF2-40B4-BE49-F238E27FC236}">
                <a16:creationId xmlns:a16="http://schemas.microsoft.com/office/drawing/2014/main" id="{493A0B31-271C-8C46-9955-F489F71BC54F}"/>
              </a:ext>
            </a:extLst>
          </p:cNvPr>
          <p:cNvSpPr txBox="1"/>
          <p:nvPr/>
        </p:nvSpPr>
        <p:spPr>
          <a:xfrm>
            <a:off x="5077737" y="4167503"/>
            <a:ext cx="301686" cy="369332"/>
          </a:xfrm>
          <a:prstGeom prst="rect">
            <a:avLst/>
          </a:prstGeom>
          <a:noFill/>
        </p:spPr>
        <p:txBody>
          <a:bodyPr wrap="none" rtlCol="0">
            <a:spAutoFit/>
          </a:bodyPr>
          <a:lstStyle/>
          <a:p>
            <a:r>
              <a:rPr lang="en-US" dirty="0"/>
              <a:t>8</a:t>
            </a:r>
          </a:p>
        </p:txBody>
      </p:sp>
    </p:spTree>
    <p:extLst>
      <p:ext uri="{BB962C8B-B14F-4D97-AF65-F5344CB8AC3E}">
        <p14:creationId xmlns:p14="http://schemas.microsoft.com/office/powerpoint/2010/main" val="39303072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arrays</a:t>
            </a:r>
          </a:p>
        </p:txBody>
      </p:sp>
      <p:sp>
        <p:nvSpPr>
          <p:cNvPr id="14" name="Content Placeholder 2">
            <a:extLst>
              <a:ext uri="{FF2B5EF4-FFF2-40B4-BE49-F238E27FC236}">
                <a16:creationId xmlns:a16="http://schemas.microsoft.com/office/drawing/2014/main" id="{7B147281-921E-3047-97E3-08C183CD5A02}"/>
              </a:ext>
            </a:extLst>
          </p:cNvPr>
          <p:cNvSpPr>
            <a:spLocks noGrp="1"/>
          </p:cNvSpPr>
          <p:nvPr>
            <p:ph idx="1"/>
          </p:nvPr>
        </p:nvSpPr>
        <p:spPr>
          <a:xfrm>
            <a:off x="173181" y="1579453"/>
            <a:ext cx="3725990" cy="4837972"/>
          </a:xfrm>
        </p:spPr>
        <p:txBody>
          <a:bodyPr>
            <a:noAutofit/>
          </a:bodyPr>
          <a:lstStyle/>
          <a:p>
            <a:pPr marL="0" indent="0">
              <a:buNone/>
            </a:pPr>
            <a:r>
              <a:rPr lang="en-US" sz="1800" dirty="0"/>
              <a:t>arrays are contiguous blocks of memory, starting at the address associated with the name of the array and advancing from there. </a:t>
            </a:r>
          </a:p>
          <a:p>
            <a:pPr marL="0" indent="0">
              <a:buNone/>
            </a:pPr>
            <a:endParaRPr lang="en-US" sz="1800" dirty="0"/>
          </a:p>
          <a:p>
            <a:pPr marL="0" indent="0">
              <a:buNone/>
            </a:pPr>
            <a:endParaRPr lang="en-US" sz="1800" dirty="0"/>
          </a:p>
          <a:p>
            <a:pPr marL="0" indent="0">
              <a:buNone/>
            </a:pPr>
            <a:br>
              <a:rPr lang="en-US" sz="1800" dirty="0"/>
            </a:br>
            <a:br>
              <a:rPr lang="en-US" sz="1800" dirty="0"/>
            </a:br>
            <a:endParaRPr lang="en-US" sz="1800" dirty="0"/>
          </a:p>
        </p:txBody>
      </p:sp>
      <p:sp>
        <p:nvSpPr>
          <p:cNvPr id="38" name="Right Arrow 37">
            <a:extLst>
              <a:ext uri="{FF2B5EF4-FFF2-40B4-BE49-F238E27FC236}">
                <a16:creationId xmlns:a16="http://schemas.microsoft.com/office/drawing/2014/main" id="{949A6122-451E-3142-A58E-9E4F93B5D848}"/>
              </a:ext>
            </a:extLst>
          </p:cNvPr>
          <p:cNvSpPr/>
          <p:nvPr/>
        </p:nvSpPr>
        <p:spPr>
          <a:xfrm rot="2912595">
            <a:off x="9668126" y="4704480"/>
            <a:ext cx="1097313" cy="66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2F5E8035-F562-5449-9885-B12E42972208}"/>
              </a:ext>
            </a:extLst>
          </p:cNvPr>
          <p:cNvSpPr txBox="1"/>
          <p:nvPr/>
        </p:nvSpPr>
        <p:spPr>
          <a:xfrm>
            <a:off x="7491301" y="4320086"/>
            <a:ext cx="2372509" cy="646331"/>
          </a:xfrm>
          <a:prstGeom prst="rect">
            <a:avLst/>
          </a:prstGeom>
          <a:noFill/>
        </p:spPr>
        <p:txBody>
          <a:bodyPr wrap="none" rtlCol="0">
            <a:spAutoFit/>
          </a:bodyPr>
          <a:lstStyle/>
          <a:p>
            <a:r>
              <a:rPr lang="en-US" dirty="0"/>
              <a:t>here's what I get when </a:t>
            </a:r>
          </a:p>
          <a:p>
            <a:r>
              <a:rPr lang="en-US" dirty="0"/>
              <a:t>I run this</a:t>
            </a:r>
          </a:p>
        </p:txBody>
      </p:sp>
      <p:pic>
        <p:nvPicPr>
          <p:cNvPr id="5" name="Picture 4">
            <a:extLst>
              <a:ext uri="{FF2B5EF4-FFF2-40B4-BE49-F238E27FC236}">
                <a16:creationId xmlns:a16="http://schemas.microsoft.com/office/drawing/2014/main" id="{91C70CA2-894A-C644-8E42-6E00137AD164}"/>
              </a:ext>
            </a:extLst>
          </p:cNvPr>
          <p:cNvPicPr>
            <a:picLocks noChangeAspect="1"/>
          </p:cNvPicPr>
          <p:nvPr/>
        </p:nvPicPr>
        <p:blipFill>
          <a:blip r:embed="rId2"/>
          <a:stretch>
            <a:fillRect/>
          </a:stretch>
        </p:blipFill>
        <p:spPr>
          <a:xfrm>
            <a:off x="6583076" y="253890"/>
            <a:ext cx="4965700" cy="3594100"/>
          </a:xfrm>
          <a:prstGeom prst="rect">
            <a:avLst/>
          </a:prstGeom>
        </p:spPr>
      </p:pic>
      <p:pic>
        <p:nvPicPr>
          <p:cNvPr id="12" name="Picture 11">
            <a:extLst>
              <a:ext uri="{FF2B5EF4-FFF2-40B4-BE49-F238E27FC236}">
                <a16:creationId xmlns:a16="http://schemas.microsoft.com/office/drawing/2014/main" id="{F9E8C174-9F7C-5442-BC66-9B309E4C7952}"/>
              </a:ext>
            </a:extLst>
          </p:cNvPr>
          <p:cNvPicPr>
            <a:picLocks noChangeAspect="1"/>
          </p:cNvPicPr>
          <p:nvPr/>
        </p:nvPicPr>
        <p:blipFill>
          <a:blip r:embed="rId3"/>
          <a:stretch>
            <a:fillRect/>
          </a:stretch>
        </p:blipFill>
        <p:spPr>
          <a:xfrm>
            <a:off x="4244198" y="5754187"/>
            <a:ext cx="6934200" cy="952500"/>
          </a:xfrm>
          <a:prstGeom prst="rect">
            <a:avLst/>
          </a:prstGeom>
        </p:spPr>
      </p:pic>
      <p:sp>
        <p:nvSpPr>
          <p:cNvPr id="8" name="Right Arrow 7">
            <a:extLst>
              <a:ext uri="{FF2B5EF4-FFF2-40B4-BE49-F238E27FC236}">
                <a16:creationId xmlns:a16="http://schemas.microsoft.com/office/drawing/2014/main" id="{34331863-7B48-F04F-8163-D037B3BE0A6A}"/>
              </a:ext>
            </a:extLst>
          </p:cNvPr>
          <p:cNvSpPr/>
          <p:nvPr/>
        </p:nvSpPr>
        <p:spPr>
          <a:xfrm>
            <a:off x="5820026" y="2034566"/>
            <a:ext cx="1671275" cy="66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3528D9B1-449D-BB46-A5C4-9E7C21E177C5}"/>
              </a:ext>
            </a:extLst>
          </p:cNvPr>
          <p:cNvSpPr txBox="1"/>
          <p:nvPr/>
        </p:nvSpPr>
        <p:spPr>
          <a:xfrm>
            <a:off x="4018443" y="927555"/>
            <a:ext cx="1801583" cy="2246769"/>
          </a:xfrm>
          <a:prstGeom prst="rect">
            <a:avLst/>
          </a:prstGeom>
          <a:noFill/>
        </p:spPr>
        <p:txBody>
          <a:bodyPr wrap="square" rtlCol="0">
            <a:spAutoFit/>
          </a:bodyPr>
          <a:lstStyle/>
          <a:p>
            <a:r>
              <a:rPr lang="en-US" sz="1400" dirty="0"/>
              <a:t>this is maybe</a:t>
            </a:r>
          </a:p>
          <a:p>
            <a:r>
              <a:rPr lang="en-US" sz="1400" dirty="0"/>
              <a:t>the weirdest </a:t>
            </a:r>
          </a:p>
          <a:p>
            <a:r>
              <a:rPr lang="en-US" sz="1400" dirty="0"/>
              <a:t>thing I'll show</a:t>
            </a:r>
          </a:p>
          <a:p>
            <a:r>
              <a:rPr lang="en-US" sz="1400" dirty="0"/>
              <a:t>you all semester. </a:t>
            </a:r>
            <a:br>
              <a:rPr lang="en-US" sz="1400" dirty="0"/>
            </a:br>
            <a:br>
              <a:rPr lang="en-US" sz="1400" dirty="0"/>
            </a:br>
            <a:r>
              <a:rPr lang="en-US" sz="1400" dirty="0"/>
              <a:t>if you don't get</a:t>
            </a:r>
          </a:p>
          <a:p>
            <a:r>
              <a:rPr lang="en-US" sz="1400" dirty="0"/>
              <a:t>it, that's fine... </a:t>
            </a:r>
          </a:p>
          <a:p>
            <a:r>
              <a:rPr lang="en-US" sz="1400" dirty="0"/>
              <a:t>you will by </a:t>
            </a:r>
          </a:p>
          <a:p>
            <a:r>
              <a:rPr lang="en-US" sz="1400" dirty="0"/>
              <a:t>about seven</a:t>
            </a:r>
          </a:p>
          <a:p>
            <a:r>
              <a:rPr lang="en-US" sz="1400" dirty="0"/>
              <a:t>weeks from now</a:t>
            </a:r>
          </a:p>
        </p:txBody>
      </p:sp>
    </p:spTree>
    <p:extLst>
      <p:ext uri="{BB962C8B-B14F-4D97-AF65-F5344CB8AC3E}">
        <p14:creationId xmlns:p14="http://schemas.microsoft.com/office/powerpoint/2010/main" val="39846872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arrays</a:t>
            </a:r>
          </a:p>
        </p:txBody>
      </p:sp>
      <p:sp>
        <p:nvSpPr>
          <p:cNvPr id="14" name="Content Placeholder 2">
            <a:extLst>
              <a:ext uri="{FF2B5EF4-FFF2-40B4-BE49-F238E27FC236}">
                <a16:creationId xmlns:a16="http://schemas.microsoft.com/office/drawing/2014/main" id="{7B147281-921E-3047-97E3-08C183CD5A02}"/>
              </a:ext>
            </a:extLst>
          </p:cNvPr>
          <p:cNvSpPr>
            <a:spLocks noGrp="1"/>
          </p:cNvSpPr>
          <p:nvPr>
            <p:ph idx="1"/>
          </p:nvPr>
        </p:nvSpPr>
        <p:spPr>
          <a:xfrm>
            <a:off x="173181" y="1579453"/>
            <a:ext cx="3725990" cy="4837972"/>
          </a:xfrm>
        </p:spPr>
        <p:txBody>
          <a:bodyPr>
            <a:noAutofit/>
          </a:bodyPr>
          <a:lstStyle/>
          <a:p>
            <a:pPr marL="0" indent="0">
              <a:buNone/>
            </a:pPr>
            <a:r>
              <a:rPr lang="en-US" sz="1800" dirty="0"/>
              <a:t>arrays are contiguous blocks of memory, starting at the address associated with the name of the array and advancing from there. </a:t>
            </a:r>
          </a:p>
          <a:p>
            <a:pPr marL="0" indent="0">
              <a:buNone/>
            </a:pPr>
            <a:endParaRPr lang="en-US" sz="1800" dirty="0"/>
          </a:p>
          <a:p>
            <a:pPr marL="0" indent="0">
              <a:buNone/>
            </a:pPr>
            <a:endParaRPr lang="en-US" sz="1800" dirty="0"/>
          </a:p>
          <a:p>
            <a:pPr marL="0" indent="0">
              <a:buNone/>
            </a:pPr>
            <a:br>
              <a:rPr lang="en-US" sz="1800" dirty="0"/>
            </a:br>
            <a:br>
              <a:rPr lang="en-US" sz="1800" dirty="0"/>
            </a:br>
            <a:endParaRPr lang="en-US" sz="1800" dirty="0"/>
          </a:p>
        </p:txBody>
      </p:sp>
      <p:sp>
        <p:nvSpPr>
          <p:cNvPr id="38" name="Right Arrow 37">
            <a:extLst>
              <a:ext uri="{FF2B5EF4-FFF2-40B4-BE49-F238E27FC236}">
                <a16:creationId xmlns:a16="http://schemas.microsoft.com/office/drawing/2014/main" id="{949A6122-451E-3142-A58E-9E4F93B5D848}"/>
              </a:ext>
            </a:extLst>
          </p:cNvPr>
          <p:cNvSpPr/>
          <p:nvPr/>
        </p:nvSpPr>
        <p:spPr>
          <a:xfrm rot="2912595">
            <a:off x="9668126" y="4704480"/>
            <a:ext cx="1097313" cy="66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2F5E8035-F562-5449-9885-B12E42972208}"/>
              </a:ext>
            </a:extLst>
          </p:cNvPr>
          <p:cNvSpPr txBox="1"/>
          <p:nvPr/>
        </p:nvSpPr>
        <p:spPr>
          <a:xfrm>
            <a:off x="7491301" y="4320086"/>
            <a:ext cx="2372509" cy="646331"/>
          </a:xfrm>
          <a:prstGeom prst="rect">
            <a:avLst/>
          </a:prstGeom>
          <a:noFill/>
        </p:spPr>
        <p:txBody>
          <a:bodyPr wrap="none" rtlCol="0">
            <a:spAutoFit/>
          </a:bodyPr>
          <a:lstStyle/>
          <a:p>
            <a:r>
              <a:rPr lang="en-US" dirty="0"/>
              <a:t>here's what I get when </a:t>
            </a:r>
          </a:p>
          <a:p>
            <a:r>
              <a:rPr lang="en-US" dirty="0"/>
              <a:t>I run this</a:t>
            </a:r>
          </a:p>
        </p:txBody>
      </p:sp>
      <p:pic>
        <p:nvPicPr>
          <p:cNvPr id="5" name="Picture 4">
            <a:extLst>
              <a:ext uri="{FF2B5EF4-FFF2-40B4-BE49-F238E27FC236}">
                <a16:creationId xmlns:a16="http://schemas.microsoft.com/office/drawing/2014/main" id="{91C70CA2-894A-C644-8E42-6E00137AD164}"/>
              </a:ext>
            </a:extLst>
          </p:cNvPr>
          <p:cNvPicPr>
            <a:picLocks noChangeAspect="1"/>
          </p:cNvPicPr>
          <p:nvPr/>
        </p:nvPicPr>
        <p:blipFill>
          <a:blip r:embed="rId2"/>
          <a:stretch>
            <a:fillRect/>
          </a:stretch>
        </p:blipFill>
        <p:spPr>
          <a:xfrm>
            <a:off x="6583076" y="253890"/>
            <a:ext cx="4965700" cy="3594100"/>
          </a:xfrm>
          <a:prstGeom prst="rect">
            <a:avLst/>
          </a:prstGeom>
        </p:spPr>
      </p:pic>
      <p:pic>
        <p:nvPicPr>
          <p:cNvPr id="12" name="Picture 11">
            <a:extLst>
              <a:ext uri="{FF2B5EF4-FFF2-40B4-BE49-F238E27FC236}">
                <a16:creationId xmlns:a16="http://schemas.microsoft.com/office/drawing/2014/main" id="{F9E8C174-9F7C-5442-BC66-9B309E4C7952}"/>
              </a:ext>
            </a:extLst>
          </p:cNvPr>
          <p:cNvPicPr>
            <a:picLocks noChangeAspect="1"/>
          </p:cNvPicPr>
          <p:nvPr/>
        </p:nvPicPr>
        <p:blipFill>
          <a:blip r:embed="rId3"/>
          <a:stretch>
            <a:fillRect/>
          </a:stretch>
        </p:blipFill>
        <p:spPr>
          <a:xfrm>
            <a:off x="4244198" y="5754187"/>
            <a:ext cx="6934200" cy="952500"/>
          </a:xfrm>
          <a:prstGeom prst="rect">
            <a:avLst/>
          </a:prstGeom>
        </p:spPr>
      </p:pic>
      <p:sp>
        <p:nvSpPr>
          <p:cNvPr id="8" name="Right Arrow 7">
            <a:extLst>
              <a:ext uri="{FF2B5EF4-FFF2-40B4-BE49-F238E27FC236}">
                <a16:creationId xmlns:a16="http://schemas.microsoft.com/office/drawing/2014/main" id="{34331863-7B48-F04F-8163-D037B3BE0A6A}"/>
              </a:ext>
            </a:extLst>
          </p:cNvPr>
          <p:cNvSpPr/>
          <p:nvPr/>
        </p:nvSpPr>
        <p:spPr>
          <a:xfrm>
            <a:off x="5820026" y="2034566"/>
            <a:ext cx="1671275" cy="6653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3528D9B1-449D-BB46-A5C4-9E7C21E177C5}"/>
              </a:ext>
            </a:extLst>
          </p:cNvPr>
          <p:cNvSpPr txBox="1"/>
          <p:nvPr/>
        </p:nvSpPr>
        <p:spPr>
          <a:xfrm>
            <a:off x="4018443" y="927555"/>
            <a:ext cx="1801583" cy="2246769"/>
          </a:xfrm>
          <a:prstGeom prst="rect">
            <a:avLst/>
          </a:prstGeom>
          <a:noFill/>
        </p:spPr>
        <p:txBody>
          <a:bodyPr wrap="square" rtlCol="0">
            <a:spAutoFit/>
          </a:bodyPr>
          <a:lstStyle/>
          <a:p>
            <a:r>
              <a:rPr lang="en-US" sz="1400" dirty="0"/>
              <a:t>this is maybe</a:t>
            </a:r>
          </a:p>
          <a:p>
            <a:r>
              <a:rPr lang="en-US" sz="1400" dirty="0"/>
              <a:t>the weirdest </a:t>
            </a:r>
          </a:p>
          <a:p>
            <a:r>
              <a:rPr lang="en-US" sz="1400" dirty="0"/>
              <a:t>thing I'll show</a:t>
            </a:r>
          </a:p>
          <a:p>
            <a:r>
              <a:rPr lang="en-US" sz="1400" dirty="0"/>
              <a:t>you all semester. </a:t>
            </a:r>
            <a:br>
              <a:rPr lang="en-US" sz="1400" dirty="0"/>
            </a:br>
            <a:br>
              <a:rPr lang="en-US" sz="1400" dirty="0"/>
            </a:br>
            <a:r>
              <a:rPr lang="en-US" sz="1400" dirty="0"/>
              <a:t>if you don't get</a:t>
            </a:r>
          </a:p>
          <a:p>
            <a:r>
              <a:rPr lang="en-US" sz="1400" dirty="0"/>
              <a:t>it, that's fine... </a:t>
            </a:r>
          </a:p>
          <a:p>
            <a:r>
              <a:rPr lang="en-US" sz="1400" dirty="0"/>
              <a:t>you will by </a:t>
            </a:r>
          </a:p>
          <a:p>
            <a:r>
              <a:rPr lang="en-US" sz="1400" dirty="0"/>
              <a:t>about seven</a:t>
            </a:r>
          </a:p>
          <a:p>
            <a:r>
              <a:rPr lang="en-US" sz="1400" dirty="0"/>
              <a:t>weeks from now</a:t>
            </a:r>
          </a:p>
        </p:txBody>
      </p:sp>
      <p:pic>
        <p:nvPicPr>
          <p:cNvPr id="2054" name="Picture 6" descr="Image result for lolwut">
            <a:extLst>
              <a:ext uri="{FF2B5EF4-FFF2-40B4-BE49-F238E27FC236}">
                <a16:creationId xmlns:a16="http://schemas.microsoft.com/office/drawing/2014/main" id="{B57280B1-63D1-9045-8B81-2D4109A7B3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1071" y="3998439"/>
            <a:ext cx="2578100" cy="1933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58716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arrays under the hood</a:t>
            </a:r>
          </a:p>
        </p:txBody>
      </p:sp>
      <p:sp>
        <p:nvSpPr>
          <p:cNvPr id="4" name="Content Placeholder 3">
            <a:extLst>
              <a:ext uri="{FF2B5EF4-FFF2-40B4-BE49-F238E27FC236}">
                <a16:creationId xmlns:a16="http://schemas.microsoft.com/office/drawing/2014/main" id="{1602A1A5-352D-8C4C-859B-8E82830B9F79}"/>
              </a:ext>
            </a:extLst>
          </p:cNvPr>
          <p:cNvSpPr>
            <a:spLocks noGrp="1"/>
          </p:cNvSpPr>
          <p:nvPr>
            <p:ph idx="1"/>
          </p:nvPr>
        </p:nvSpPr>
        <p:spPr/>
        <p:txBody>
          <a:bodyPr/>
          <a:lstStyle/>
          <a:p>
            <a:r>
              <a:rPr lang="en-US" dirty="0"/>
              <a:t>arrays names refer to addresses.</a:t>
            </a:r>
            <a:br>
              <a:rPr lang="en-US" dirty="0"/>
            </a:br>
            <a:endParaRPr lang="en-US" dirty="0"/>
          </a:p>
          <a:p>
            <a:r>
              <a:rPr lang="en-US" dirty="0"/>
              <a:t>I'm going to repeat this again: array names refer to </a:t>
            </a:r>
            <a:r>
              <a:rPr lang="en-US" i="1" dirty="0"/>
              <a:t>addresses</a:t>
            </a:r>
            <a:r>
              <a:rPr lang="en-US" dirty="0"/>
              <a:t>.</a:t>
            </a:r>
            <a:br>
              <a:rPr lang="en-US" dirty="0"/>
            </a:br>
            <a:endParaRPr lang="en-US" dirty="0"/>
          </a:p>
        </p:txBody>
      </p:sp>
      <p:pic>
        <p:nvPicPr>
          <p:cNvPr id="6" name="Picture 5">
            <a:extLst>
              <a:ext uri="{FF2B5EF4-FFF2-40B4-BE49-F238E27FC236}">
                <a16:creationId xmlns:a16="http://schemas.microsoft.com/office/drawing/2014/main" id="{E4FF4927-D656-9E47-815C-18BC59643745}"/>
              </a:ext>
            </a:extLst>
          </p:cNvPr>
          <p:cNvPicPr>
            <a:picLocks noChangeAspect="1"/>
          </p:cNvPicPr>
          <p:nvPr/>
        </p:nvPicPr>
        <p:blipFill>
          <a:blip r:embed="rId2"/>
          <a:stretch>
            <a:fillRect/>
          </a:stretch>
        </p:blipFill>
        <p:spPr>
          <a:xfrm>
            <a:off x="838198" y="3413235"/>
            <a:ext cx="5245100" cy="3009900"/>
          </a:xfrm>
          <a:prstGeom prst="rect">
            <a:avLst/>
          </a:prstGeom>
        </p:spPr>
      </p:pic>
      <p:sp>
        <p:nvSpPr>
          <p:cNvPr id="7" name="Right Arrow 6">
            <a:extLst>
              <a:ext uri="{FF2B5EF4-FFF2-40B4-BE49-F238E27FC236}">
                <a16:creationId xmlns:a16="http://schemas.microsoft.com/office/drawing/2014/main" id="{1A5F02B2-1E9B-1E4D-9429-1FEC0C73062B}"/>
              </a:ext>
            </a:extLst>
          </p:cNvPr>
          <p:cNvSpPr/>
          <p:nvPr/>
        </p:nvSpPr>
        <p:spPr>
          <a:xfrm rot="10800000">
            <a:off x="6555545" y="4174045"/>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1EEB401-6EBF-6646-90C5-D4727919030F}"/>
              </a:ext>
            </a:extLst>
          </p:cNvPr>
          <p:cNvSpPr txBox="1"/>
          <p:nvPr/>
        </p:nvSpPr>
        <p:spPr>
          <a:xfrm>
            <a:off x="6457071" y="3558541"/>
            <a:ext cx="1653017" cy="369332"/>
          </a:xfrm>
          <a:prstGeom prst="rect">
            <a:avLst/>
          </a:prstGeom>
          <a:noFill/>
        </p:spPr>
        <p:txBody>
          <a:bodyPr wrap="none" rtlCol="0">
            <a:spAutoFit/>
          </a:bodyPr>
          <a:lstStyle/>
          <a:p>
            <a:r>
              <a:rPr lang="en-US" dirty="0"/>
              <a:t>when I run this:</a:t>
            </a:r>
          </a:p>
        </p:txBody>
      </p:sp>
      <p:sp>
        <p:nvSpPr>
          <p:cNvPr id="9" name="TextBox 8">
            <a:extLst>
              <a:ext uri="{FF2B5EF4-FFF2-40B4-BE49-F238E27FC236}">
                <a16:creationId xmlns:a16="http://schemas.microsoft.com/office/drawing/2014/main" id="{0660E7BD-BF30-D048-A9D8-E3D93F69F19C}"/>
              </a:ext>
            </a:extLst>
          </p:cNvPr>
          <p:cNvSpPr txBox="1"/>
          <p:nvPr/>
        </p:nvSpPr>
        <p:spPr>
          <a:xfrm>
            <a:off x="6483601" y="5048488"/>
            <a:ext cx="1050352" cy="369332"/>
          </a:xfrm>
          <a:prstGeom prst="rect">
            <a:avLst/>
          </a:prstGeom>
          <a:noFill/>
        </p:spPr>
        <p:txBody>
          <a:bodyPr wrap="none" rtlCol="0">
            <a:spAutoFit/>
          </a:bodyPr>
          <a:lstStyle/>
          <a:p>
            <a:r>
              <a:rPr lang="en-US" dirty="0"/>
              <a:t>I get this:</a:t>
            </a:r>
          </a:p>
        </p:txBody>
      </p:sp>
      <p:sp>
        <p:nvSpPr>
          <p:cNvPr id="15" name="Right Arrow 14">
            <a:extLst>
              <a:ext uri="{FF2B5EF4-FFF2-40B4-BE49-F238E27FC236}">
                <a16:creationId xmlns:a16="http://schemas.microsoft.com/office/drawing/2014/main" id="{4FEBEF06-8305-9040-ACB6-3FE125B088B3}"/>
              </a:ext>
            </a:extLst>
          </p:cNvPr>
          <p:cNvSpPr/>
          <p:nvPr/>
        </p:nvSpPr>
        <p:spPr>
          <a:xfrm>
            <a:off x="6552059" y="5536977"/>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2706161-5980-994E-ADF0-C2F3B4428F94}"/>
              </a:ext>
            </a:extLst>
          </p:cNvPr>
          <p:cNvPicPr>
            <a:picLocks noChangeAspect="1"/>
          </p:cNvPicPr>
          <p:nvPr/>
        </p:nvPicPr>
        <p:blipFill>
          <a:blip r:embed="rId3"/>
          <a:stretch>
            <a:fillRect/>
          </a:stretch>
        </p:blipFill>
        <p:spPr>
          <a:xfrm>
            <a:off x="7643973" y="5211763"/>
            <a:ext cx="3746500" cy="965200"/>
          </a:xfrm>
          <a:prstGeom prst="rect">
            <a:avLst/>
          </a:prstGeom>
        </p:spPr>
      </p:pic>
      <p:sp>
        <p:nvSpPr>
          <p:cNvPr id="17" name="Right Arrow 16">
            <a:extLst>
              <a:ext uri="{FF2B5EF4-FFF2-40B4-BE49-F238E27FC236}">
                <a16:creationId xmlns:a16="http://schemas.microsoft.com/office/drawing/2014/main" id="{91E33F41-9709-2441-B8F7-39CF9061CDD2}"/>
              </a:ext>
            </a:extLst>
          </p:cNvPr>
          <p:cNvSpPr/>
          <p:nvPr/>
        </p:nvSpPr>
        <p:spPr>
          <a:xfrm rot="6146064">
            <a:off x="7962852" y="4922142"/>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235FE88-3161-F943-8B97-C07A77B62372}"/>
              </a:ext>
            </a:extLst>
          </p:cNvPr>
          <p:cNvSpPr txBox="1"/>
          <p:nvPr/>
        </p:nvSpPr>
        <p:spPr>
          <a:xfrm>
            <a:off x="8452056" y="4047029"/>
            <a:ext cx="1595501" cy="369332"/>
          </a:xfrm>
          <a:prstGeom prst="rect">
            <a:avLst/>
          </a:prstGeom>
          <a:noFill/>
        </p:spPr>
        <p:txBody>
          <a:bodyPr wrap="none" rtlCol="0">
            <a:spAutoFit/>
          </a:bodyPr>
          <a:lstStyle/>
          <a:p>
            <a:r>
              <a:rPr lang="en-US" dirty="0"/>
              <a:t>it's an address!</a:t>
            </a:r>
          </a:p>
        </p:txBody>
      </p:sp>
    </p:spTree>
    <p:extLst>
      <p:ext uri="{BB962C8B-B14F-4D97-AF65-F5344CB8AC3E}">
        <p14:creationId xmlns:p14="http://schemas.microsoft.com/office/powerpoint/2010/main" val="23141789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43E6A8-A881-904D-9111-B74A4E0646D1}"/>
              </a:ext>
            </a:extLst>
          </p:cNvPr>
          <p:cNvPicPr>
            <a:picLocks noChangeAspect="1"/>
          </p:cNvPicPr>
          <p:nvPr/>
        </p:nvPicPr>
        <p:blipFill>
          <a:blip r:embed="rId2"/>
          <a:stretch>
            <a:fillRect/>
          </a:stretch>
        </p:blipFill>
        <p:spPr>
          <a:xfrm>
            <a:off x="7014637" y="5421508"/>
            <a:ext cx="4749800" cy="11049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arrays under the hood</a:t>
            </a:r>
          </a:p>
        </p:txBody>
      </p:sp>
      <p:sp>
        <p:nvSpPr>
          <p:cNvPr id="4" name="Content Placeholder 3">
            <a:extLst>
              <a:ext uri="{FF2B5EF4-FFF2-40B4-BE49-F238E27FC236}">
                <a16:creationId xmlns:a16="http://schemas.microsoft.com/office/drawing/2014/main" id="{1602A1A5-352D-8C4C-859B-8E82830B9F79}"/>
              </a:ext>
            </a:extLst>
          </p:cNvPr>
          <p:cNvSpPr>
            <a:spLocks noGrp="1"/>
          </p:cNvSpPr>
          <p:nvPr>
            <p:ph idx="1"/>
          </p:nvPr>
        </p:nvSpPr>
        <p:spPr/>
        <p:txBody>
          <a:bodyPr/>
          <a:lstStyle/>
          <a:p>
            <a:r>
              <a:rPr lang="en-US" dirty="0"/>
              <a:t>if you dereference an array using the * operator, you get the first value in the array</a:t>
            </a:r>
          </a:p>
          <a:p>
            <a:r>
              <a:rPr lang="en-US" dirty="0"/>
              <a:t>… cool, right?</a:t>
            </a:r>
          </a:p>
        </p:txBody>
      </p:sp>
      <p:sp>
        <p:nvSpPr>
          <p:cNvPr id="7" name="Right Arrow 6">
            <a:extLst>
              <a:ext uri="{FF2B5EF4-FFF2-40B4-BE49-F238E27FC236}">
                <a16:creationId xmlns:a16="http://schemas.microsoft.com/office/drawing/2014/main" id="{1A5F02B2-1E9B-1E4D-9429-1FEC0C73062B}"/>
              </a:ext>
            </a:extLst>
          </p:cNvPr>
          <p:cNvSpPr/>
          <p:nvPr/>
        </p:nvSpPr>
        <p:spPr>
          <a:xfrm rot="10800000">
            <a:off x="6183469" y="3880146"/>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1EEB401-6EBF-6646-90C5-D4727919030F}"/>
              </a:ext>
            </a:extLst>
          </p:cNvPr>
          <p:cNvSpPr txBox="1"/>
          <p:nvPr/>
        </p:nvSpPr>
        <p:spPr>
          <a:xfrm>
            <a:off x="6457071" y="3558541"/>
            <a:ext cx="1653017" cy="369332"/>
          </a:xfrm>
          <a:prstGeom prst="rect">
            <a:avLst/>
          </a:prstGeom>
          <a:noFill/>
        </p:spPr>
        <p:txBody>
          <a:bodyPr wrap="none" rtlCol="0">
            <a:spAutoFit/>
          </a:bodyPr>
          <a:lstStyle/>
          <a:p>
            <a:r>
              <a:rPr lang="en-US" dirty="0"/>
              <a:t>when I run this:</a:t>
            </a:r>
          </a:p>
        </p:txBody>
      </p:sp>
      <p:sp>
        <p:nvSpPr>
          <p:cNvPr id="9" name="TextBox 8">
            <a:extLst>
              <a:ext uri="{FF2B5EF4-FFF2-40B4-BE49-F238E27FC236}">
                <a16:creationId xmlns:a16="http://schemas.microsoft.com/office/drawing/2014/main" id="{0660E7BD-BF30-D048-A9D8-E3D93F69F19C}"/>
              </a:ext>
            </a:extLst>
          </p:cNvPr>
          <p:cNvSpPr txBox="1"/>
          <p:nvPr/>
        </p:nvSpPr>
        <p:spPr>
          <a:xfrm>
            <a:off x="8864361" y="3937796"/>
            <a:ext cx="1050352" cy="369332"/>
          </a:xfrm>
          <a:prstGeom prst="rect">
            <a:avLst/>
          </a:prstGeom>
          <a:noFill/>
        </p:spPr>
        <p:txBody>
          <a:bodyPr wrap="none" rtlCol="0">
            <a:spAutoFit/>
          </a:bodyPr>
          <a:lstStyle/>
          <a:p>
            <a:r>
              <a:rPr lang="en-US" dirty="0"/>
              <a:t>I get this:</a:t>
            </a:r>
          </a:p>
        </p:txBody>
      </p:sp>
      <p:sp>
        <p:nvSpPr>
          <p:cNvPr id="15" name="Right Arrow 14">
            <a:extLst>
              <a:ext uri="{FF2B5EF4-FFF2-40B4-BE49-F238E27FC236}">
                <a16:creationId xmlns:a16="http://schemas.microsoft.com/office/drawing/2014/main" id="{4FEBEF06-8305-9040-ACB6-3FE125B088B3}"/>
              </a:ext>
            </a:extLst>
          </p:cNvPr>
          <p:cNvSpPr/>
          <p:nvPr/>
        </p:nvSpPr>
        <p:spPr>
          <a:xfrm rot="5932249">
            <a:off x="8453778" y="452256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a:extLst>
              <a:ext uri="{FF2B5EF4-FFF2-40B4-BE49-F238E27FC236}">
                <a16:creationId xmlns:a16="http://schemas.microsoft.com/office/drawing/2014/main" id="{91E33F41-9709-2441-B8F7-39CF9061CDD2}"/>
              </a:ext>
            </a:extLst>
          </p:cNvPr>
          <p:cNvSpPr/>
          <p:nvPr/>
        </p:nvSpPr>
        <p:spPr>
          <a:xfrm rot="20706203">
            <a:off x="5967867" y="5896317"/>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235FE88-3161-F943-8B97-C07A77B62372}"/>
              </a:ext>
            </a:extLst>
          </p:cNvPr>
          <p:cNvSpPr txBox="1"/>
          <p:nvPr/>
        </p:nvSpPr>
        <p:spPr>
          <a:xfrm>
            <a:off x="4304856" y="6463706"/>
            <a:ext cx="2709781" cy="369332"/>
          </a:xfrm>
          <a:prstGeom prst="rect">
            <a:avLst/>
          </a:prstGeom>
          <a:noFill/>
        </p:spPr>
        <p:txBody>
          <a:bodyPr wrap="none" rtlCol="0">
            <a:spAutoFit/>
          </a:bodyPr>
          <a:lstStyle/>
          <a:p>
            <a:r>
              <a:rPr lang="en-US" dirty="0"/>
              <a:t>it's the value at </a:t>
            </a:r>
            <a:r>
              <a:rPr lang="en-US" dirty="0" err="1"/>
              <a:t>myArray</a:t>
            </a:r>
            <a:r>
              <a:rPr lang="en-US" dirty="0"/>
              <a:t>[0]</a:t>
            </a:r>
          </a:p>
        </p:txBody>
      </p:sp>
      <p:pic>
        <p:nvPicPr>
          <p:cNvPr id="5" name="Picture 4">
            <a:extLst>
              <a:ext uri="{FF2B5EF4-FFF2-40B4-BE49-F238E27FC236}">
                <a16:creationId xmlns:a16="http://schemas.microsoft.com/office/drawing/2014/main" id="{66022DFB-3781-0F45-953C-8F0432639C0D}"/>
              </a:ext>
            </a:extLst>
          </p:cNvPr>
          <p:cNvPicPr>
            <a:picLocks noChangeAspect="1"/>
          </p:cNvPicPr>
          <p:nvPr/>
        </p:nvPicPr>
        <p:blipFill>
          <a:blip r:embed="rId3"/>
          <a:stretch>
            <a:fillRect/>
          </a:stretch>
        </p:blipFill>
        <p:spPr>
          <a:xfrm>
            <a:off x="990596" y="3281363"/>
            <a:ext cx="4813300" cy="2895600"/>
          </a:xfrm>
          <a:prstGeom prst="rect">
            <a:avLst/>
          </a:prstGeom>
        </p:spPr>
      </p:pic>
    </p:spTree>
    <p:extLst>
      <p:ext uri="{BB962C8B-B14F-4D97-AF65-F5344CB8AC3E}">
        <p14:creationId xmlns:p14="http://schemas.microsoft.com/office/powerpoint/2010/main" val="12709616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02C7584-E7DA-BB40-B3EB-DE6ECDEDA9DB}"/>
              </a:ext>
            </a:extLst>
          </p:cNvPr>
          <p:cNvPicPr>
            <a:picLocks noChangeAspect="1"/>
          </p:cNvPicPr>
          <p:nvPr/>
        </p:nvPicPr>
        <p:blipFill>
          <a:blip r:embed="rId2"/>
          <a:stretch>
            <a:fillRect/>
          </a:stretch>
        </p:blipFill>
        <p:spPr>
          <a:xfrm>
            <a:off x="7236887" y="5222639"/>
            <a:ext cx="4305300" cy="876300"/>
          </a:xfrm>
          <a:prstGeom prst="rect">
            <a:avLst/>
          </a:prstGeom>
        </p:spPr>
      </p:pic>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arrays under the hood</a:t>
            </a:r>
          </a:p>
        </p:txBody>
      </p:sp>
      <p:sp>
        <p:nvSpPr>
          <p:cNvPr id="4" name="Content Placeholder 3">
            <a:extLst>
              <a:ext uri="{FF2B5EF4-FFF2-40B4-BE49-F238E27FC236}">
                <a16:creationId xmlns:a16="http://schemas.microsoft.com/office/drawing/2014/main" id="{1602A1A5-352D-8C4C-859B-8E82830B9F79}"/>
              </a:ext>
            </a:extLst>
          </p:cNvPr>
          <p:cNvSpPr>
            <a:spLocks noGrp="1"/>
          </p:cNvSpPr>
          <p:nvPr>
            <p:ph idx="1"/>
          </p:nvPr>
        </p:nvSpPr>
        <p:spPr>
          <a:xfrm>
            <a:off x="838200" y="1825625"/>
            <a:ext cx="10515600" cy="4351338"/>
          </a:xfrm>
        </p:spPr>
        <p:txBody>
          <a:bodyPr/>
          <a:lstStyle/>
          <a:p>
            <a:r>
              <a:rPr lang="en-US" dirty="0"/>
              <a:t>you can do math with addresses. *(</a:t>
            </a:r>
            <a:r>
              <a:rPr lang="en-US" dirty="0" err="1"/>
              <a:t>myArray</a:t>
            </a:r>
            <a:r>
              <a:rPr lang="en-US" dirty="0"/>
              <a:t> + 4) is the same value as </a:t>
            </a:r>
            <a:r>
              <a:rPr lang="en-US" dirty="0" err="1"/>
              <a:t>myArray</a:t>
            </a:r>
            <a:r>
              <a:rPr lang="en-US" dirty="0"/>
              <a:t>[4]</a:t>
            </a:r>
          </a:p>
          <a:p>
            <a:r>
              <a:rPr lang="en-US" dirty="0"/>
              <a:t>… weird, right?</a:t>
            </a:r>
          </a:p>
        </p:txBody>
      </p:sp>
      <p:sp>
        <p:nvSpPr>
          <p:cNvPr id="7" name="Right Arrow 6">
            <a:extLst>
              <a:ext uri="{FF2B5EF4-FFF2-40B4-BE49-F238E27FC236}">
                <a16:creationId xmlns:a16="http://schemas.microsoft.com/office/drawing/2014/main" id="{1A5F02B2-1E9B-1E4D-9429-1FEC0C73062B}"/>
              </a:ext>
            </a:extLst>
          </p:cNvPr>
          <p:cNvSpPr/>
          <p:nvPr/>
        </p:nvSpPr>
        <p:spPr>
          <a:xfrm rot="10800000">
            <a:off x="6183469" y="3880146"/>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1EEB401-6EBF-6646-90C5-D4727919030F}"/>
              </a:ext>
            </a:extLst>
          </p:cNvPr>
          <p:cNvSpPr txBox="1"/>
          <p:nvPr/>
        </p:nvSpPr>
        <p:spPr>
          <a:xfrm>
            <a:off x="6457071" y="3558541"/>
            <a:ext cx="1653017" cy="369332"/>
          </a:xfrm>
          <a:prstGeom prst="rect">
            <a:avLst/>
          </a:prstGeom>
          <a:noFill/>
        </p:spPr>
        <p:txBody>
          <a:bodyPr wrap="none" rtlCol="0">
            <a:spAutoFit/>
          </a:bodyPr>
          <a:lstStyle/>
          <a:p>
            <a:r>
              <a:rPr lang="en-US" dirty="0"/>
              <a:t>when I run this:</a:t>
            </a:r>
          </a:p>
        </p:txBody>
      </p:sp>
      <p:sp>
        <p:nvSpPr>
          <p:cNvPr id="9" name="TextBox 8">
            <a:extLst>
              <a:ext uri="{FF2B5EF4-FFF2-40B4-BE49-F238E27FC236}">
                <a16:creationId xmlns:a16="http://schemas.microsoft.com/office/drawing/2014/main" id="{0660E7BD-BF30-D048-A9D8-E3D93F69F19C}"/>
              </a:ext>
            </a:extLst>
          </p:cNvPr>
          <p:cNvSpPr txBox="1"/>
          <p:nvPr/>
        </p:nvSpPr>
        <p:spPr>
          <a:xfrm>
            <a:off x="8864361" y="3937796"/>
            <a:ext cx="1050352" cy="369332"/>
          </a:xfrm>
          <a:prstGeom prst="rect">
            <a:avLst/>
          </a:prstGeom>
          <a:noFill/>
        </p:spPr>
        <p:txBody>
          <a:bodyPr wrap="none" rtlCol="0">
            <a:spAutoFit/>
          </a:bodyPr>
          <a:lstStyle/>
          <a:p>
            <a:r>
              <a:rPr lang="en-US" dirty="0"/>
              <a:t>I get this:</a:t>
            </a:r>
          </a:p>
        </p:txBody>
      </p:sp>
      <p:sp>
        <p:nvSpPr>
          <p:cNvPr id="15" name="Right Arrow 14">
            <a:extLst>
              <a:ext uri="{FF2B5EF4-FFF2-40B4-BE49-F238E27FC236}">
                <a16:creationId xmlns:a16="http://schemas.microsoft.com/office/drawing/2014/main" id="{4FEBEF06-8305-9040-ACB6-3FE125B088B3}"/>
              </a:ext>
            </a:extLst>
          </p:cNvPr>
          <p:cNvSpPr/>
          <p:nvPr/>
        </p:nvSpPr>
        <p:spPr>
          <a:xfrm rot="5932249">
            <a:off x="8453778" y="4522568"/>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a:extLst>
              <a:ext uri="{FF2B5EF4-FFF2-40B4-BE49-F238E27FC236}">
                <a16:creationId xmlns:a16="http://schemas.microsoft.com/office/drawing/2014/main" id="{91E33F41-9709-2441-B8F7-39CF9061CDD2}"/>
              </a:ext>
            </a:extLst>
          </p:cNvPr>
          <p:cNvSpPr/>
          <p:nvPr/>
        </p:nvSpPr>
        <p:spPr>
          <a:xfrm rot="20706203">
            <a:off x="6141850" y="5976032"/>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7235FE88-3161-F943-8B97-C07A77B62372}"/>
              </a:ext>
            </a:extLst>
          </p:cNvPr>
          <p:cNvSpPr txBox="1"/>
          <p:nvPr/>
        </p:nvSpPr>
        <p:spPr>
          <a:xfrm>
            <a:off x="4498458" y="6456940"/>
            <a:ext cx="2709781" cy="369332"/>
          </a:xfrm>
          <a:prstGeom prst="rect">
            <a:avLst/>
          </a:prstGeom>
          <a:noFill/>
        </p:spPr>
        <p:txBody>
          <a:bodyPr wrap="none" rtlCol="0">
            <a:spAutoFit/>
          </a:bodyPr>
          <a:lstStyle/>
          <a:p>
            <a:r>
              <a:rPr lang="en-US" dirty="0"/>
              <a:t>it's the value at </a:t>
            </a:r>
            <a:r>
              <a:rPr lang="en-US" dirty="0" err="1"/>
              <a:t>myArray</a:t>
            </a:r>
            <a:r>
              <a:rPr lang="en-US" dirty="0"/>
              <a:t>[4]</a:t>
            </a:r>
          </a:p>
        </p:txBody>
      </p:sp>
      <p:pic>
        <p:nvPicPr>
          <p:cNvPr id="10" name="Picture 9">
            <a:extLst>
              <a:ext uri="{FF2B5EF4-FFF2-40B4-BE49-F238E27FC236}">
                <a16:creationId xmlns:a16="http://schemas.microsoft.com/office/drawing/2014/main" id="{FC7D40BE-D7AF-254D-B736-A2917713CF10}"/>
              </a:ext>
            </a:extLst>
          </p:cNvPr>
          <p:cNvPicPr>
            <a:picLocks noChangeAspect="1"/>
          </p:cNvPicPr>
          <p:nvPr/>
        </p:nvPicPr>
        <p:blipFill>
          <a:blip r:embed="rId3"/>
          <a:stretch>
            <a:fillRect/>
          </a:stretch>
        </p:blipFill>
        <p:spPr>
          <a:xfrm>
            <a:off x="1623733" y="3240828"/>
            <a:ext cx="4102100" cy="2247900"/>
          </a:xfrm>
          <a:prstGeom prst="rect">
            <a:avLst/>
          </a:prstGeom>
        </p:spPr>
      </p:pic>
      <p:sp>
        <p:nvSpPr>
          <p:cNvPr id="18" name="Right Arrow 17">
            <a:extLst>
              <a:ext uri="{FF2B5EF4-FFF2-40B4-BE49-F238E27FC236}">
                <a16:creationId xmlns:a16="http://schemas.microsoft.com/office/drawing/2014/main" id="{D3623ED8-943C-B840-9AC9-9DC3A295822C}"/>
              </a:ext>
            </a:extLst>
          </p:cNvPr>
          <p:cNvSpPr/>
          <p:nvPr/>
        </p:nvSpPr>
        <p:spPr>
          <a:xfrm rot="18185602">
            <a:off x="3313269" y="5314472"/>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F9DB748-1DA8-C148-9BCB-32A9F1B30622}"/>
              </a:ext>
            </a:extLst>
          </p:cNvPr>
          <p:cNvSpPr txBox="1"/>
          <p:nvPr/>
        </p:nvSpPr>
        <p:spPr>
          <a:xfrm>
            <a:off x="1159544" y="5703602"/>
            <a:ext cx="2834572" cy="1200329"/>
          </a:xfrm>
          <a:prstGeom prst="rect">
            <a:avLst/>
          </a:prstGeom>
          <a:noFill/>
        </p:spPr>
        <p:txBody>
          <a:bodyPr wrap="square" rtlCol="0">
            <a:spAutoFit/>
          </a:bodyPr>
          <a:lstStyle/>
          <a:p>
            <a:r>
              <a:rPr lang="en-US" sz="1200" dirty="0"/>
              <a:t>this is called pointer math. </a:t>
            </a:r>
          </a:p>
          <a:p>
            <a:r>
              <a:rPr lang="en-US" sz="1200" dirty="0"/>
              <a:t>you can do deep magic with it...</a:t>
            </a:r>
            <a:br>
              <a:rPr lang="en-US" sz="1200" dirty="0"/>
            </a:br>
            <a:r>
              <a:rPr lang="en-US" sz="1200" dirty="0"/>
              <a:t>but use it sparingly. I'm not showing it to you so that you can use it all the time. I'm showing it to you so that you know what arrays are under the hood</a:t>
            </a:r>
          </a:p>
        </p:txBody>
      </p:sp>
      <p:pic>
        <p:nvPicPr>
          <p:cNvPr id="23" name="Picture 2" descr="Image result for keanu wow bill and ted">
            <a:extLst>
              <a:ext uri="{FF2B5EF4-FFF2-40B4-BE49-F238E27FC236}">
                <a16:creationId xmlns:a16="http://schemas.microsoft.com/office/drawing/2014/main" id="{684C1261-2712-CF4A-9FE0-6EFBD1E9A5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44115" y="2306029"/>
            <a:ext cx="2031785" cy="1448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94078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9CE27-C386-7243-AD4A-07018FAEF4B8}"/>
              </a:ext>
            </a:extLst>
          </p:cNvPr>
          <p:cNvSpPr>
            <a:spLocks noGrp="1"/>
          </p:cNvSpPr>
          <p:nvPr>
            <p:ph type="title"/>
          </p:nvPr>
        </p:nvSpPr>
        <p:spPr/>
        <p:txBody>
          <a:bodyPr/>
          <a:lstStyle/>
          <a:p>
            <a:r>
              <a:rPr lang="en-US" dirty="0"/>
              <a:t>Putting it all together</a:t>
            </a:r>
          </a:p>
        </p:txBody>
      </p:sp>
      <p:sp>
        <p:nvSpPr>
          <p:cNvPr id="3" name="Content Placeholder 2">
            <a:extLst>
              <a:ext uri="{FF2B5EF4-FFF2-40B4-BE49-F238E27FC236}">
                <a16:creationId xmlns:a16="http://schemas.microsoft.com/office/drawing/2014/main" id="{9925B56D-4B9D-DE43-A86B-82A7ABE5CE28}"/>
              </a:ext>
            </a:extLst>
          </p:cNvPr>
          <p:cNvSpPr>
            <a:spLocks noGrp="1"/>
          </p:cNvSpPr>
          <p:nvPr>
            <p:ph idx="1"/>
          </p:nvPr>
        </p:nvSpPr>
        <p:spPr/>
        <p:txBody>
          <a:bodyPr>
            <a:normAutofit fontScale="70000" lnSpcReduction="20000"/>
          </a:bodyPr>
          <a:lstStyle/>
          <a:p>
            <a:r>
              <a:rPr lang="en-US" dirty="0"/>
              <a:t>Say you’ve got the following array:</a:t>
            </a:r>
          </a:p>
          <a:p>
            <a:pPr marL="0" indent="0">
              <a:buNone/>
            </a:pPr>
            <a:r>
              <a:rPr lang="en-US" dirty="0"/>
              <a:t>	int </a:t>
            </a:r>
            <a:r>
              <a:rPr lang="en-US" dirty="0" err="1"/>
              <a:t>myArray</a:t>
            </a:r>
            <a:r>
              <a:rPr lang="en-US" dirty="0"/>
              <a:t>[4] = {2, 3, 23, 137};</a:t>
            </a:r>
          </a:p>
          <a:p>
            <a:r>
              <a:rPr lang="en-US" dirty="0" err="1"/>
              <a:t>myArray</a:t>
            </a:r>
            <a:r>
              <a:rPr lang="en-US" dirty="0"/>
              <a:t>[0] is the </a:t>
            </a:r>
            <a:r>
              <a:rPr lang="en-US" i="1" dirty="0"/>
              <a:t>value</a:t>
            </a:r>
            <a:r>
              <a:rPr lang="en-US" dirty="0"/>
              <a:t> of the first element of the array: 2</a:t>
            </a:r>
          </a:p>
          <a:p>
            <a:r>
              <a:rPr lang="en-US" dirty="0" err="1"/>
              <a:t>myArray</a:t>
            </a:r>
            <a:r>
              <a:rPr lang="en-US" dirty="0"/>
              <a:t> by itself is the </a:t>
            </a:r>
            <a:r>
              <a:rPr lang="en-US" i="1" dirty="0"/>
              <a:t>address </a:t>
            </a:r>
            <a:r>
              <a:rPr lang="en-US" dirty="0"/>
              <a:t>of the first element of the array (some long hexadecimal number)</a:t>
            </a:r>
          </a:p>
          <a:p>
            <a:r>
              <a:rPr lang="en-US" dirty="0" err="1"/>
              <a:t>myArray</a:t>
            </a:r>
            <a:r>
              <a:rPr lang="en-US" dirty="0"/>
              <a:t> + 1 is the </a:t>
            </a:r>
            <a:r>
              <a:rPr lang="en-US" i="1" dirty="0"/>
              <a:t>address</a:t>
            </a:r>
            <a:r>
              <a:rPr lang="en-US" dirty="0"/>
              <a:t> of the second element of the array </a:t>
            </a:r>
          </a:p>
          <a:p>
            <a:r>
              <a:rPr lang="en-US" dirty="0"/>
              <a:t>*(</a:t>
            </a:r>
            <a:r>
              <a:rPr lang="en-US" dirty="0" err="1"/>
              <a:t>myArray</a:t>
            </a:r>
            <a:r>
              <a:rPr lang="en-US" dirty="0"/>
              <a:t> + 1) is the </a:t>
            </a:r>
            <a:r>
              <a:rPr lang="en-US" i="1" dirty="0"/>
              <a:t>value</a:t>
            </a:r>
            <a:r>
              <a:rPr lang="en-US" dirty="0"/>
              <a:t> of the second element of the array: 3</a:t>
            </a:r>
          </a:p>
          <a:p>
            <a:r>
              <a:rPr lang="en-US" dirty="0"/>
              <a:t>*(1 + </a:t>
            </a:r>
            <a:r>
              <a:rPr lang="en-US" dirty="0" err="1"/>
              <a:t>myArray</a:t>
            </a:r>
            <a:r>
              <a:rPr lang="en-US" dirty="0"/>
              <a:t>) is also the value of the second element of the array, because addition is commutative</a:t>
            </a:r>
          </a:p>
          <a:p>
            <a:r>
              <a:rPr lang="en-US" dirty="0"/>
              <a:t>Therefore… and this is something you should literally never do…</a:t>
            </a:r>
          </a:p>
          <a:p>
            <a:r>
              <a:rPr lang="en-US" dirty="0"/>
              <a:t>1[</a:t>
            </a:r>
            <a:r>
              <a:rPr lang="en-US" dirty="0" err="1"/>
              <a:t>myArray</a:t>
            </a:r>
            <a:r>
              <a:rPr lang="en-US" dirty="0"/>
              <a:t>] is equivalent to </a:t>
            </a:r>
            <a:r>
              <a:rPr lang="en-US" dirty="0" err="1"/>
              <a:t>myArray</a:t>
            </a:r>
            <a:r>
              <a:rPr lang="en-US" dirty="0"/>
              <a:t>[1].  </a:t>
            </a:r>
            <a:endParaRPr lang="en-US" dirty="0">
              <a:sym typeface="Wingdings" pitchFamily="2" charset="2"/>
            </a:endParaRPr>
          </a:p>
          <a:p>
            <a:pPr lvl="1"/>
            <a:r>
              <a:rPr lang="en-US" dirty="0">
                <a:sym typeface="Wingdings" pitchFamily="2" charset="2"/>
              </a:rPr>
              <a:t>Most languages don’t let you do weird stuff like this. C++ is like “LOL, okay, you want to do that weird thing? Go ahead!” This is indicative of the design of C++. It can be incredibly powerful, because it lets you do weird, useful things… but it also can be incredibly frustrating, because it doesn’t stop you from accidentally doing weird, useless things.</a:t>
            </a:r>
            <a:endParaRPr lang="en-US" dirty="0"/>
          </a:p>
          <a:p>
            <a:endParaRPr lang="en-US" dirty="0"/>
          </a:p>
        </p:txBody>
      </p:sp>
    </p:spTree>
    <p:extLst>
      <p:ext uri="{BB962C8B-B14F-4D97-AF65-F5344CB8AC3E}">
        <p14:creationId xmlns:p14="http://schemas.microsoft.com/office/powerpoint/2010/main" val="3921819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9B469-C7B4-7740-AD55-80D446FB20C4}"/>
              </a:ext>
            </a:extLst>
          </p:cNvPr>
          <p:cNvSpPr>
            <a:spLocks noGrp="1"/>
          </p:cNvSpPr>
          <p:nvPr>
            <p:ph type="title"/>
          </p:nvPr>
        </p:nvSpPr>
        <p:spPr>
          <a:xfrm>
            <a:off x="838198" y="253890"/>
            <a:ext cx="10515600" cy="1325563"/>
          </a:xfrm>
        </p:spPr>
        <p:txBody>
          <a:bodyPr/>
          <a:lstStyle/>
          <a:p>
            <a:r>
              <a:rPr lang="en-US" dirty="0"/>
              <a:t>expectations</a:t>
            </a:r>
          </a:p>
        </p:txBody>
      </p:sp>
      <p:sp>
        <p:nvSpPr>
          <p:cNvPr id="4" name="Content Placeholder 3">
            <a:extLst>
              <a:ext uri="{FF2B5EF4-FFF2-40B4-BE49-F238E27FC236}">
                <a16:creationId xmlns:a16="http://schemas.microsoft.com/office/drawing/2014/main" id="{1602A1A5-352D-8C4C-859B-8E82830B9F79}"/>
              </a:ext>
            </a:extLst>
          </p:cNvPr>
          <p:cNvSpPr>
            <a:spLocks noGrp="1"/>
          </p:cNvSpPr>
          <p:nvPr>
            <p:ph idx="1"/>
          </p:nvPr>
        </p:nvSpPr>
        <p:spPr>
          <a:xfrm>
            <a:off x="838200" y="1825625"/>
            <a:ext cx="10515600" cy="4351338"/>
          </a:xfrm>
        </p:spPr>
        <p:txBody>
          <a:bodyPr/>
          <a:lstStyle/>
          <a:p>
            <a:r>
              <a:rPr lang="en-US" dirty="0"/>
              <a:t>You will not be expected to do fancy stuff</a:t>
            </a:r>
            <a:br>
              <a:rPr lang="en-US" dirty="0"/>
            </a:br>
            <a:r>
              <a:rPr lang="en-US" dirty="0"/>
              <a:t>with pointers  and addresses (or really,</a:t>
            </a:r>
            <a:br>
              <a:rPr lang="en-US" dirty="0"/>
            </a:br>
            <a:r>
              <a:rPr lang="en-US" dirty="0"/>
              <a:t>to use pointers at all) until a few weeks into </a:t>
            </a:r>
            <a:br>
              <a:rPr lang="en-US" dirty="0"/>
            </a:br>
            <a:r>
              <a:rPr lang="en-US" dirty="0"/>
              <a:t>the class. don't freak out if you're confused </a:t>
            </a:r>
            <a:br>
              <a:rPr lang="en-US" dirty="0"/>
            </a:br>
            <a:r>
              <a:rPr lang="en-US" dirty="0"/>
              <a:t>right now.</a:t>
            </a:r>
          </a:p>
        </p:txBody>
      </p:sp>
    </p:spTree>
    <p:extLst>
      <p:ext uri="{BB962C8B-B14F-4D97-AF65-F5344CB8AC3E}">
        <p14:creationId xmlns:p14="http://schemas.microsoft.com/office/powerpoint/2010/main" val="32297181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1360</TotalTime>
  <Words>5077</Words>
  <Application>Microsoft Macintosh PowerPoint</Application>
  <PresentationFormat>Widescreen</PresentationFormat>
  <Paragraphs>866</Paragraphs>
  <Slides>71</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Arial</vt:lpstr>
      <vt:lpstr>Calibri</vt:lpstr>
      <vt:lpstr>Calibri Light</vt:lpstr>
      <vt:lpstr>Courier New</vt:lpstr>
      <vt:lpstr>Office Theme</vt:lpstr>
      <vt:lpstr>CIS 022 day 2</vt:lpstr>
      <vt:lpstr>Plan for today</vt:lpstr>
      <vt:lpstr>memory</vt:lpstr>
      <vt:lpstr>memory</vt:lpstr>
      <vt:lpstr>memory</vt:lpstr>
      <vt:lpstr>memory – an analogy</vt:lpstr>
      <vt:lpstr>memory – an analogy</vt:lpstr>
      <vt:lpstr>memory – another analogy</vt:lpstr>
      <vt:lpstr>FROM BITS TO BOXES</vt:lpstr>
      <vt:lpstr>HOW BINARY WORKS</vt:lpstr>
      <vt:lpstr>HOW BINARY WORKS</vt:lpstr>
      <vt:lpstr>HOW BINARY WORKS</vt:lpstr>
      <vt:lpstr>FROM NUMBERS TO LETTERS</vt:lpstr>
      <vt:lpstr>FROM NUMBERS TO LETTERS</vt:lpstr>
      <vt:lpstr>WHAT ABOUT你好 and مرحبا andこんにちは?</vt:lpstr>
      <vt:lpstr>hello world in C++</vt:lpstr>
      <vt:lpstr>SAMPLE PROGRAM</vt:lpstr>
      <vt:lpstr>SAMPLE PROGRAM</vt:lpstr>
      <vt:lpstr>SAMPLE PROGRAM</vt:lpstr>
      <vt:lpstr>SAMPLE PROGRAM</vt:lpstr>
      <vt:lpstr>SAMPLE PROGRAM</vt:lpstr>
      <vt:lpstr>SAMPLE PROGRAM</vt:lpstr>
      <vt:lpstr>SAMPLE PROGRAM</vt:lpstr>
      <vt:lpstr>SAMPLE PROGRAM</vt:lpstr>
      <vt:lpstr>SAMPLE PROGRAM</vt:lpstr>
      <vt:lpstr>SAMPLE PROGRAM</vt:lpstr>
      <vt:lpstr>SAMPLE PROGRAM</vt:lpstr>
      <vt:lpstr>SAMPLE PROGRAM</vt:lpstr>
      <vt:lpstr>SAMPLE PROGRAM</vt:lpstr>
      <vt:lpstr>SAMPLE PROGRAM</vt:lpstr>
      <vt:lpstr>SAMPLE PROGRAM</vt:lpstr>
      <vt:lpstr>sample PROGRAM</vt:lpstr>
      <vt:lpstr>sample PROGRAM</vt:lpstr>
      <vt:lpstr>sample PROGRAM (syntax note)</vt:lpstr>
      <vt:lpstr>sample PROGRAM (syntax note)</vt:lpstr>
      <vt:lpstr>sample PROGRAM (syntax note)</vt:lpstr>
      <vt:lpstr>sample PROGRAM (now with characters)</vt:lpstr>
      <vt:lpstr>sample PROGRAM (now with characters)</vt:lpstr>
      <vt:lpstr>sample PROGRAM (now with strings)</vt:lpstr>
      <vt:lpstr>sample PROGRAM (now with strings)</vt:lpstr>
      <vt:lpstr>sample PROGRAM (now with strings)</vt:lpstr>
      <vt:lpstr>sample PROGRAM (now with input)</vt:lpstr>
      <vt:lpstr>sample PROGRAM (now with input)</vt:lpstr>
      <vt:lpstr>Floating-Point Data Types (1 of 3)</vt:lpstr>
      <vt:lpstr>Floating-Point Data Types (2 of 3)</vt:lpstr>
      <vt:lpstr>Floating-Point Data Types (3 of 3)</vt:lpstr>
      <vt:lpstr>Data Types, Variables, and Assignment Statements</vt:lpstr>
      <vt:lpstr>Arithmetic Operators, Operator Precedence, and Expressions (1 of 2)</vt:lpstr>
      <vt:lpstr>Arithmetic Operators, Operator Precedence, and Expressions (2 of 2)</vt:lpstr>
      <vt:lpstr>Order of Precedence</vt:lpstr>
      <vt:lpstr>Expressions</vt:lpstr>
      <vt:lpstr>Mixed Expressions (1 of 2)</vt:lpstr>
      <vt:lpstr>Mixed Expressions (2 of 2)</vt:lpstr>
      <vt:lpstr>Type Conversion (Casting) (1 of 2)</vt:lpstr>
      <vt:lpstr>Type Conversion (Casting) (2 of 2)</vt:lpstr>
      <vt:lpstr>PAUSING FOR A SECOND</vt:lpstr>
      <vt:lpstr>WHAT TO DO WHEN YOU'RE AHEAD OF YOUR CLASSMATES</vt:lpstr>
      <vt:lpstr>WHAT TO DO WHEN YOU'RE BEHIND YOUR CLASSMATES</vt:lpstr>
      <vt:lpstr>rules for sharing</vt:lpstr>
      <vt:lpstr>memory – an analogy</vt:lpstr>
      <vt:lpstr>pointers</vt:lpstr>
      <vt:lpstr>pointers</vt:lpstr>
      <vt:lpstr>pointers</vt:lpstr>
      <vt:lpstr>okay so what's an array</vt:lpstr>
      <vt:lpstr>arrays</vt:lpstr>
      <vt:lpstr>arrays</vt:lpstr>
      <vt:lpstr>arrays under the hood</vt:lpstr>
      <vt:lpstr>arrays under the hood</vt:lpstr>
      <vt:lpstr>arrays under the hood</vt:lpstr>
      <vt:lpstr>Putting it all together</vt:lpstr>
      <vt:lpstr>expectations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Ben Allen</cp:lastModifiedBy>
  <cp:revision>29</cp:revision>
  <dcterms:created xsi:type="dcterms:W3CDTF">2020-01-23T15:55:28Z</dcterms:created>
  <dcterms:modified xsi:type="dcterms:W3CDTF">2026-08-25T18:03:47Z</dcterms:modified>
</cp:coreProperties>
</file>