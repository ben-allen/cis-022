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306" r:id="rId22"/>
    <p:sldId id="307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586920D-C41F-9162-B9E0-BBD6FB66D7B9}">
          <p14:sldIdLst>
            <p14:sldId id="256"/>
            <p14:sldId id="257"/>
            <p14:sldId id="258"/>
          </p14:sldIdLst>
        </p14:section>
        <p14:section name="Array review" id="{4CA7A6A1-DCE0-240C-4285-508C6CF9CB1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tructs and enums" id="{A468A011-BF0C-0067-C5CB-706799C64FC4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306"/>
            <p14:sldId id="307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7"/>
            <p14:sldId id="288"/>
          </p14:sldIdLst>
        </p14:section>
        <p14:section name="Classes" id="{F57A3207-010B-7708-BA6E-7939A25E940D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  <p14:section name="Wrap-up" id="{C792571C-EE4B-C85E-C6DC-EA6ADB2BDB69}">
          <p14:sldIdLst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44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611880"/>
            <a:ext cx="103628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rgbClr val="4A5160"/>
                </a:solidFill>
              </a:defRPr>
            </a:lvl1pPr>
          </a:lstStyle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611880"/>
            <a:ext cx="10362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rgbClr val="4A5160"/>
                </a:solidFill>
              </a:defRPr>
            </a:lvl1pPr>
          </a:lstStyle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011680"/>
            <a:ext cx="10362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6000" dirty="0">
                <a:solidFill>
                  <a:schemeClr val="tx1"/>
                </a:solidFill>
              </a:rPr>
              <a:t>CIS022 Day 12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6118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160"/>
                </a:solidFill>
              </a:rPr>
              <a:t>standing at the very threshold of object orientation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Agenda"/>
          <p:cNvSpPr txBox="1"/>
          <p:nvPr/>
        </p:nvSpPr>
        <p:spPr>
          <a:xfrm>
            <a:off x="822960" y="155448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Array review</a:t>
            </a:r>
            <a:endParaRPr lang="en-US" sz="2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Enums</a:t>
            </a:r>
            <a:endParaRPr lang="en-US" sz="2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Structs</a:t>
            </a:r>
            <a:endParaRPr lang="en-US" sz="26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600" dirty="0">
                <a:solidFill>
                  <a:schemeClr val="tx1"/>
                </a:solidFill>
              </a:rPr>
              <a:t>Your first class!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 note on where we are – this clas</a:t>
            </a:r>
            <a:r>
              <a:rPr lang="en-US" dirty="0"/>
              <a:t>s moves </a:t>
            </a:r>
            <a:r>
              <a:rPr lang="en-US" i="1" dirty="0"/>
              <a:t>fast</a:t>
            </a:r>
            <a:endParaRPr lang="en-US" sz="3200" dirty="0"/>
          </a:p>
        </p:txBody>
      </p:sp>
      <p:sp>
        <p:nvSpPr>
          <p:cNvPr id="3" name="Experienced card"/>
          <p:cNvSpPr/>
          <p:nvPr/>
        </p:nvSpPr>
        <p:spPr>
          <a:xfrm>
            <a:off x="548640" y="1371600"/>
            <a:ext cx="539496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ody"/>
          <p:cNvSpPr txBox="1"/>
          <p:nvPr/>
        </p:nvSpPr>
        <p:spPr>
          <a:xfrm>
            <a:off x="822960" y="1600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If you've done object-oriented programming before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By the end of today, we'll be (mostly) finished with the C++ concepts that come </a:t>
            </a:r>
            <a:r>
              <a:rPr lang="en-US" sz="1700" i="1" dirty="0">
                <a:solidFill>
                  <a:schemeClr val="tx1"/>
                </a:solidFill>
              </a:rPr>
              <a:t>before</a:t>
            </a:r>
            <a:r>
              <a:rPr lang="en-US" sz="1700" dirty="0">
                <a:solidFill>
                  <a:schemeClr val="tx1"/>
                </a:solidFill>
              </a:rPr>
              <a:t> object-oriented programming.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i="1" dirty="0">
                <a:solidFill>
                  <a:schemeClr val="tx1"/>
                </a:solidFill>
              </a:rPr>
              <a:t>You have a leg up on your fellow students!</a:t>
            </a:r>
            <a:r>
              <a:rPr lang="en-US" sz="1700" dirty="0">
                <a:solidFill>
                  <a:schemeClr val="tx1"/>
                </a:solidFill>
              </a:rPr>
              <a:t> Most of what you see from here on is new syntax.</a:t>
            </a:r>
            <a:endParaRPr lang="en-US" sz="2000" dirty="0"/>
          </a:p>
        </p:txBody>
      </p:sp>
      <p:sp>
        <p:nvSpPr>
          <p:cNvPr id="5" name="New card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ody"/>
          <p:cNvSpPr txBox="1"/>
          <p:nvPr/>
        </p:nvSpPr>
        <p:spPr>
          <a:xfrm>
            <a:off x="822960" y="4297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If you haven't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Most of the rest of the semester will be conceptually </a:t>
            </a:r>
            <a:r>
              <a:rPr lang="en-US" sz="1700" i="1" dirty="0">
                <a:solidFill>
                  <a:schemeClr val="tx1"/>
                </a:solidFill>
              </a:rPr>
              <a:t>very</a:t>
            </a:r>
            <a:r>
              <a:rPr lang="en-US" sz="1700" dirty="0">
                <a:solidFill>
                  <a:schemeClr val="tx1"/>
                </a:solidFill>
              </a:rPr>
              <a:t> new. We'll be learning a whole new programming paradigm.</a:t>
            </a:r>
            <a:endParaRPr lang="en-US" sz="2000" dirty="0"/>
          </a:p>
        </p:txBody>
      </p:sp>
      <p:pic>
        <p:nvPicPr>
          <p:cNvPr id="7" name="Gotta go fast" descr="sonic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920240"/>
            <a:ext cx="5303520" cy="29169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data structure we've seen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916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Arrays are a primitive data structure that can store many items of the </a:t>
            </a:r>
            <a:r>
              <a:rPr lang="en-US" sz="2000" i="1" dirty="0">
                <a:solidFill>
                  <a:schemeClr val="tx1"/>
                </a:solidFill>
              </a:rPr>
              <a:t>same type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4A5160"/>
                </a:solidFill>
              </a:rPr>
              <a:t>Here,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2000" dirty="0">
                <a:solidFill>
                  <a:srgbClr val="4A5160"/>
                </a:solidFill>
              </a:rPr>
              <a:t> holds five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000" dirty="0">
                <a:solidFill>
                  <a:srgbClr val="4A5160"/>
                </a:solidFill>
              </a:rPr>
              <a:t>s, and the loop visits each one by its index.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4343400" y="1691640"/>
            <a:ext cx="7269480" cy="3042666"/>
          </a:xfrm>
          <a:prstGeom prst="roundRect">
            <a:avLst>
              <a:gd name="adj" fmla="val 2404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9"/>
          <p:cNvSpPr/>
          <p:nvPr/>
        </p:nvSpPr>
        <p:spPr>
          <a:xfrm>
            <a:off x="4398264" y="2612898"/>
            <a:ext cx="715975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10"/>
          <p:cNvSpPr/>
          <p:nvPr/>
        </p:nvSpPr>
        <p:spPr>
          <a:xfrm>
            <a:off x="4398264" y="2852928"/>
            <a:ext cx="715975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line numbers"/>
          <p:cNvSpPr txBox="1"/>
          <p:nvPr/>
        </p:nvSpPr>
        <p:spPr>
          <a:xfrm>
            <a:off x="4544568" y="1892808"/>
            <a:ext cx="441960" cy="264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50" dirty="0"/>
          </a:p>
        </p:txBody>
      </p:sp>
      <p:sp>
        <p:nvSpPr>
          <p:cNvPr id="8" name="Code text"/>
          <p:cNvSpPr txBox="1"/>
          <p:nvPr/>
        </p:nvSpPr>
        <p:spPr>
          <a:xfrm>
            <a:off x="4986528" y="1892808"/>
            <a:ext cx="6516624" cy="264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list[</a:t>
            </a:r>
            <a:r>
              <a:rPr lang="en-US" sz="14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LIST_SIZE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{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"ben"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"evan"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"keiran"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"thana"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"paul"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index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index &lt;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index++)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</a:t>
            </a:r>
            <a:r>
              <a:rPr lang="en-US" sz="145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"current index: "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index &lt;&lt; endl;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</a:t>
            </a:r>
            <a:r>
              <a:rPr lang="en-US" sz="145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"item at index: "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list[index] &lt;&lt; endl;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 couple of notes about arrays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3246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4A5160"/>
                </a:solidFill>
              </a:rPr>
              <a:t>Consider this short program that builds and prints a multiplication table. Some things to notice: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When you </a:t>
            </a:r>
            <a:r>
              <a:rPr lang="en-US" sz="1800" b="1" dirty="0">
                <a:solidFill>
                  <a:schemeClr val="tx1"/>
                </a:solidFill>
              </a:rPr>
              <a:t>declare</a:t>
            </a:r>
            <a:r>
              <a:rPr lang="en-US" sz="1800" dirty="0">
                <a:solidFill>
                  <a:schemeClr val="tx1"/>
                </a:solidFill>
              </a:rPr>
              <a:t> an array, give its size in brackets.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For a multidimensional array, give each additional size in its own set of brackets.</a:t>
            </a:r>
            <a:endParaRPr lang="en-US" sz="1800" dirty="0"/>
          </a:p>
        </p:txBody>
      </p:sp>
      <p:sp>
        <p:nvSpPr>
          <p:cNvPr id="4" name="Code panel"/>
          <p:cNvSpPr/>
          <p:nvPr/>
        </p:nvSpPr>
        <p:spPr>
          <a:xfrm>
            <a:off x="4023360" y="1600200"/>
            <a:ext cx="7589520" cy="3522726"/>
          </a:xfrm>
          <a:prstGeom prst="roundRect">
            <a:avLst>
              <a:gd name="adj" fmla="val 2077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6"/>
          <p:cNvSpPr/>
          <p:nvPr/>
        </p:nvSpPr>
        <p:spPr>
          <a:xfrm>
            <a:off x="4078224" y="4441698"/>
            <a:ext cx="747979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4224528" y="1801368"/>
            <a:ext cx="441960" cy="312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50" dirty="0"/>
          </a:p>
        </p:txBody>
      </p:sp>
      <p:sp>
        <p:nvSpPr>
          <p:cNvPr id="7" name="Code text"/>
          <p:cNvSpPr txBox="1"/>
          <p:nvPr/>
        </p:nvSpPr>
        <p:spPr>
          <a:xfrm>
            <a:off x="4666488" y="1801368"/>
            <a:ext cx="6836664" cy="312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arrayInitializer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array[][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 &lt;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row++)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column &lt;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column++)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array[row][column] = row * column;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twoD[</a:t>
            </a:r>
            <a:r>
              <a:rPr lang="en-US" sz="14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arrayInitializer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(twoD);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 couple of notes about arrays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3246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4A5160"/>
                </a:solidFill>
              </a:rPr>
              <a:t>Consider this short program that builds and prints a multiplication table. Some things to notice: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When you </a:t>
            </a:r>
            <a:r>
              <a:rPr lang="en-US" sz="1800" b="1" dirty="0">
                <a:solidFill>
                  <a:schemeClr val="tx1"/>
                </a:solidFill>
              </a:rPr>
              <a:t>pass</a:t>
            </a:r>
            <a:r>
              <a:rPr lang="en-US" sz="1800" dirty="0">
                <a:solidFill>
                  <a:schemeClr val="tx1"/>
                </a:solidFill>
              </a:rPr>
              <a:t> an array (of any dimension) into a function, just give its name.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No 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800" dirty="0">
                <a:solidFill>
                  <a:schemeClr val="tx1"/>
                </a:solidFill>
              </a:rPr>
              <a:t> needed: the function works on the original array, not a copy. That's how 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arrayInitializer()</a:t>
            </a:r>
            <a:r>
              <a:rPr lang="en-US" sz="1800" dirty="0">
                <a:solidFill>
                  <a:schemeClr val="tx1"/>
                </a:solidFill>
              </a:rPr>
              <a:t> fills in 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twoD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Code panel"/>
          <p:cNvSpPr/>
          <p:nvPr/>
        </p:nvSpPr>
        <p:spPr>
          <a:xfrm>
            <a:off x="4023360" y="1600200"/>
            <a:ext cx="7589520" cy="3522726"/>
          </a:xfrm>
          <a:prstGeom prst="roundRect">
            <a:avLst>
              <a:gd name="adj" fmla="val 2077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7"/>
          <p:cNvSpPr/>
          <p:nvPr/>
        </p:nvSpPr>
        <p:spPr>
          <a:xfrm>
            <a:off x="4078224" y="4681728"/>
            <a:ext cx="747979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4224528" y="1801368"/>
            <a:ext cx="441960" cy="312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50" dirty="0"/>
          </a:p>
        </p:txBody>
      </p:sp>
      <p:sp>
        <p:nvSpPr>
          <p:cNvPr id="7" name="Code text"/>
          <p:cNvSpPr txBox="1"/>
          <p:nvPr/>
        </p:nvSpPr>
        <p:spPr>
          <a:xfrm>
            <a:off x="4666488" y="1801368"/>
            <a:ext cx="6836664" cy="312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arrayInitializer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array[][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 &lt;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row++)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column &lt;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column++)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array[row][column] = row * column;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twoD[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arrayInitializer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(twoD);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 couple of notes about arrays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3246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4A5160"/>
                </a:solidFill>
              </a:rPr>
              <a:t>Consider this short program that builds and prints a multiplication table. Some things to notice: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When an array is a </a:t>
            </a:r>
            <a:r>
              <a:rPr lang="en-US" sz="1800" b="1" dirty="0">
                <a:solidFill>
                  <a:schemeClr val="tx1"/>
                </a:solidFill>
              </a:rPr>
              <a:t>parameter</a:t>
            </a:r>
            <a:r>
              <a:rPr lang="en-US" sz="1800" dirty="0">
                <a:solidFill>
                  <a:schemeClr val="tx1"/>
                </a:solidFill>
              </a:rPr>
              <a:t>, show that it's an array with brackets.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For a one-dimensional array the brackets are empty: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array[]</a:t>
            </a:r>
            <a:endParaRPr lang="en-US" sz="18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For a two-dimensional array, you must give the number of </a:t>
            </a:r>
            <a:r>
              <a:rPr lang="en-US" sz="1800" i="1" dirty="0">
                <a:solidFill>
                  <a:schemeClr val="tx1"/>
                </a:solidFill>
              </a:rPr>
              <a:t>columns</a:t>
            </a:r>
            <a:r>
              <a:rPr lang="en-US" sz="1800" dirty="0">
                <a:solidFill>
                  <a:schemeClr val="tx1"/>
                </a:solidFill>
              </a:rPr>
              <a:t> in the second set of brackets:</a:t>
            </a:r>
            <a:endParaRPr lang="en-US" sz="18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array[][ARRAY_SIZE]</a:t>
            </a:r>
            <a:endParaRPr lang="en-US" sz="1800" dirty="0"/>
          </a:p>
        </p:txBody>
      </p:sp>
      <p:sp>
        <p:nvSpPr>
          <p:cNvPr id="4" name="Code panel"/>
          <p:cNvSpPr/>
          <p:nvPr/>
        </p:nvSpPr>
        <p:spPr>
          <a:xfrm>
            <a:off x="4023360" y="1600200"/>
            <a:ext cx="7589520" cy="3522726"/>
          </a:xfrm>
          <a:prstGeom prst="roundRect">
            <a:avLst>
              <a:gd name="adj" fmla="val 2077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7"/>
          <p:cNvSpPr/>
          <p:nvPr/>
        </p:nvSpPr>
        <p:spPr>
          <a:xfrm>
            <a:off x="4078224" y="2281428"/>
            <a:ext cx="747979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4224528" y="1801368"/>
            <a:ext cx="441960" cy="312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50" dirty="0"/>
          </a:p>
        </p:txBody>
      </p:sp>
      <p:sp>
        <p:nvSpPr>
          <p:cNvPr id="7" name="Code text"/>
          <p:cNvSpPr txBox="1"/>
          <p:nvPr/>
        </p:nvSpPr>
        <p:spPr>
          <a:xfrm>
            <a:off x="4666488" y="1801368"/>
            <a:ext cx="6836664" cy="312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arrayInitializer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array[][</a:t>
            </a:r>
            <a:r>
              <a:rPr lang="en-US" sz="14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 &lt;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row++)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 =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column &lt;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column++)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array[row][column] = row * column;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twoD[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arrayInitializer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(twoD);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Running the multiplication table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7406640" cy="3407156"/>
          </a:xfrm>
          <a:prstGeom prst="roundRect">
            <a:avLst>
              <a:gd name="adj" fmla="val 2147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4" name="Code highlight 19"/>
          <p:cNvSpPr/>
          <p:nvPr/>
        </p:nvSpPr>
        <p:spPr>
          <a:xfrm>
            <a:off x="603504" y="2634488"/>
            <a:ext cx="7296912" cy="2311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5" name="Code highlight 20"/>
          <p:cNvSpPr/>
          <p:nvPr/>
        </p:nvSpPr>
        <p:spPr>
          <a:xfrm>
            <a:off x="603504" y="2865628"/>
            <a:ext cx="7296912" cy="2311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21"/>
          <p:cNvSpPr/>
          <p:nvPr/>
        </p:nvSpPr>
        <p:spPr>
          <a:xfrm>
            <a:off x="603504" y="3096768"/>
            <a:ext cx="7296912" cy="2311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22"/>
          <p:cNvSpPr/>
          <p:nvPr/>
        </p:nvSpPr>
        <p:spPr>
          <a:xfrm>
            <a:off x="603504" y="3327908"/>
            <a:ext cx="7296912" cy="2311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23"/>
          <p:cNvSpPr/>
          <p:nvPr/>
        </p:nvSpPr>
        <p:spPr>
          <a:xfrm>
            <a:off x="603504" y="3559048"/>
            <a:ext cx="7296912" cy="2311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highlight 24"/>
          <p:cNvSpPr/>
          <p:nvPr/>
        </p:nvSpPr>
        <p:spPr>
          <a:xfrm>
            <a:off x="603504" y="3790188"/>
            <a:ext cx="7296912" cy="2311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ode line numbers"/>
          <p:cNvSpPr txBox="1"/>
          <p:nvPr/>
        </p:nvSpPr>
        <p:spPr>
          <a:xfrm>
            <a:off x="749808" y="1709928"/>
            <a:ext cx="426720" cy="3004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11" name="Code text"/>
          <p:cNvSpPr txBox="1"/>
          <p:nvPr/>
        </p:nvSpPr>
        <p:spPr>
          <a:xfrm>
            <a:off x="1176528" y="1709928"/>
            <a:ext cx="6669024" cy="3004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twoD[</a:t>
            </a:r>
            <a:r>
              <a:rPr lang="en-US" sz="14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4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arrayInitializer</a:t>
            </a: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(twoD);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 = </a:t>
            </a:r>
            <a:r>
              <a:rPr lang="en-US" sz="14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 &lt; </a:t>
            </a:r>
            <a:r>
              <a:rPr lang="en-US" sz="14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row++) {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 = </a:t>
            </a:r>
            <a:r>
              <a:rPr lang="en-US" sz="14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column &lt; </a:t>
            </a:r>
            <a:r>
              <a:rPr lang="en-US" sz="14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column++) {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twoD[row][column] &lt;&lt; </a:t>
            </a:r>
            <a:r>
              <a:rPr lang="en-US" sz="14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"\t"</a:t>
            </a: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endl;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Body"/>
          <p:cNvSpPr txBox="1"/>
          <p:nvPr/>
        </p:nvSpPr>
        <p:spPr>
          <a:xfrm>
            <a:off x="8229600" y="150876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The nested loop prints one row of the table per line, with a tab (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r>
              <a:rPr lang="en-US" sz="1800" dirty="0">
                <a:solidFill>
                  <a:schemeClr val="tx1"/>
                </a:solidFill>
              </a:rPr>
              <a:t>) between columns.</a:t>
            </a:r>
            <a:endParaRPr lang="en-US" sz="1800" dirty="0"/>
          </a:p>
        </p:txBody>
      </p:sp>
      <p:sp>
        <p:nvSpPr>
          <p:cNvPr id="13" name="Terminal panel"/>
          <p:cNvSpPr/>
          <p:nvPr/>
        </p:nvSpPr>
        <p:spPr>
          <a:xfrm>
            <a:off x="8229600" y="3337560"/>
            <a:ext cx="3383280" cy="2049780"/>
          </a:xfrm>
          <a:prstGeom prst="roundRect">
            <a:avLst>
              <a:gd name="adj" fmla="val 2677"/>
            </a:avLst>
          </a:prstGeom>
          <a:solidFill>
            <a:srgbClr val="FFFFFF"/>
          </a:solidFill>
          <a:ln w="19050">
            <a:solidFill>
              <a:srgbClr val="57606A"/>
            </a:solidFill>
            <a:prstDash val="solid"/>
          </a:ln>
        </p:spPr>
      </p:sp>
      <p:sp>
        <p:nvSpPr>
          <p:cNvPr id="14" name="Terminal text"/>
          <p:cNvSpPr txBox="1"/>
          <p:nvPr/>
        </p:nvSpPr>
        <p:spPr>
          <a:xfrm>
            <a:off x="8412480" y="3520440"/>
            <a:ext cx="3108960" cy="1684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7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./multiply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0   0   0   0   0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0   1   2   3   4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0   2   4   6   8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0   3   6   9   12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0   4   8   12  16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 debugging tip: 2D arrays in memory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2801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All the rows of a two-dimensional array are stored </a:t>
            </a:r>
            <a:r>
              <a:rPr lang="en-US" sz="1900" i="1" dirty="0">
                <a:solidFill>
                  <a:schemeClr val="tx1"/>
                </a:solidFill>
              </a:rPr>
              <a:t>one right after another</a:t>
            </a:r>
            <a:r>
              <a:rPr lang="en-US" sz="1900" dirty="0">
                <a:solidFill>
                  <a:schemeClr val="tx1"/>
                </a:solidFill>
              </a:rPr>
              <a:t> in memory. If you write to a column off the right edge of one row, you may end up writing to the left edge of the </a:t>
            </a:r>
            <a:r>
              <a:rPr lang="en-US" sz="1900" b="1" dirty="0">
                <a:solidFill>
                  <a:schemeClr val="tx1"/>
                </a:solidFill>
              </a:rPr>
              <a:t>next</a:t>
            </a:r>
            <a:r>
              <a:rPr lang="en-US" sz="1900" dirty="0">
                <a:solidFill>
                  <a:schemeClr val="tx1"/>
                </a:solidFill>
              </a:rPr>
              <a:t> row.</a:t>
            </a:r>
            <a:endParaRPr lang="en-US" sz="1900" dirty="0"/>
          </a:p>
        </p:txBody>
      </p:sp>
      <p:sp>
        <p:nvSpPr>
          <p:cNvPr id="4" name="Row 0 label"/>
          <p:cNvSpPr txBox="1"/>
          <p:nvPr/>
        </p:nvSpPr>
        <p:spPr>
          <a:xfrm>
            <a:off x="68580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5160"/>
                </a:solidFill>
              </a:rPr>
              <a:t>row 0</a:t>
            </a:r>
            <a:endParaRPr lang="en-US" sz="1500" dirty="0"/>
          </a:p>
        </p:txBody>
      </p:sp>
      <p:sp>
        <p:nvSpPr>
          <p:cNvPr id="5" name="Cell 0,0"/>
          <p:cNvSpPr/>
          <p:nvPr/>
        </p:nvSpPr>
        <p:spPr>
          <a:xfrm>
            <a:off x="685800" y="2788920"/>
            <a:ext cx="685800" cy="566928"/>
          </a:xfrm>
          <a:prstGeom prst="rect">
            <a:avLst/>
          </a:prstGeom>
          <a:solidFill>
            <a:srgbClr val="DCE7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Cell 0,0 label"/>
          <p:cNvSpPr txBox="1"/>
          <p:nvPr/>
        </p:nvSpPr>
        <p:spPr>
          <a:xfrm>
            <a:off x="6858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[0][0]</a:t>
            </a:r>
            <a:endParaRPr lang="en-US" sz="1300" dirty="0"/>
          </a:p>
        </p:txBody>
      </p:sp>
      <p:sp>
        <p:nvSpPr>
          <p:cNvPr id="7" name="Cell 0,1"/>
          <p:cNvSpPr/>
          <p:nvPr/>
        </p:nvSpPr>
        <p:spPr>
          <a:xfrm>
            <a:off x="1371600" y="2788920"/>
            <a:ext cx="685800" cy="566928"/>
          </a:xfrm>
          <a:prstGeom prst="rect">
            <a:avLst/>
          </a:prstGeom>
          <a:solidFill>
            <a:srgbClr val="DCE7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Cell 0,1 label"/>
          <p:cNvSpPr txBox="1"/>
          <p:nvPr/>
        </p:nvSpPr>
        <p:spPr>
          <a:xfrm>
            <a:off x="13716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[0][1]</a:t>
            </a:r>
            <a:endParaRPr lang="en-US" sz="1300" dirty="0"/>
          </a:p>
        </p:txBody>
      </p:sp>
      <p:sp>
        <p:nvSpPr>
          <p:cNvPr id="9" name="Cell 0,2"/>
          <p:cNvSpPr/>
          <p:nvPr/>
        </p:nvSpPr>
        <p:spPr>
          <a:xfrm>
            <a:off x="2057400" y="2788920"/>
            <a:ext cx="685800" cy="566928"/>
          </a:xfrm>
          <a:prstGeom prst="rect">
            <a:avLst/>
          </a:prstGeom>
          <a:solidFill>
            <a:srgbClr val="DCE7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Cell 0,2 label"/>
          <p:cNvSpPr txBox="1"/>
          <p:nvPr/>
        </p:nvSpPr>
        <p:spPr>
          <a:xfrm>
            <a:off x="20574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[0][2]</a:t>
            </a:r>
            <a:endParaRPr lang="en-US" sz="1300" dirty="0"/>
          </a:p>
        </p:txBody>
      </p:sp>
      <p:sp>
        <p:nvSpPr>
          <p:cNvPr id="11" name="Cell 0,3"/>
          <p:cNvSpPr/>
          <p:nvPr/>
        </p:nvSpPr>
        <p:spPr>
          <a:xfrm>
            <a:off x="2743200" y="2788920"/>
            <a:ext cx="685800" cy="566928"/>
          </a:xfrm>
          <a:prstGeom prst="rect">
            <a:avLst/>
          </a:prstGeom>
          <a:solidFill>
            <a:srgbClr val="DCE7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Cell 0,3 label"/>
          <p:cNvSpPr txBox="1"/>
          <p:nvPr/>
        </p:nvSpPr>
        <p:spPr>
          <a:xfrm>
            <a:off x="27432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[0][3]</a:t>
            </a:r>
            <a:endParaRPr lang="en-US" sz="1300" dirty="0"/>
          </a:p>
        </p:txBody>
      </p:sp>
      <p:sp>
        <p:nvSpPr>
          <p:cNvPr id="13" name="Cell 0,4"/>
          <p:cNvSpPr/>
          <p:nvPr/>
        </p:nvSpPr>
        <p:spPr>
          <a:xfrm>
            <a:off x="3429000" y="2788920"/>
            <a:ext cx="685800" cy="566928"/>
          </a:xfrm>
          <a:prstGeom prst="rect">
            <a:avLst/>
          </a:prstGeom>
          <a:solidFill>
            <a:srgbClr val="DCE7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Cell 0,4 label"/>
          <p:cNvSpPr txBox="1"/>
          <p:nvPr/>
        </p:nvSpPr>
        <p:spPr>
          <a:xfrm>
            <a:off x="34290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[0][4]</a:t>
            </a:r>
            <a:endParaRPr lang="en-US" sz="1300" dirty="0"/>
          </a:p>
        </p:txBody>
      </p:sp>
      <p:sp>
        <p:nvSpPr>
          <p:cNvPr id="15" name="Row 1 label"/>
          <p:cNvSpPr txBox="1"/>
          <p:nvPr/>
        </p:nvSpPr>
        <p:spPr>
          <a:xfrm>
            <a:off x="411480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5160"/>
                </a:solidFill>
              </a:rPr>
              <a:t>row 1</a:t>
            </a:r>
            <a:endParaRPr lang="en-US" sz="1500" dirty="0"/>
          </a:p>
        </p:txBody>
      </p:sp>
      <p:sp>
        <p:nvSpPr>
          <p:cNvPr id="16" name="Cell 1,0"/>
          <p:cNvSpPr/>
          <p:nvPr/>
        </p:nvSpPr>
        <p:spPr>
          <a:xfrm>
            <a:off x="4114800" y="2788920"/>
            <a:ext cx="685800" cy="566928"/>
          </a:xfrm>
          <a:prstGeom prst="rect">
            <a:avLst/>
          </a:prstGeom>
          <a:solidFill>
            <a:srgbClr val="E0A4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ell 1,0 label"/>
          <p:cNvSpPr txBox="1"/>
          <p:nvPr/>
        </p:nvSpPr>
        <p:spPr>
          <a:xfrm>
            <a:off x="41148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[1][0]</a:t>
            </a:r>
            <a:endParaRPr lang="en-US" sz="1300" dirty="0"/>
          </a:p>
        </p:txBody>
      </p:sp>
      <p:sp>
        <p:nvSpPr>
          <p:cNvPr id="18" name="Cell 1,1"/>
          <p:cNvSpPr/>
          <p:nvPr/>
        </p:nvSpPr>
        <p:spPr>
          <a:xfrm>
            <a:off x="4800600" y="2788920"/>
            <a:ext cx="685800" cy="566928"/>
          </a:xfrm>
          <a:prstGeom prst="rect">
            <a:avLst/>
          </a:prstGeom>
          <a:solidFill>
            <a:srgbClr val="F7E6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ell 1,1 label"/>
          <p:cNvSpPr txBox="1"/>
          <p:nvPr/>
        </p:nvSpPr>
        <p:spPr>
          <a:xfrm>
            <a:off x="48006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[1][1]</a:t>
            </a:r>
            <a:endParaRPr lang="en-US" sz="1300" dirty="0"/>
          </a:p>
        </p:txBody>
      </p:sp>
      <p:sp>
        <p:nvSpPr>
          <p:cNvPr id="20" name="Cell 1,2"/>
          <p:cNvSpPr/>
          <p:nvPr/>
        </p:nvSpPr>
        <p:spPr>
          <a:xfrm>
            <a:off x="5486400" y="2788920"/>
            <a:ext cx="685800" cy="566928"/>
          </a:xfrm>
          <a:prstGeom prst="rect">
            <a:avLst/>
          </a:prstGeom>
          <a:solidFill>
            <a:srgbClr val="F7E6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ell 1,2 label"/>
          <p:cNvSpPr txBox="1"/>
          <p:nvPr/>
        </p:nvSpPr>
        <p:spPr>
          <a:xfrm>
            <a:off x="54864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[1][2]</a:t>
            </a:r>
            <a:endParaRPr lang="en-US" sz="1300" dirty="0"/>
          </a:p>
        </p:txBody>
      </p:sp>
      <p:sp>
        <p:nvSpPr>
          <p:cNvPr id="22" name="Cell 1,3"/>
          <p:cNvSpPr/>
          <p:nvPr/>
        </p:nvSpPr>
        <p:spPr>
          <a:xfrm>
            <a:off x="6172200" y="2788920"/>
            <a:ext cx="685800" cy="566928"/>
          </a:xfrm>
          <a:prstGeom prst="rect">
            <a:avLst/>
          </a:prstGeom>
          <a:solidFill>
            <a:srgbClr val="F7E6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ell 1,3 label"/>
          <p:cNvSpPr txBox="1"/>
          <p:nvPr/>
        </p:nvSpPr>
        <p:spPr>
          <a:xfrm>
            <a:off x="61722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[1][3]</a:t>
            </a:r>
            <a:endParaRPr lang="en-US" sz="1300" dirty="0"/>
          </a:p>
        </p:txBody>
      </p:sp>
      <p:sp>
        <p:nvSpPr>
          <p:cNvPr id="24" name="Cell 1,4"/>
          <p:cNvSpPr/>
          <p:nvPr/>
        </p:nvSpPr>
        <p:spPr>
          <a:xfrm>
            <a:off x="6858000" y="2788920"/>
            <a:ext cx="685800" cy="566928"/>
          </a:xfrm>
          <a:prstGeom prst="rect">
            <a:avLst/>
          </a:prstGeom>
          <a:solidFill>
            <a:srgbClr val="F7E6C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Cell 1,4 label"/>
          <p:cNvSpPr txBox="1"/>
          <p:nvPr/>
        </p:nvSpPr>
        <p:spPr>
          <a:xfrm>
            <a:off x="68580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[1][4]</a:t>
            </a:r>
            <a:endParaRPr lang="en-US" sz="1300" dirty="0"/>
          </a:p>
        </p:txBody>
      </p:sp>
      <p:sp>
        <p:nvSpPr>
          <p:cNvPr id="26" name="Row 2 label"/>
          <p:cNvSpPr txBox="1"/>
          <p:nvPr/>
        </p:nvSpPr>
        <p:spPr>
          <a:xfrm>
            <a:off x="7543800" y="23774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A5160"/>
                </a:solidFill>
              </a:rPr>
              <a:t>row 2</a:t>
            </a:r>
            <a:endParaRPr lang="en-US" sz="1500" dirty="0"/>
          </a:p>
        </p:txBody>
      </p:sp>
      <p:sp>
        <p:nvSpPr>
          <p:cNvPr id="27" name="Cell 2,0"/>
          <p:cNvSpPr/>
          <p:nvPr/>
        </p:nvSpPr>
        <p:spPr>
          <a:xfrm>
            <a:off x="7543800" y="2788920"/>
            <a:ext cx="685800" cy="566928"/>
          </a:xfrm>
          <a:prstGeom prst="rect">
            <a:avLst/>
          </a:prstGeom>
          <a:solidFill>
            <a:srgbClr val="DDED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Cell 2,0 label"/>
          <p:cNvSpPr txBox="1"/>
          <p:nvPr/>
        </p:nvSpPr>
        <p:spPr>
          <a:xfrm>
            <a:off x="75438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[2][0]</a:t>
            </a:r>
            <a:endParaRPr lang="en-US" sz="1300" dirty="0"/>
          </a:p>
        </p:txBody>
      </p:sp>
      <p:sp>
        <p:nvSpPr>
          <p:cNvPr id="29" name="Cell 2,1"/>
          <p:cNvSpPr/>
          <p:nvPr/>
        </p:nvSpPr>
        <p:spPr>
          <a:xfrm>
            <a:off x="8229600" y="2788920"/>
            <a:ext cx="685800" cy="566928"/>
          </a:xfrm>
          <a:prstGeom prst="rect">
            <a:avLst/>
          </a:prstGeom>
          <a:solidFill>
            <a:srgbClr val="DDED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Cell 2,1 label"/>
          <p:cNvSpPr txBox="1"/>
          <p:nvPr/>
        </p:nvSpPr>
        <p:spPr>
          <a:xfrm>
            <a:off x="82296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[2][1]</a:t>
            </a:r>
            <a:endParaRPr lang="en-US" sz="1300" dirty="0"/>
          </a:p>
        </p:txBody>
      </p:sp>
      <p:sp>
        <p:nvSpPr>
          <p:cNvPr id="31" name="Cell 2,2"/>
          <p:cNvSpPr/>
          <p:nvPr/>
        </p:nvSpPr>
        <p:spPr>
          <a:xfrm>
            <a:off x="8915400" y="2788920"/>
            <a:ext cx="685800" cy="566928"/>
          </a:xfrm>
          <a:prstGeom prst="rect">
            <a:avLst/>
          </a:prstGeom>
          <a:solidFill>
            <a:srgbClr val="DDED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Cell 2,2 label"/>
          <p:cNvSpPr txBox="1"/>
          <p:nvPr/>
        </p:nvSpPr>
        <p:spPr>
          <a:xfrm>
            <a:off x="89154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[2][2]</a:t>
            </a:r>
            <a:endParaRPr lang="en-US" sz="1300" dirty="0"/>
          </a:p>
        </p:txBody>
      </p:sp>
      <p:sp>
        <p:nvSpPr>
          <p:cNvPr id="33" name="Cell 2,3"/>
          <p:cNvSpPr/>
          <p:nvPr/>
        </p:nvSpPr>
        <p:spPr>
          <a:xfrm>
            <a:off x="9601200" y="2788920"/>
            <a:ext cx="685800" cy="566928"/>
          </a:xfrm>
          <a:prstGeom prst="rect">
            <a:avLst/>
          </a:prstGeom>
          <a:solidFill>
            <a:srgbClr val="DDED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Cell 2,3 label"/>
          <p:cNvSpPr txBox="1"/>
          <p:nvPr/>
        </p:nvSpPr>
        <p:spPr>
          <a:xfrm>
            <a:off x="96012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[2][3]</a:t>
            </a:r>
            <a:endParaRPr lang="en-US" sz="1300" dirty="0"/>
          </a:p>
        </p:txBody>
      </p:sp>
      <p:sp>
        <p:nvSpPr>
          <p:cNvPr id="35" name="Cell 2,4"/>
          <p:cNvSpPr/>
          <p:nvPr/>
        </p:nvSpPr>
        <p:spPr>
          <a:xfrm>
            <a:off x="10287000" y="2788920"/>
            <a:ext cx="685800" cy="566928"/>
          </a:xfrm>
          <a:prstGeom prst="rect">
            <a:avLst/>
          </a:prstGeom>
          <a:solidFill>
            <a:srgbClr val="DDED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Cell 2,4 label"/>
          <p:cNvSpPr txBox="1"/>
          <p:nvPr/>
        </p:nvSpPr>
        <p:spPr>
          <a:xfrm>
            <a:off x="10287000" y="27889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[2][4]</a:t>
            </a:r>
            <a:endParaRPr lang="en-US" sz="1300" dirty="0"/>
          </a:p>
        </p:txBody>
      </p:sp>
      <p:sp>
        <p:nvSpPr>
          <p:cNvPr id="37" name="More cells"/>
          <p:cNvSpPr txBox="1"/>
          <p:nvPr/>
        </p:nvSpPr>
        <p:spPr>
          <a:xfrm>
            <a:off x="11018520" y="27889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A8090"/>
                </a:solidFill>
              </a:rPr>
              <a:t>…</a:t>
            </a:r>
            <a:endParaRPr lang="en-US" sz="2400" dirty="0"/>
          </a:p>
        </p:txBody>
      </p:sp>
      <p:sp>
        <p:nvSpPr>
          <p:cNvPr id="38" name="Overflow pointer"/>
          <p:cNvSpPr/>
          <p:nvPr/>
        </p:nvSpPr>
        <p:spPr>
          <a:xfrm>
            <a:off x="4457700" y="3401568"/>
            <a:ext cx="0" cy="41148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39" name="Overflow caption"/>
          <p:cNvSpPr txBox="1"/>
          <p:nvPr/>
        </p:nvSpPr>
        <p:spPr>
          <a:xfrm>
            <a:off x="418338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twoD[0][5]</a:t>
            </a:r>
            <a:r>
              <a:rPr lang="en-US" sz="1600" dirty="0">
                <a:solidFill>
                  <a:schemeClr val="tx1"/>
                </a:solidFill>
              </a:rPr>
              <a:t> doesn't exist… but this is the memory it lands on: </a:t>
            </a:r>
            <a:r>
              <a:rPr lang="en-US" sz="16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twoD[1][0]</a:t>
            </a:r>
            <a:endParaRPr lang="en-US" sz="1600" dirty="0"/>
          </a:p>
        </p:txBody>
      </p:sp>
      <p:sp>
        <p:nvSpPr>
          <p:cNvPr id="40" name="Takeaway card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Body"/>
          <p:cNvSpPr txBox="1"/>
          <p:nvPr/>
        </p:nvSpPr>
        <p:spPr>
          <a:xfrm>
            <a:off x="82296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Officially, reading or writing outside an array is </a:t>
            </a:r>
            <a:r>
              <a:rPr lang="en-US" sz="1700" i="1" dirty="0">
                <a:solidFill>
                  <a:schemeClr val="tx1"/>
                </a:solidFill>
              </a:rPr>
              <a:t>undefined behavior</a:t>
            </a:r>
            <a:r>
              <a:rPr lang="en-US" sz="1700" dirty="0">
                <a:solidFill>
                  <a:schemeClr val="tx1"/>
                </a:solidFill>
              </a:rPr>
              <a:t>: the program might quietly overwrite a neighbor (like above), crash, or seem fine until it suddenly isn't.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The way to avoid this bug? Make </a:t>
            </a:r>
            <a:r>
              <a:rPr lang="en-US" sz="1700" i="1" dirty="0">
                <a:solidFill>
                  <a:schemeClr val="tx1"/>
                </a:solidFill>
              </a:rPr>
              <a:t>super sure</a:t>
            </a:r>
            <a:r>
              <a:rPr lang="en-US" sz="1700" dirty="0">
                <a:solidFill>
                  <a:schemeClr val="tx1"/>
                </a:solidFill>
              </a:rPr>
              <a:t> you never read or write off the end of an array.</a:t>
            </a:r>
            <a:endParaRPr lang="en-US" sz="1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400" dirty="0">
                <a:solidFill>
                  <a:schemeClr val="tx1"/>
                </a:solidFill>
              </a:rPr>
              <a:t>Structs and enums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6118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160"/>
                </a:solidFill>
              </a:rPr>
              <a:t>we're almost to classes, everyone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first struct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Say you're working on a project with a bunch of </a:t>
            </a:r>
            <a:r>
              <a:rPr lang="en-US" sz="2000" i="1" dirty="0">
                <a:solidFill>
                  <a:schemeClr val="tx1"/>
                </a:solidFill>
              </a:rPr>
              <a:t>different</a:t>
            </a:r>
            <a:r>
              <a:rPr lang="en-US" sz="2000" dirty="0">
                <a:solidFill>
                  <a:schemeClr val="tx1"/>
                </a:solidFill>
              </a:rPr>
              <a:t> types of data, but where it makes sense to bundle those pieces of data together.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For example, say you want to store this information about a robot:</a:t>
            </a:r>
            <a:endParaRPr lang="en-US" sz="2000" dirty="0"/>
          </a:p>
        </p:txBody>
      </p:sp>
      <p:sp>
        <p:nvSpPr>
          <p:cNvPr id="4" name="Robot field 1"/>
          <p:cNvSpPr/>
          <p:nvPr/>
        </p:nvSpPr>
        <p:spPr>
          <a:xfrm>
            <a:off x="6583680" y="1463040"/>
            <a:ext cx="50292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ield name 1"/>
          <p:cNvSpPr txBox="1"/>
          <p:nvPr/>
        </p:nvSpPr>
        <p:spPr>
          <a:xfrm>
            <a:off x="6858000" y="1463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row it's on</a:t>
            </a:r>
            <a:endParaRPr lang="en-US" sz="2000" dirty="0"/>
          </a:p>
        </p:txBody>
      </p:sp>
      <p:sp>
        <p:nvSpPr>
          <p:cNvPr id="6" name="Field type 1"/>
          <p:cNvSpPr txBox="1"/>
          <p:nvPr/>
        </p:nvSpPr>
        <p:spPr>
          <a:xfrm>
            <a:off x="9966960" y="14630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2000" dirty="0"/>
          </a:p>
        </p:txBody>
      </p:sp>
      <p:sp>
        <p:nvSpPr>
          <p:cNvPr id="7" name="Robot field 2"/>
          <p:cNvSpPr/>
          <p:nvPr/>
        </p:nvSpPr>
        <p:spPr>
          <a:xfrm>
            <a:off x="6583680" y="2560320"/>
            <a:ext cx="50292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ield name 2"/>
          <p:cNvSpPr txBox="1"/>
          <p:nvPr/>
        </p:nvSpPr>
        <p:spPr>
          <a:xfrm>
            <a:off x="6858000" y="25603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column it's on</a:t>
            </a:r>
            <a:endParaRPr lang="en-US" sz="2000" dirty="0"/>
          </a:p>
        </p:txBody>
      </p:sp>
      <p:sp>
        <p:nvSpPr>
          <p:cNvPr id="9" name="Field type 2"/>
          <p:cNvSpPr txBox="1"/>
          <p:nvPr/>
        </p:nvSpPr>
        <p:spPr>
          <a:xfrm>
            <a:off x="9966960" y="256032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2000" dirty="0"/>
          </a:p>
        </p:txBody>
      </p:sp>
      <p:sp>
        <p:nvSpPr>
          <p:cNvPr id="10" name="Robot field 3"/>
          <p:cNvSpPr/>
          <p:nvPr/>
        </p:nvSpPr>
        <p:spPr>
          <a:xfrm>
            <a:off x="6583680" y="3657600"/>
            <a:ext cx="50292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Field name 3"/>
          <p:cNvSpPr txBox="1"/>
          <p:nvPr/>
        </p:nvSpPr>
        <p:spPr>
          <a:xfrm>
            <a:off x="6858000" y="36576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the direction it's facing</a:t>
            </a:r>
            <a:endParaRPr lang="en-US" sz="2000" dirty="0"/>
          </a:p>
        </p:txBody>
      </p:sp>
      <p:sp>
        <p:nvSpPr>
          <p:cNvPr id="12" name="Field type 3"/>
          <p:cNvSpPr txBox="1"/>
          <p:nvPr/>
        </p:nvSpPr>
        <p:spPr>
          <a:xfrm>
            <a:off x="9966960" y="365760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int?</a:t>
            </a:r>
            <a:endParaRPr lang="en-US" sz="2000" dirty="0"/>
          </a:p>
        </p:txBody>
      </p:sp>
      <p:sp>
        <p:nvSpPr>
          <p:cNvPr id="13" name="Robot field 4"/>
          <p:cNvSpPr/>
          <p:nvPr/>
        </p:nvSpPr>
        <p:spPr>
          <a:xfrm>
            <a:off x="6583680" y="4754880"/>
            <a:ext cx="50292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ield name 4"/>
          <p:cNvSpPr txBox="1"/>
          <p:nvPr/>
        </p:nvSpPr>
        <p:spPr>
          <a:xfrm>
            <a:off x="685800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its name</a:t>
            </a:r>
            <a:endParaRPr lang="en-US" sz="2000" dirty="0"/>
          </a:p>
        </p:txBody>
      </p:sp>
      <p:sp>
        <p:nvSpPr>
          <p:cNvPr id="15" name="Field type 4"/>
          <p:cNvSpPr txBox="1"/>
          <p:nvPr/>
        </p:nvSpPr>
        <p:spPr>
          <a:xfrm>
            <a:off x="9966960" y="475488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B326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2000" dirty="0"/>
          </a:p>
        </p:txBody>
      </p:sp>
      <p:sp>
        <p:nvSpPr>
          <p:cNvPr id="16" name="Body"/>
          <p:cNvSpPr txBox="1"/>
          <p:nvPr/>
        </p:nvSpPr>
        <p:spPr>
          <a:xfrm>
            <a:off x="548640" y="39319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4A5160"/>
                </a:solidFill>
              </a:rPr>
              <a:t>You can't store these together in one array. Row and column are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900" dirty="0">
                <a:solidFill>
                  <a:srgbClr val="4A5160"/>
                </a:solidFill>
              </a:rPr>
              <a:t>s, and the direction could be an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900" dirty="0">
                <a:solidFill>
                  <a:srgbClr val="4A5160"/>
                </a:solidFill>
              </a:rPr>
              <a:t>… but the name can't really be reduced to an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900" dirty="0">
                <a:solidFill>
                  <a:srgbClr val="4A5160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first struct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572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You </a:t>
            </a:r>
            <a:r>
              <a:rPr lang="en-US" sz="2000" i="1" dirty="0">
                <a:solidFill>
                  <a:schemeClr val="tx1"/>
                </a:solidFill>
              </a:rPr>
              <a:t>could</a:t>
            </a:r>
            <a:r>
              <a:rPr lang="en-US" sz="2000" dirty="0">
                <a:solidFill>
                  <a:schemeClr val="tx1"/>
                </a:solidFill>
              </a:rPr>
              <a:t> store them in separate variables… but then you'd have to pass every one of them into every function that uses them.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This is a pain.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Fortunately, C++ has a tool that lets us bundle them all together: the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486400" y="1874520"/>
            <a:ext cx="6172200" cy="2515616"/>
          </a:xfrm>
          <a:prstGeom prst="roundRect">
            <a:avLst>
              <a:gd name="adj" fmla="val 2908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text"/>
          <p:cNvSpPr txBox="1"/>
          <p:nvPr/>
        </p:nvSpPr>
        <p:spPr>
          <a:xfrm>
            <a:off x="5687568" y="2075688"/>
            <a:ext cx="5861304" cy="211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karelRow 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karelColumn 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karelFacing 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karelName = </a:t>
            </a:r>
            <a:r>
              <a:rPr lang="en-US" sz="16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 T. Robot"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(karelRow, karelColumn, karelFacing);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karelPrint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(karelRow, karelColumn, karelFacing,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karelName);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first struct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Here's a struct that bundles all four together.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4572000" y="1920240"/>
            <a:ext cx="5120640" cy="4250436"/>
          </a:xfrm>
          <a:prstGeom prst="roundRect">
            <a:avLst>
              <a:gd name="adj" fmla="val 1721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6"/>
          <p:cNvSpPr/>
          <p:nvPr/>
        </p:nvSpPr>
        <p:spPr>
          <a:xfrm>
            <a:off x="4626864" y="340410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7"/>
          <p:cNvSpPr/>
          <p:nvPr/>
        </p:nvSpPr>
        <p:spPr>
          <a:xfrm>
            <a:off x="4626864" y="366064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8"/>
          <p:cNvSpPr/>
          <p:nvPr/>
        </p:nvSpPr>
        <p:spPr>
          <a:xfrm>
            <a:off x="4626864" y="391718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10"/>
          <p:cNvSpPr/>
          <p:nvPr/>
        </p:nvSpPr>
        <p:spPr>
          <a:xfrm>
            <a:off x="4626864" y="443026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highlight 11"/>
          <p:cNvSpPr/>
          <p:nvPr/>
        </p:nvSpPr>
        <p:spPr>
          <a:xfrm>
            <a:off x="4626864" y="468680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ode highlight 12"/>
          <p:cNvSpPr/>
          <p:nvPr/>
        </p:nvSpPr>
        <p:spPr>
          <a:xfrm>
            <a:off x="4626864" y="494334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1" name="Code highlight 13"/>
          <p:cNvSpPr/>
          <p:nvPr/>
        </p:nvSpPr>
        <p:spPr>
          <a:xfrm>
            <a:off x="4626864" y="519988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2" name="Code highlight 14"/>
          <p:cNvSpPr/>
          <p:nvPr/>
        </p:nvSpPr>
        <p:spPr>
          <a:xfrm>
            <a:off x="4626864" y="545642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3" name="Code highlight 15"/>
          <p:cNvSpPr/>
          <p:nvPr/>
        </p:nvSpPr>
        <p:spPr>
          <a:xfrm>
            <a:off x="4626864" y="5712968"/>
            <a:ext cx="5010912" cy="25654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4" name="Code line numbers"/>
          <p:cNvSpPr txBox="1"/>
          <p:nvPr/>
        </p:nvSpPr>
        <p:spPr>
          <a:xfrm>
            <a:off x="4773168" y="2121408"/>
            <a:ext cx="472440" cy="38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550" dirty="0"/>
          </a:p>
        </p:txBody>
      </p:sp>
      <p:sp>
        <p:nvSpPr>
          <p:cNvPr id="15" name="Code text"/>
          <p:cNvSpPr txBox="1"/>
          <p:nvPr/>
        </p:nvSpPr>
        <p:spPr>
          <a:xfrm>
            <a:off x="5245608" y="2121408"/>
            <a:ext cx="4337304" cy="384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5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5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5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5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5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5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550" dirty="0"/>
          </a:p>
          <a:p>
            <a:pPr marL="0" indent="0">
              <a:lnSpc>
                <a:spcPts val="2020"/>
              </a:lnSpc>
              <a:buNone/>
            </a:pPr>
            <a:r>
              <a:rPr lang="en-US" sz="15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550" dirty="0"/>
          </a:p>
        </p:txBody>
      </p:sp>
      <p:sp>
        <p:nvSpPr>
          <p:cNvPr id="16" name="Callout"/>
          <p:cNvSpPr txBox="1"/>
          <p:nvPr/>
        </p:nvSpPr>
        <p:spPr>
          <a:xfrm>
            <a:off x="548640" y="337743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A5160"/>
                </a:solidFill>
              </a:rPr>
              <a:t>We'll talk about what this means in a second</a:t>
            </a:r>
            <a:endParaRPr lang="en-US" sz="1600" dirty="0"/>
          </a:p>
        </p:txBody>
      </p:sp>
      <p:sp>
        <p:nvSpPr>
          <p:cNvPr id="17" name="Callout connector"/>
          <p:cNvSpPr/>
          <p:nvPr/>
        </p:nvSpPr>
        <p:spPr>
          <a:xfrm>
            <a:off x="4187952" y="3788918"/>
            <a:ext cx="38404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Callout"/>
          <p:cNvSpPr txBox="1"/>
          <p:nvPr/>
        </p:nvSpPr>
        <p:spPr>
          <a:xfrm>
            <a:off x="548640" y="466013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A5160"/>
                </a:solidFill>
              </a:rPr>
              <a:t>This struct stores four variables: two </a:t>
            </a:r>
            <a:r>
              <a:rPr lang="en-US" sz="16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4A5160"/>
                </a:solidFill>
              </a:rPr>
              <a:t>s, a </a:t>
            </a:r>
            <a:r>
              <a:rPr lang="en-US" sz="16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600" dirty="0">
                <a:solidFill>
                  <a:srgbClr val="4A5160"/>
                </a:solidFill>
              </a:rPr>
              <a:t>, and a </a:t>
            </a:r>
            <a:r>
              <a:rPr lang="en-US" sz="16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600" dirty="0"/>
          </a:p>
        </p:txBody>
      </p:sp>
      <p:sp>
        <p:nvSpPr>
          <p:cNvPr id="19" name="Callout connector"/>
          <p:cNvSpPr/>
          <p:nvPr/>
        </p:nvSpPr>
        <p:spPr>
          <a:xfrm>
            <a:off x="4187952" y="5071618"/>
            <a:ext cx="38404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Tangent: enums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You might be wondering: what on earth is this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2000" dirty="0">
                <a:solidFill>
                  <a:schemeClr val="tx1"/>
                </a:solidFill>
              </a:rPr>
              <a:t> thing?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Think of an enum as a way to bundle many related constants together.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852160" y="1600200"/>
            <a:ext cx="5760720" cy="4612386"/>
          </a:xfrm>
          <a:prstGeom prst="roundRect">
            <a:avLst>
              <a:gd name="adj" fmla="val 158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6"/>
          <p:cNvSpPr/>
          <p:nvPr/>
        </p:nvSpPr>
        <p:spPr>
          <a:xfrm>
            <a:off x="5907024" y="320471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7"/>
          <p:cNvSpPr/>
          <p:nvPr/>
        </p:nvSpPr>
        <p:spPr>
          <a:xfrm>
            <a:off x="5907024" y="348538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8"/>
          <p:cNvSpPr/>
          <p:nvPr/>
        </p:nvSpPr>
        <p:spPr>
          <a:xfrm>
            <a:off x="5907024" y="376605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line numbers"/>
          <p:cNvSpPr txBox="1"/>
          <p:nvPr/>
        </p:nvSpPr>
        <p:spPr>
          <a:xfrm>
            <a:off x="6053328" y="1801368"/>
            <a:ext cx="518160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9" name="Code text"/>
          <p:cNvSpPr txBox="1"/>
          <p:nvPr/>
        </p:nvSpPr>
        <p:spPr>
          <a:xfrm>
            <a:off x="6571488" y="1801368"/>
            <a:ext cx="4931664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Tangent: enums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Each item in an enum is associated with an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By default the first one is associated with 0, the second with 1, and so forth: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2000" dirty="0">
                <a:solidFill>
                  <a:schemeClr val="tx1"/>
                </a:solidFill>
              </a:rPr>
              <a:t> is 0,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2000" dirty="0">
                <a:solidFill>
                  <a:schemeClr val="tx1"/>
                </a:solidFill>
              </a:rPr>
              <a:t> is 1,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2000" dirty="0">
                <a:solidFill>
                  <a:schemeClr val="tx1"/>
                </a:solidFill>
              </a:rPr>
              <a:t> is 2,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2000" dirty="0">
                <a:solidFill>
                  <a:schemeClr val="tx1"/>
                </a:solidFill>
              </a:rPr>
              <a:t> is 3.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852160" y="1600200"/>
            <a:ext cx="5760720" cy="4612386"/>
          </a:xfrm>
          <a:prstGeom prst="roundRect">
            <a:avLst>
              <a:gd name="adj" fmla="val 158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7"/>
          <p:cNvSpPr/>
          <p:nvPr/>
        </p:nvSpPr>
        <p:spPr>
          <a:xfrm>
            <a:off x="5907024" y="348538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6053328" y="1801368"/>
            <a:ext cx="518160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7" name="Code text"/>
          <p:cNvSpPr txBox="1"/>
          <p:nvPr/>
        </p:nvSpPr>
        <p:spPr>
          <a:xfrm>
            <a:off x="6571488" y="1801368"/>
            <a:ext cx="4931664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Tangent: enums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This is the </a:t>
            </a:r>
            <a:r>
              <a:rPr lang="en-US" sz="2000" b="1" dirty="0">
                <a:solidFill>
                  <a:schemeClr val="tx1"/>
                </a:solidFill>
              </a:rPr>
              <a:t>name</a:t>
            </a:r>
            <a:r>
              <a:rPr lang="en-US" sz="2000" dirty="0">
                <a:solidFill>
                  <a:schemeClr val="tx1"/>
                </a:solidFill>
              </a:rPr>
              <a:t> of the enum.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Once you've defined it,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chemeClr val="tx1"/>
                </a:solidFill>
              </a:rPr>
              <a:t> is a data type, just like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000" dirty="0">
                <a:solidFill>
                  <a:schemeClr val="tx1"/>
                </a:solidFill>
              </a:rPr>
              <a:t> are data types.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852160" y="1600200"/>
            <a:ext cx="5760720" cy="4612386"/>
          </a:xfrm>
          <a:prstGeom prst="roundRect">
            <a:avLst>
              <a:gd name="adj" fmla="val 158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6"/>
          <p:cNvSpPr/>
          <p:nvPr/>
        </p:nvSpPr>
        <p:spPr>
          <a:xfrm>
            <a:off x="5907024" y="320471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6053328" y="1801368"/>
            <a:ext cx="518160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7" name="Code text"/>
          <p:cNvSpPr txBox="1"/>
          <p:nvPr/>
        </p:nvSpPr>
        <p:spPr>
          <a:xfrm>
            <a:off x="6571488" y="1801368"/>
            <a:ext cx="4931664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Tangent: enums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Once you've defined it,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chemeClr val="tx1"/>
                </a:solidFill>
              </a:rPr>
              <a:t> is a data type, just like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000" dirty="0">
                <a:solidFill>
                  <a:schemeClr val="tx1"/>
                </a:solidFill>
              </a:rPr>
              <a:t> are data types.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So here, inside the struct, I can declare a variable of type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852160" y="1600200"/>
            <a:ext cx="5760720" cy="4612386"/>
          </a:xfrm>
          <a:prstGeom prst="roundRect">
            <a:avLst>
              <a:gd name="adj" fmla="val 158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6"/>
          <p:cNvSpPr/>
          <p:nvPr/>
        </p:nvSpPr>
        <p:spPr>
          <a:xfrm>
            <a:off x="5907024" y="320471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13"/>
          <p:cNvSpPr/>
          <p:nvPr/>
        </p:nvSpPr>
        <p:spPr>
          <a:xfrm>
            <a:off x="5907024" y="516940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line numbers"/>
          <p:cNvSpPr txBox="1"/>
          <p:nvPr/>
        </p:nvSpPr>
        <p:spPr>
          <a:xfrm>
            <a:off x="6053328" y="1801368"/>
            <a:ext cx="518160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8" name="Code text"/>
          <p:cNvSpPr txBox="1"/>
          <p:nvPr/>
        </p:nvSpPr>
        <p:spPr>
          <a:xfrm>
            <a:off x="6571488" y="1801368"/>
            <a:ext cx="4931664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Tangent: enums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When I print a variable of type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chemeClr val="tx1"/>
                </a:solidFill>
              </a:rPr>
              <a:t>, I get the integer that each item is associated with.</a:t>
            </a:r>
            <a:endParaRPr lang="en-US" sz="2000" dirty="0"/>
          </a:p>
        </p:txBody>
      </p:sp>
      <p:sp>
        <p:nvSpPr>
          <p:cNvPr id="4" name="Terminal panel"/>
          <p:cNvSpPr/>
          <p:nvPr/>
        </p:nvSpPr>
        <p:spPr>
          <a:xfrm>
            <a:off x="548640" y="3154680"/>
            <a:ext cx="4023360" cy="185166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57606A"/>
            </a:solidFill>
            <a:prstDash val="solid"/>
          </a:ln>
        </p:spPr>
      </p:sp>
      <p:sp>
        <p:nvSpPr>
          <p:cNvPr id="5" name="Terminal text"/>
          <p:cNvSpPr txBox="1"/>
          <p:nvPr/>
        </p:nvSpPr>
        <p:spPr>
          <a:xfrm>
            <a:off x="731520" y="3337560"/>
            <a:ext cx="3749040" cy="148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8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./enums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first: 0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second: 1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third: 2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fourth: 3</a:t>
            </a:r>
            <a:endParaRPr lang="en-US" sz="1800" dirty="0"/>
          </a:p>
        </p:txBody>
      </p:sp>
      <p:sp>
        <p:nvSpPr>
          <p:cNvPr id="6" name="Code panel"/>
          <p:cNvSpPr/>
          <p:nvPr/>
        </p:nvSpPr>
        <p:spPr>
          <a:xfrm>
            <a:off x="5120640" y="1600200"/>
            <a:ext cx="6492240" cy="3836416"/>
          </a:xfrm>
          <a:prstGeom prst="roundRect">
            <a:avLst>
              <a:gd name="adj" fmla="val 1907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7" name="Code highlight 11"/>
          <p:cNvSpPr/>
          <p:nvPr/>
        </p:nvSpPr>
        <p:spPr>
          <a:xfrm>
            <a:off x="5175504" y="2065528"/>
            <a:ext cx="6382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12"/>
          <p:cNvSpPr/>
          <p:nvPr/>
        </p:nvSpPr>
        <p:spPr>
          <a:xfrm>
            <a:off x="5175504" y="2329688"/>
            <a:ext cx="6382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highlight 13"/>
          <p:cNvSpPr/>
          <p:nvPr/>
        </p:nvSpPr>
        <p:spPr>
          <a:xfrm>
            <a:off x="5175504" y="2593848"/>
            <a:ext cx="6382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ode highlight 14"/>
          <p:cNvSpPr/>
          <p:nvPr/>
        </p:nvSpPr>
        <p:spPr>
          <a:xfrm>
            <a:off x="5175504" y="2858008"/>
            <a:ext cx="6382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1" name="Code highlight 16"/>
          <p:cNvSpPr/>
          <p:nvPr/>
        </p:nvSpPr>
        <p:spPr>
          <a:xfrm>
            <a:off x="5175504" y="3386328"/>
            <a:ext cx="6382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2" name="Code highlight 17"/>
          <p:cNvSpPr/>
          <p:nvPr/>
        </p:nvSpPr>
        <p:spPr>
          <a:xfrm>
            <a:off x="5175504" y="3650488"/>
            <a:ext cx="6382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3" name="Code highlight 18"/>
          <p:cNvSpPr/>
          <p:nvPr/>
        </p:nvSpPr>
        <p:spPr>
          <a:xfrm>
            <a:off x="5175504" y="3914648"/>
            <a:ext cx="6382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4" name="Code highlight 19"/>
          <p:cNvSpPr/>
          <p:nvPr/>
        </p:nvSpPr>
        <p:spPr>
          <a:xfrm>
            <a:off x="5175504" y="4178808"/>
            <a:ext cx="6382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5" name="Code line numbers"/>
          <p:cNvSpPr txBox="1"/>
          <p:nvPr/>
        </p:nvSpPr>
        <p:spPr>
          <a:xfrm>
            <a:off x="5321808" y="1801368"/>
            <a:ext cx="487680" cy="343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600" dirty="0"/>
          </a:p>
        </p:txBody>
      </p:sp>
      <p:sp>
        <p:nvSpPr>
          <p:cNvPr id="16" name="Code text"/>
          <p:cNvSpPr txBox="1"/>
          <p:nvPr/>
        </p:nvSpPr>
        <p:spPr>
          <a:xfrm>
            <a:off x="5809488" y="1801368"/>
            <a:ext cx="5693664" cy="343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firstEnum 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secondEnum 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thirdEnum 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fourthEnum 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6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"first: "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firstEnum &lt;&lt; endl;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6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"second: "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secondEnum &lt;&lt; endl;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6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"third: "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thirdEnum &lt;&lt; endl;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6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"fourth: "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fourthEnum &lt;&lt; endl;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Tangent: enums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These two are </a:t>
            </a:r>
            <a:r>
              <a:rPr lang="en-US" sz="2000" i="1" dirty="0">
                <a:solidFill>
                  <a:schemeClr val="tx1"/>
                </a:solidFill>
              </a:rPr>
              <a:t>roughly</a:t>
            </a:r>
            <a:r>
              <a:rPr lang="en-US" sz="2000" dirty="0">
                <a:solidFill>
                  <a:schemeClr val="tx1"/>
                </a:solidFill>
              </a:rPr>
              <a:t> equivalent: both give you named constants for the four directions.</a:t>
            </a:r>
            <a:endParaRPr lang="en-US" sz="2000" dirty="0"/>
          </a:p>
        </p:txBody>
      </p:sp>
      <p:sp>
        <p:nvSpPr>
          <p:cNvPr id="4" name="Option A label"/>
          <p:cNvSpPr txBox="1"/>
          <p:nvPr/>
        </p:nvSpPr>
        <p:spPr>
          <a:xfrm>
            <a:off x="54864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5160"/>
                </a:solidFill>
              </a:rPr>
              <a:t>Option A: constants</a:t>
            </a:r>
            <a:endParaRPr lang="en-US" sz="1800" dirty="0"/>
          </a:p>
        </p:txBody>
      </p:sp>
      <p:sp>
        <p:nvSpPr>
          <p:cNvPr id="5" name="Constants panel"/>
          <p:cNvSpPr/>
          <p:nvPr/>
        </p:nvSpPr>
        <p:spPr>
          <a:xfrm>
            <a:off x="548640" y="2514600"/>
            <a:ext cx="5303520" cy="1723136"/>
          </a:xfrm>
          <a:prstGeom prst="roundRect">
            <a:avLst>
              <a:gd name="adj" fmla="val 4245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6" name="Constants text"/>
          <p:cNvSpPr txBox="1"/>
          <p:nvPr/>
        </p:nvSpPr>
        <p:spPr>
          <a:xfrm>
            <a:off x="749808" y="2715768"/>
            <a:ext cx="4992624" cy="1320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000" dirty="0"/>
          </a:p>
        </p:txBody>
      </p:sp>
      <p:sp>
        <p:nvSpPr>
          <p:cNvPr id="7" name="Option B label"/>
          <p:cNvSpPr txBox="1"/>
          <p:nvPr/>
        </p:nvSpPr>
        <p:spPr>
          <a:xfrm>
            <a:off x="6309360" y="2103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5160"/>
                </a:solidFill>
              </a:rPr>
              <a:t>Option B: an enum</a:t>
            </a:r>
            <a:endParaRPr lang="en-US" sz="1800" dirty="0"/>
          </a:p>
        </p:txBody>
      </p:sp>
      <p:sp>
        <p:nvSpPr>
          <p:cNvPr id="8" name="Enum panel"/>
          <p:cNvSpPr/>
          <p:nvPr/>
        </p:nvSpPr>
        <p:spPr>
          <a:xfrm>
            <a:off x="6309360" y="2514600"/>
            <a:ext cx="5303520" cy="1392936"/>
          </a:xfrm>
          <a:prstGeom prst="roundRect">
            <a:avLst>
              <a:gd name="adj" fmla="val 5252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9" name="Enum text"/>
          <p:cNvSpPr txBox="1"/>
          <p:nvPr/>
        </p:nvSpPr>
        <p:spPr>
          <a:xfrm>
            <a:off x="6510528" y="2715768"/>
            <a:ext cx="4992624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20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 dirty="0"/>
          </a:p>
        </p:txBody>
      </p:sp>
      <p:sp>
        <p:nvSpPr>
          <p:cNvPr id="10" name="Difference card"/>
          <p:cNvSpPr/>
          <p:nvPr/>
        </p:nvSpPr>
        <p:spPr>
          <a:xfrm>
            <a:off x="548640" y="4343400"/>
            <a:ext cx="1106424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ody"/>
          <p:cNvSpPr txBox="1"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The difference:</a:t>
            </a:r>
            <a:r>
              <a:rPr lang="en-US" sz="1800" dirty="0">
                <a:solidFill>
                  <a:schemeClr val="tx1"/>
                </a:solidFill>
              </a:rPr>
              <a:t> only the enum gives you a new </a:t>
            </a:r>
            <a:r>
              <a:rPr lang="en-US" sz="1800" i="1" dirty="0">
                <a:solidFill>
                  <a:schemeClr val="tx1"/>
                </a:solidFill>
              </a:rPr>
              <a:t>type</a:t>
            </a:r>
            <a:r>
              <a:rPr lang="en-US" sz="1800" dirty="0">
                <a:solidFill>
                  <a:schemeClr val="tx1"/>
                </a:solidFill>
              </a:rPr>
              <a:t>, so you can later create variables of type 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Pick one.</a:t>
            </a:r>
            <a:r>
              <a:rPr lang="en-US" sz="1800" dirty="0">
                <a:solidFill>
                  <a:schemeClr val="tx1"/>
                </a:solidFill>
              </a:rPr>
              <a:t> They can't both be in the same program: 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800" dirty="0">
                <a:solidFill>
                  <a:schemeClr val="tx1"/>
                </a:solidFill>
              </a:rPr>
              <a:t>, and </a:t>
            </a:r>
            <a:r>
              <a:rPr lang="en-US" sz="18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800" dirty="0">
                <a:solidFill>
                  <a:schemeClr val="tx1"/>
                </a:solidFill>
              </a:rPr>
              <a:t> would each be declared twice, and the compiler will complain.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Tangent: naming your types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51206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By convention, when you define your own type, start its name with a capital letter: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This is </a:t>
            </a:r>
            <a:r>
              <a:rPr lang="en-US" sz="2000" b="1" dirty="0">
                <a:solidFill>
                  <a:schemeClr val="tx1"/>
                </a:solidFill>
              </a:rPr>
              <a:t>SUPER IMPORTANT</a:t>
            </a:r>
            <a:r>
              <a:rPr lang="en-US" sz="2000" dirty="0">
                <a:solidFill>
                  <a:schemeClr val="tx1"/>
                </a:solidFill>
              </a:rPr>
              <a:t> and actually required by the style guide. But not </a:t>
            </a:r>
            <a:r>
              <a:rPr lang="en-US" sz="2000" i="1" dirty="0">
                <a:solidFill>
                  <a:schemeClr val="tx1"/>
                </a:solidFill>
              </a:rPr>
              <a:t>just</a:t>
            </a:r>
            <a:r>
              <a:rPr lang="en-US" sz="2000" dirty="0">
                <a:solidFill>
                  <a:schemeClr val="tx1"/>
                </a:solidFill>
              </a:rPr>
              <a:t> because it's standard practice: your code is easier to read and debug when a capitalized name like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 always means a type.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4A5160"/>
                </a:solidFill>
              </a:rPr>
              <a:t>(Constants like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2000" dirty="0">
                <a:solidFill>
                  <a:srgbClr val="4A5160"/>
                </a:solidFill>
              </a:rPr>
              <a:t> and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ARRAY_SIZE</a:t>
            </a:r>
            <a:r>
              <a:rPr lang="en-US" sz="2000" dirty="0">
                <a:solidFill>
                  <a:srgbClr val="4A5160"/>
                </a:solidFill>
              </a:rPr>
              <a:t> are written in ALL CAPS, so they're easy to tell apart.)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6217920" y="1600200"/>
            <a:ext cx="5394960" cy="4612386"/>
          </a:xfrm>
          <a:prstGeom prst="roundRect">
            <a:avLst>
              <a:gd name="adj" fmla="val 158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6"/>
          <p:cNvSpPr/>
          <p:nvPr/>
        </p:nvSpPr>
        <p:spPr>
          <a:xfrm>
            <a:off x="6272784" y="3204718"/>
            <a:ext cx="528523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10"/>
          <p:cNvSpPr/>
          <p:nvPr/>
        </p:nvSpPr>
        <p:spPr>
          <a:xfrm>
            <a:off x="6272784" y="4327398"/>
            <a:ext cx="528523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line numbers"/>
          <p:cNvSpPr txBox="1"/>
          <p:nvPr/>
        </p:nvSpPr>
        <p:spPr>
          <a:xfrm>
            <a:off x="6419088" y="1801368"/>
            <a:ext cx="518160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8" name="Code text"/>
          <p:cNvSpPr txBox="1"/>
          <p:nvPr/>
        </p:nvSpPr>
        <p:spPr>
          <a:xfrm>
            <a:off x="6937248" y="1801368"/>
            <a:ext cx="4565904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Printing an enum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4206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Values of an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</a:t>
            </a:r>
            <a:r>
              <a:rPr lang="en-US" sz="1900" dirty="0">
                <a:solidFill>
                  <a:schemeClr val="tx1"/>
                </a:solidFill>
              </a:rPr>
              <a:t> don't silently turn into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900" dirty="0">
                <a:solidFill>
                  <a:schemeClr val="tx1"/>
                </a:solidFill>
              </a:rPr>
              <a:t>s, so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facing</a:t>
            </a:r>
            <a:r>
              <a:rPr lang="en-US" sz="1900" dirty="0">
                <a:solidFill>
                  <a:schemeClr val="tx1"/>
                </a:solidFill>
              </a:rPr>
              <a:t> won't compile.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Instead, write a function that turns each value into a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900" dirty="0">
                <a:solidFill>
                  <a:schemeClr val="tx1"/>
                </a:solidFill>
              </a:rPr>
              <a:t> using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900" dirty="0">
                <a:solidFill>
                  <a:schemeClr val="tx1"/>
                </a:solidFill>
              </a:rPr>
              <a:t>/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900" dirty="0">
                <a:solidFill>
                  <a:schemeClr val="tx1"/>
                </a:solidFill>
              </a:rPr>
              <a:t>. (A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900" dirty="0">
                <a:solidFill>
                  <a:schemeClr val="tx1"/>
                </a:solidFill>
              </a:rPr>
              <a:t> works just as well.)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4A5160"/>
                </a:solidFill>
              </a:rPr>
              <a:t>Once we get to </a:t>
            </a:r>
            <a:r>
              <a:rPr lang="en-US" sz="1900" b="1" dirty="0">
                <a:solidFill>
                  <a:srgbClr val="4A5160"/>
                </a:solidFill>
              </a:rPr>
              <a:t>operator overloading</a:t>
            </a:r>
            <a:r>
              <a:rPr lang="en-US" sz="1900" dirty="0">
                <a:solidFill>
                  <a:srgbClr val="4A5160"/>
                </a:solidFill>
              </a:rPr>
              <a:t>, we'll be able to teach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900" dirty="0">
                <a:solidFill>
                  <a:srgbClr val="4A5160"/>
                </a:solidFill>
              </a:rPr>
              <a:t> how to print a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900" dirty="0">
                <a:solidFill>
                  <a:srgbClr val="4A5160"/>
                </a:solidFill>
              </a:rPr>
              <a:t> directly, so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facing</a:t>
            </a:r>
            <a:r>
              <a:rPr lang="en-US" sz="1900" dirty="0">
                <a:solidFill>
                  <a:srgbClr val="4A5160"/>
                </a:solidFill>
              </a:rPr>
              <a:t> will just work.</a:t>
            </a:r>
            <a:endParaRPr lang="en-US" sz="1900" dirty="0"/>
          </a:p>
        </p:txBody>
      </p:sp>
      <p:sp>
        <p:nvSpPr>
          <p:cNvPr id="4" name="Code panel"/>
          <p:cNvSpPr/>
          <p:nvPr/>
        </p:nvSpPr>
        <p:spPr>
          <a:xfrm>
            <a:off x="5074920" y="1280160"/>
            <a:ext cx="6537960" cy="4242816"/>
          </a:xfrm>
          <a:prstGeom prst="roundRect">
            <a:avLst>
              <a:gd name="adj" fmla="val 1724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"/>
          <p:cNvSpPr/>
          <p:nvPr/>
        </p:nvSpPr>
        <p:spPr>
          <a:xfrm>
            <a:off x="5129784" y="196138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4"/>
          <p:cNvSpPr/>
          <p:nvPr/>
        </p:nvSpPr>
        <p:spPr>
          <a:xfrm>
            <a:off x="5129784" y="220141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5"/>
          <p:cNvSpPr/>
          <p:nvPr/>
        </p:nvSpPr>
        <p:spPr>
          <a:xfrm>
            <a:off x="5129784" y="244144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6"/>
          <p:cNvSpPr/>
          <p:nvPr/>
        </p:nvSpPr>
        <p:spPr>
          <a:xfrm>
            <a:off x="5129784" y="268147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highlight 7"/>
          <p:cNvSpPr/>
          <p:nvPr/>
        </p:nvSpPr>
        <p:spPr>
          <a:xfrm>
            <a:off x="5129784" y="292150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ode highlight 8"/>
          <p:cNvSpPr/>
          <p:nvPr/>
        </p:nvSpPr>
        <p:spPr>
          <a:xfrm>
            <a:off x="5129784" y="316153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1" name="Code highlight 9"/>
          <p:cNvSpPr/>
          <p:nvPr/>
        </p:nvSpPr>
        <p:spPr>
          <a:xfrm>
            <a:off x="5129784" y="340156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2" name="Code highlight 10"/>
          <p:cNvSpPr/>
          <p:nvPr/>
        </p:nvSpPr>
        <p:spPr>
          <a:xfrm>
            <a:off x="5129784" y="364159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3" name="Code highlight 11"/>
          <p:cNvSpPr/>
          <p:nvPr/>
        </p:nvSpPr>
        <p:spPr>
          <a:xfrm>
            <a:off x="5129784" y="388162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4" name="Code highlight 12"/>
          <p:cNvSpPr/>
          <p:nvPr/>
        </p:nvSpPr>
        <p:spPr>
          <a:xfrm>
            <a:off x="5129784" y="412165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5" name="Code highlight 13"/>
          <p:cNvSpPr/>
          <p:nvPr/>
        </p:nvSpPr>
        <p:spPr>
          <a:xfrm>
            <a:off x="5129784" y="436168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6" name="Code highlight 16"/>
          <p:cNvSpPr/>
          <p:nvPr/>
        </p:nvSpPr>
        <p:spPr>
          <a:xfrm>
            <a:off x="5129784" y="5081778"/>
            <a:ext cx="6428232" cy="24003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7" name="Code text"/>
          <p:cNvSpPr txBox="1"/>
          <p:nvPr/>
        </p:nvSpPr>
        <p:spPr>
          <a:xfrm>
            <a:off x="5276088" y="1481328"/>
            <a:ext cx="6227064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directionName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 == </a:t>
            </a: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4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 == </a:t>
            </a: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4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"east"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 == </a:t>
            </a:r>
            <a:r>
              <a:rPr lang="en-US" sz="14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4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"south"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5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"west"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 = </a:t>
            </a:r>
            <a:r>
              <a:rPr lang="en-US" sz="14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4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4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50" dirty="0"/>
          </a:p>
          <a:p>
            <a:pPr marL="0" indent="0">
              <a:lnSpc>
                <a:spcPts val="1890"/>
              </a:lnSpc>
              <a:buNone/>
            </a:pP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45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directionName</a:t>
            </a:r>
            <a:r>
              <a:rPr lang="en-US" sz="14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(facing) &lt;&lt; endl;</a:t>
            </a:r>
            <a:endParaRPr lang="en-US" sz="1450" dirty="0"/>
          </a:p>
        </p:txBody>
      </p:sp>
      <p:sp>
        <p:nvSpPr>
          <p:cNvPr id="18" name="Terminal panel"/>
          <p:cNvSpPr/>
          <p:nvPr/>
        </p:nvSpPr>
        <p:spPr>
          <a:xfrm>
            <a:off x="5074920" y="5751576"/>
            <a:ext cx="2926080" cy="894080"/>
          </a:xfrm>
          <a:prstGeom prst="roundRect">
            <a:avLst>
              <a:gd name="adj" fmla="val 6136"/>
            </a:avLst>
          </a:prstGeom>
          <a:solidFill>
            <a:srgbClr val="FFFFFF"/>
          </a:solidFill>
          <a:ln w="19050">
            <a:solidFill>
              <a:srgbClr val="57606A"/>
            </a:solidFill>
            <a:prstDash val="solid"/>
          </a:ln>
        </p:spPr>
      </p:sp>
      <p:sp>
        <p:nvSpPr>
          <p:cNvPr id="19" name="Terminal text"/>
          <p:cNvSpPr txBox="1"/>
          <p:nvPr/>
        </p:nvSpPr>
        <p:spPr>
          <a:xfrm>
            <a:off x="5257800" y="5934456"/>
            <a:ext cx="2651760" cy="52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6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./directions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Printing an enum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4206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Values of an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class</a:t>
            </a:r>
            <a:r>
              <a:rPr lang="en-US" sz="1700" dirty="0">
                <a:solidFill>
                  <a:schemeClr val="tx1"/>
                </a:solidFill>
              </a:rPr>
              <a:t> don't silently turn into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chemeClr val="tx1"/>
                </a:solidFill>
              </a:rPr>
              <a:t>s, so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facing</a:t>
            </a:r>
            <a:r>
              <a:rPr lang="en-US" sz="1700" dirty="0">
                <a:solidFill>
                  <a:schemeClr val="tx1"/>
                </a:solidFill>
              </a:rPr>
              <a:t> won't compile.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Instead, write a function that turns each value into a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chemeClr val="tx1"/>
                </a:solidFill>
              </a:rPr>
              <a:t> using a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700" dirty="0">
                <a:solidFill>
                  <a:schemeClr val="tx1"/>
                </a:solidFill>
              </a:rPr>
              <a:t>. Each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700" dirty="0">
                <a:solidFill>
                  <a:schemeClr val="tx1"/>
                </a:solidFill>
              </a:rPr>
              <a:t> returns right away, so no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700" dirty="0">
                <a:solidFill>
                  <a:schemeClr val="tx1"/>
                </a:solidFill>
              </a:rPr>
              <a:t> is needed.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A5160"/>
                </a:solidFill>
              </a:rPr>
              <a:t>The </a:t>
            </a:r>
            <a:r>
              <a:rPr lang="en-US" sz="16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4A5160"/>
                </a:solidFill>
              </a:rPr>
              <a:t> after the </a:t>
            </a:r>
            <a:r>
              <a:rPr lang="en-US" sz="16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600" dirty="0">
                <a:solidFill>
                  <a:srgbClr val="4A5160"/>
                </a:solidFill>
              </a:rPr>
              <a:t> keeps the compiler from warning that the function might end without returning anything.</a:t>
            </a:r>
            <a:endParaRPr lang="en-US" sz="17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4A5160"/>
                </a:solidFill>
              </a:rPr>
              <a:t>Once we get to </a:t>
            </a:r>
            <a:r>
              <a:rPr lang="en-US" sz="1700" b="1" dirty="0">
                <a:solidFill>
                  <a:srgbClr val="4A5160"/>
                </a:solidFill>
              </a:rPr>
              <a:t>operator overloading</a:t>
            </a:r>
            <a:r>
              <a:rPr lang="en-US" sz="1700" dirty="0">
                <a:solidFill>
                  <a:srgbClr val="4A5160"/>
                </a:solidFill>
              </a:rPr>
              <a:t>, we'll be able to teach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r>
              <a:rPr lang="en-US" sz="1700" dirty="0">
                <a:solidFill>
                  <a:srgbClr val="4A5160"/>
                </a:solidFill>
              </a:rPr>
              <a:t> how to print a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4A5160"/>
                </a:solidFill>
              </a:rPr>
              <a:t> directly, so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facing</a:t>
            </a:r>
            <a:r>
              <a:rPr lang="en-US" sz="1700" dirty="0">
                <a:solidFill>
                  <a:srgbClr val="4A5160"/>
                </a:solidFill>
              </a:rPr>
              <a:t> will just work.</a:t>
            </a:r>
            <a:endParaRPr lang="en-US" sz="1700" dirty="0"/>
          </a:p>
        </p:txBody>
      </p:sp>
      <p:sp>
        <p:nvSpPr>
          <p:cNvPr id="4" name="Code panel"/>
          <p:cNvSpPr/>
          <p:nvPr/>
        </p:nvSpPr>
        <p:spPr>
          <a:xfrm>
            <a:off x="5074920" y="1280160"/>
            <a:ext cx="6537960" cy="4860036"/>
          </a:xfrm>
          <a:prstGeom prst="roundRect">
            <a:avLst>
              <a:gd name="adj" fmla="val 1505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"/>
          <p:cNvSpPr/>
          <p:nvPr/>
        </p:nvSpPr>
        <p:spPr>
          <a:xfrm>
            <a:off x="5129784" y="197662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4"/>
          <p:cNvSpPr/>
          <p:nvPr/>
        </p:nvSpPr>
        <p:spPr>
          <a:xfrm>
            <a:off x="5129784" y="222427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5"/>
          <p:cNvSpPr/>
          <p:nvPr/>
        </p:nvSpPr>
        <p:spPr>
          <a:xfrm>
            <a:off x="5129784" y="247192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6"/>
          <p:cNvSpPr/>
          <p:nvPr/>
        </p:nvSpPr>
        <p:spPr>
          <a:xfrm>
            <a:off x="5129784" y="271957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highlight 7"/>
          <p:cNvSpPr/>
          <p:nvPr/>
        </p:nvSpPr>
        <p:spPr>
          <a:xfrm>
            <a:off x="5129784" y="296722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ode highlight 8"/>
          <p:cNvSpPr/>
          <p:nvPr/>
        </p:nvSpPr>
        <p:spPr>
          <a:xfrm>
            <a:off x="5129784" y="321487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1" name="Code highlight 9"/>
          <p:cNvSpPr/>
          <p:nvPr/>
        </p:nvSpPr>
        <p:spPr>
          <a:xfrm>
            <a:off x="5129784" y="346252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2" name="Code highlight 10"/>
          <p:cNvSpPr/>
          <p:nvPr/>
        </p:nvSpPr>
        <p:spPr>
          <a:xfrm>
            <a:off x="5129784" y="371017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3" name="Code highlight 11"/>
          <p:cNvSpPr/>
          <p:nvPr/>
        </p:nvSpPr>
        <p:spPr>
          <a:xfrm>
            <a:off x="5129784" y="395782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4" name="Code highlight 12"/>
          <p:cNvSpPr/>
          <p:nvPr/>
        </p:nvSpPr>
        <p:spPr>
          <a:xfrm>
            <a:off x="5129784" y="420547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5" name="Code highlight 13"/>
          <p:cNvSpPr/>
          <p:nvPr/>
        </p:nvSpPr>
        <p:spPr>
          <a:xfrm>
            <a:off x="5129784" y="445312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6" name="Code highlight 14"/>
          <p:cNvSpPr/>
          <p:nvPr/>
        </p:nvSpPr>
        <p:spPr>
          <a:xfrm>
            <a:off x="5129784" y="470077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7" name="Code highlight 15"/>
          <p:cNvSpPr/>
          <p:nvPr/>
        </p:nvSpPr>
        <p:spPr>
          <a:xfrm>
            <a:off x="5129784" y="494842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8" name="Code highlight 18"/>
          <p:cNvSpPr/>
          <p:nvPr/>
        </p:nvSpPr>
        <p:spPr>
          <a:xfrm>
            <a:off x="5129784" y="5691378"/>
            <a:ext cx="642823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9" name="Code line 1"/>
          <p:cNvSpPr txBox="1"/>
          <p:nvPr/>
        </p:nvSpPr>
        <p:spPr>
          <a:xfrm>
            <a:off x="5276088" y="14813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1500" dirty="0"/>
          </a:p>
        </p:txBody>
      </p:sp>
      <p:sp>
        <p:nvSpPr>
          <p:cNvPr id="20" name="Code line 2"/>
          <p:cNvSpPr txBox="1"/>
          <p:nvPr/>
        </p:nvSpPr>
        <p:spPr>
          <a:xfrm>
            <a:off x="5276088" y="17289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</p:txBody>
      </p:sp>
      <p:sp>
        <p:nvSpPr>
          <p:cNvPr id="21" name="Code line 3"/>
          <p:cNvSpPr txBox="1"/>
          <p:nvPr/>
        </p:nvSpPr>
        <p:spPr>
          <a:xfrm>
            <a:off x="5276088" y="19766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directionName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d) {</a:t>
            </a:r>
            <a:endParaRPr lang="en-US" sz="1500" dirty="0"/>
          </a:p>
        </p:txBody>
      </p:sp>
      <p:sp>
        <p:nvSpPr>
          <p:cNvPr id="22" name="Code line 4"/>
          <p:cNvSpPr txBox="1"/>
          <p:nvPr/>
        </p:nvSpPr>
        <p:spPr>
          <a:xfrm>
            <a:off x="5276088" y="22242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(d) {</a:t>
            </a:r>
            <a:endParaRPr lang="en-US" sz="1500" dirty="0"/>
          </a:p>
        </p:txBody>
      </p:sp>
      <p:sp>
        <p:nvSpPr>
          <p:cNvPr id="23" name="Code line 5"/>
          <p:cNvSpPr txBox="1"/>
          <p:nvPr/>
        </p:nvSpPr>
        <p:spPr>
          <a:xfrm>
            <a:off x="5276088" y="24719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5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</p:txBody>
      </p:sp>
      <p:sp>
        <p:nvSpPr>
          <p:cNvPr id="24" name="Code line 6"/>
          <p:cNvSpPr txBox="1"/>
          <p:nvPr/>
        </p:nvSpPr>
        <p:spPr>
          <a:xfrm>
            <a:off x="5276088" y="27195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25" name="Code line 7"/>
          <p:cNvSpPr txBox="1"/>
          <p:nvPr/>
        </p:nvSpPr>
        <p:spPr>
          <a:xfrm>
            <a:off x="5276088" y="29672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5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</p:txBody>
      </p:sp>
      <p:sp>
        <p:nvSpPr>
          <p:cNvPr id="26" name="Code line 8"/>
          <p:cNvSpPr txBox="1"/>
          <p:nvPr/>
        </p:nvSpPr>
        <p:spPr>
          <a:xfrm>
            <a:off x="5276088" y="32148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"east"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27" name="Code line 9"/>
          <p:cNvSpPr txBox="1"/>
          <p:nvPr/>
        </p:nvSpPr>
        <p:spPr>
          <a:xfrm>
            <a:off x="5276088" y="34625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5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</p:txBody>
      </p:sp>
      <p:sp>
        <p:nvSpPr>
          <p:cNvPr id="28" name="Code line 10"/>
          <p:cNvSpPr txBox="1"/>
          <p:nvPr/>
        </p:nvSpPr>
        <p:spPr>
          <a:xfrm>
            <a:off x="5276088" y="37101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"south"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29" name="Code line 11"/>
          <p:cNvSpPr txBox="1"/>
          <p:nvPr/>
        </p:nvSpPr>
        <p:spPr>
          <a:xfrm>
            <a:off x="5276088" y="39578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5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500" dirty="0"/>
          </a:p>
        </p:txBody>
      </p:sp>
      <p:sp>
        <p:nvSpPr>
          <p:cNvPr id="30" name="Code line 12"/>
          <p:cNvSpPr txBox="1"/>
          <p:nvPr/>
        </p:nvSpPr>
        <p:spPr>
          <a:xfrm>
            <a:off x="5276088" y="42054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"west"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31" name="Code line 13"/>
          <p:cNvSpPr txBox="1"/>
          <p:nvPr/>
        </p:nvSpPr>
        <p:spPr>
          <a:xfrm>
            <a:off x="5276088" y="44531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</p:txBody>
      </p:sp>
      <p:sp>
        <p:nvSpPr>
          <p:cNvPr id="32" name="Code line 14"/>
          <p:cNvSpPr txBox="1"/>
          <p:nvPr/>
        </p:nvSpPr>
        <p:spPr>
          <a:xfrm>
            <a:off x="5276088" y="47007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33" name="Code line 15"/>
          <p:cNvSpPr txBox="1"/>
          <p:nvPr/>
        </p:nvSpPr>
        <p:spPr>
          <a:xfrm>
            <a:off x="5276088" y="49484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34" name="Code line 16"/>
          <p:cNvSpPr txBox="1"/>
          <p:nvPr/>
        </p:nvSpPr>
        <p:spPr>
          <a:xfrm>
            <a:off x="5276088" y="51960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</p:txBody>
      </p:sp>
      <p:sp>
        <p:nvSpPr>
          <p:cNvPr id="35" name="Code line 17"/>
          <p:cNvSpPr txBox="1"/>
          <p:nvPr/>
        </p:nvSpPr>
        <p:spPr>
          <a:xfrm>
            <a:off x="5276088" y="544372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 = </a:t>
            </a: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36" name="Code line 18"/>
          <p:cNvSpPr txBox="1"/>
          <p:nvPr/>
        </p:nvSpPr>
        <p:spPr>
          <a:xfrm>
            <a:off x="5276088" y="5691378"/>
            <a:ext cx="62270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</a:t>
            </a:r>
            <a:r>
              <a:rPr lang="en-US" sz="15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directionName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(facing) &lt;&lt; endl;</a:t>
            </a:r>
            <a:endParaRPr lang="en-US" sz="1500" dirty="0"/>
          </a:p>
        </p:txBody>
      </p:sp>
      <p:sp>
        <p:nvSpPr>
          <p:cNvPr id="37" name="Terminal panel"/>
          <p:cNvSpPr/>
          <p:nvPr/>
        </p:nvSpPr>
        <p:spPr>
          <a:xfrm>
            <a:off x="548640" y="5486400"/>
            <a:ext cx="2926080" cy="861060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19050">
            <a:solidFill>
              <a:srgbClr val="57606A"/>
            </a:solidFill>
            <a:prstDash val="solid"/>
          </a:ln>
        </p:spPr>
      </p:sp>
      <p:sp>
        <p:nvSpPr>
          <p:cNvPr id="38" name="Terminal text"/>
          <p:cNvSpPr txBox="1"/>
          <p:nvPr/>
        </p:nvSpPr>
        <p:spPr>
          <a:xfrm>
            <a:off x="731520" y="5669280"/>
            <a:ext cx="2651760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5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./directions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Back to structs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Let's return to structs.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Structs are another (much more flexible) way to define your own types.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852160" y="1600200"/>
            <a:ext cx="5760720" cy="4612386"/>
          </a:xfrm>
          <a:prstGeom prst="roundRect">
            <a:avLst>
              <a:gd name="adj" fmla="val 158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0"/>
          <p:cNvSpPr/>
          <p:nvPr/>
        </p:nvSpPr>
        <p:spPr>
          <a:xfrm>
            <a:off x="5907024" y="432739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11"/>
          <p:cNvSpPr/>
          <p:nvPr/>
        </p:nvSpPr>
        <p:spPr>
          <a:xfrm>
            <a:off x="5907024" y="460806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12"/>
          <p:cNvSpPr/>
          <p:nvPr/>
        </p:nvSpPr>
        <p:spPr>
          <a:xfrm>
            <a:off x="5907024" y="488873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13"/>
          <p:cNvSpPr/>
          <p:nvPr/>
        </p:nvSpPr>
        <p:spPr>
          <a:xfrm>
            <a:off x="5907024" y="516940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highlight 14"/>
          <p:cNvSpPr/>
          <p:nvPr/>
        </p:nvSpPr>
        <p:spPr>
          <a:xfrm>
            <a:off x="5907024" y="545007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ode highlight 15"/>
          <p:cNvSpPr/>
          <p:nvPr/>
        </p:nvSpPr>
        <p:spPr>
          <a:xfrm>
            <a:off x="5907024" y="573074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1" name="Code line numbers"/>
          <p:cNvSpPr txBox="1"/>
          <p:nvPr/>
        </p:nvSpPr>
        <p:spPr>
          <a:xfrm>
            <a:off x="6053328" y="1801368"/>
            <a:ext cx="518160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12" name="Code text"/>
          <p:cNvSpPr txBox="1"/>
          <p:nvPr/>
        </p:nvSpPr>
        <p:spPr>
          <a:xfrm>
            <a:off x="6571488" y="1801368"/>
            <a:ext cx="4931664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Back to structs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This struct contains four pieces of data, which happen to be of three different types: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chemeClr val="tx1"/>
                </a:solidFill>
              </a:rPr>
              <a:t>, and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852160" y="1600200"/>
            <a:ext cx="5760720" cy="4612386"/>
          </a:xfrm>
          <a:prstGeom prst="roundRect">
            <a:avLst>
              <a:gd name="adj" fmla="val 158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1"/>
          <p:cNvSpPr/>
          <p:nvPr/>
        </p:nvSpPr>
        <p:spPr>
          <a:xfrm>
            <a:off x="5907024" y="460806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12"/>
          <p:cNvSpPr/>
          <p:nvPr/>
        </p:nvSpPr>
        <p:spPr>
          <a:xfrm>
            <a:off x="5907024" y="488873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13"/>
          <p:cNvSpPr/>
          <p:nvPr/>
        </p:nvSpPr>
        <p:spPr>
          <a:xfrm>
            <a:off x="5907024" y="516940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14"/>
          <p:cNvSpPr/>
          <p:nvPr/>
        </p:nvSpPr>
        <p:spPr>
          <a:xfrm>
            <a:off x="5907024" y="545007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line numbers"/>
          <p:cNvSpPr txBox="1"/>
          <p:nvPr/>
        </p:nvSpPr>
        <p:spPr>
          <a:xfrm>
            <a:off x="6053328" y="1801368"/>
            <a:ext cx="518160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10" name="Code text"/>
          <p:cNvSpPr txBox="1"/>
          <p:nvPr/>
        </p:nvSpPr>
        <p:spPr>
          <a:xfrm>
            <a:off x="6571488" y="1801368"/>
            <a:ext cx="4931664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Back to structs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754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Remember to put a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2000" dirty="0">
                <a:solidFill>
                  <a:schemeClr val="tx1"/>
                </a:solidFill>
              </a:rPr>
              <a:t> after the closing brace of a struct definition.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4A5160"/>
                </a:solidFill>
              </a:rPr>
              <a:t>(The same goes for enum definitions.)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852160" y="1600200"/>
            <a:ext cx="5760720" cy="4612386"/>
          </a:xfrm>
          <a:prstGeom prst="roundRect">
            <a:avLst>
              <a:gd name="adj" fmla="val 158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8"/>
          <p:cNvSpPr/>
          <p:nvPr/>
        </p:nvSpPr>
        <p:spPr>
          <a:xfrm>
            <a:off x="5907024" y="376605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15"/>
          <p:cNvSpPr/>
          <p:nvPr/>
        </p:nvSpPr>
        <p:spPr>
          <a:xfrm>
            <a:off x="5907024" y="5730748"/>
            <a:ext cx="565099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line numbers"/>
          <p:cNvSpPr txBox="1"/>
          <p:nvPr/>
        </p:nvSpPr>
        <p:spPr>
          <a:xfrm>
            <a:off x="6053328" y="1801368"/>
            <a:ext cx="518160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700" dirty="0"/>
          </a:p>
        </p:txBody>
      </p:sp>
      <p:sp>
        <p:nvSpPr>
          <p:cNvPr id="8" name="Code text"/>
          <p:cNvSpPr txBox="1"/>
          <p:nvPr/>
        </p:nvSpPr>
        <p:spPr>
          <a:xfrm>
            <a:off x="6571488" y="1801368"/>
            <a:ext cx="4931664" cy="421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&lt;iostream&gt;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&lt;string&gt;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std;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Creating a struct variable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You create a variable of a struct type exactly the way you create a variable of any other type: the name of the type, followed by the name you want to give this particular variable.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Here I create a variable of type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 and name it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6217920" y="1600200"/>
            <a:ext cx="5394960" cy="1128776"/>
          </a:xfrm>
          <a:prstGeom prst="roundRect">
            <a:avLst>
              <a:gd name="adj" fmla="val 6481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0"/>
          <p:cNvSpPr/>
          <p:nvPr/>
        </p:nvSpPr>
        <p:spPr>
          <a:xfrm>
            <a:off x="6272784" y="2164588"/>
            <a:ext cx="5285232" cy="36322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6419088" y="1801368"/>
            <a:ext cx="670560" cy="726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60"/>
              </a:lnSpc>
              <a:buNone/>
            </a:pPr>
            <a:r>
              <a:rPr lang="en-US" sz="22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2200" dirty="0"/>
          </a:p>
          <a:p>
            <a:pPr marL="0" indent="0">
              <a:lnSpc>
                <a:spcPts val="2860"/>
              </a:lnSpc>
              <a:buNone/>
            </a:pPr>
            <a:r>
              <a:rPr lang="en-US" sz="2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200" dirty="0"/>
          </a:p>
        </p:txBody>
      </p:sp>
      <p:sp>
        <p:nvSpPr>
          <p:cNvPr id="7" name="Code text"/>
          <p:cNvSpPr txBox="1"/>
          <p:nvPr/>
        </p:nvSpPr>
        <p:spPr>
          <a:xfrm>
            <a:off x="7089648" y="1801368"/>
            <a:ext cx="4413504" cy="726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60"/>
              </a:lnSpc>
              <a:buNone/>
            </a:pPr>
            <a:r>
              <a:rPr lang="en-US" sz="22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2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2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22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2200" dirty="0"/>
          </a:p>
          <a:p>
            <a:pPr marL="0" indent="0">
              <a:lnSpc>
                <a:spcPts val="2860"/>
              </a:lnSpc>
              <a:buNone/>
            </a:pPr>
            <a:r>
              <a:rPr lang="en-US" sz="2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2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myFirstKarel;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Assigning values inside a struct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To assign a value to a variable inside a struct, give the name of the struct variable, then a dot, then the name of the variable inside the struct you want to change.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48640" y="2514600"/>
            <a:ext cx="7863840" cy="2891536"/>
          </a:xfrm>
          <a:prstGeom prst="roundRect">
            <a:avLst>
              <a:gd name="adj" fmla="val 2530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2"/>
          <p:cNvSpPr/>
          <p:nvPr/>
        </p:nvSpPr>
        <p:spPr>
          <a:xfrm>
            <a:off x="603504" y="3782568"/>
            <a:ext cx="7754112" cy="3556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33"/>
          <p:cNvSpPr/>
          <p:nvPr/>
        </p:nvSpPr>
        <p:spPr>
          <a:xfrm>
            <a:off x="603504" y="4138168"/>
            <a:ext cx="7754112" cy="3556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34"/>
          <p:cNvSpPr/>
          <p:nvPr/>
        </p:nvSpPr>
        <p:spPr>
          <a:xfrm>
            <a:off x="603504" y="4493768"/>
            <a:ext cx="7754112" cy="3556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35"/>
          <p:cNvSpPr/>
          <p:nvPr/>
        </p:nvSpPr>
        <p:spPr>
          <a:xfrm>
            <a:off x="603504" y="4849368"/>
            <a:ext cx="7754112" cy="3556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line numbers"/>
          <p:cNvSpPr txBox="1"/>
          <p:nvPr/>
        </p:nvSpPr>
        <p:spPr>
          <a:xfrm>
            <a:off x="749808" y="2715768"/>
            <a:ext cx="655320" cy="248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2150" dirty="0"/>
          </a:p>
        </p:txBody>
      </p:sp>
      <p:sp>
        <p:nvSpPr>
          <p:cNvPr id="10" name="Code text"/>
          <p:cNvSpPr txBox="1"/>
          <p:nvPr/>
        </p:nvSpPr>
        <p:spPr>
          <a:xfrm>
            <a:off x="1405128" y="2715768"/>
            <a:ext cx="6897624" cy="248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1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1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21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1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1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myFirstKarel;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myFirstKarel.row = </a:t>
            </a:r>
            <a:r>
              <a:rPr lang="en-US" sz="21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myFirstKarel.column = </a:t>
            </a:r>
            <a:r>
              <a:rPr lang="en-US" sz="21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myFirstKarel.facing = </a:t>
            </a:r>
            <a:r>
              <a:rPr lang="en-US" sz="21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1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myFirstKarel.name = </a:t>
            </a:r>
            <a:r>
              <a:rPr lang="en-US" sz="21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 T. Robot"</a:t>
            </a:r>
            <a:r>
              <a:rPr lang="en-US" sz="21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2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Assigning values inside a struct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Now we have a fully initialized variable of type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48640" y="1965960"/>
            <a:ext cx="6675120" cy="2482596"/>
          </a:xfrm>
          <a:prstGeom prst="roundRect">
            <a:avLst>
              <a:gd name="adj" fmla="val 2947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2"/>
          <p:cNvSpPr/>
          <p:nvPr/>
        </p:nvSpPr>
        <p:spPr>
          <a:xfrm>
            <a:off x="603504" y="3058668"/>
            <a:ext cx="6565392" cy="29718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33"/>
          <p:cNvSpPr/>
          <p:nvPr/>
        </p:nvSpPr>
        <p:spPr>
          <a:xfrm>
            <a:off x="603504" y="3355848"/>
            <a:ext cx="6565392" cy="29718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34"/>
          <p:cNvSpPr/>
          <p:nvPr/>
        </p:nvSpPr>
        <p:spPr>
          <a:xfrm>
            <a:off x="603504" y="3653028"/>
            <a:ext cx="6565392" cy="29718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35"/>
          <p:cNvSpPr/>
          <p:nvPr/>
        </p:nvSpPr>
        <p:spPr>
          <a:xfrm>
            <a:off x="603504" y="3950208"/>
            <a:ext cx="6565392" cy="29718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line numbers"/>
          <p:cNvSpPr txBox="1"/>
          <p:nvPr/>
        </p:nvSpPr>
        <p:spPr>
          <a:xfrm>
            <a:off x="749808" y="2167128"/>
            <a:ext cx="548640" cy="2080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800" dirty="0"/>
          </a:p>
        </p:txBody>
      </p:sp>
      <p:sp>
        <p:nvSpPr>
          <p:cNvPr id="10" name="Code text"/>
          <p:cNvSpPr txBox="1"/>
          <p:nvPr/>
        </p:nvSpPr>
        <p:spPr>
          <a:xfrm>
            <a:off x="1298448" y="2167128"/>
            <a:ext cx="5815584" cy="2080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8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8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myFirstKarel;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myFirstKarel.row = </a:t>
            </a:r>
            <a:r>
              <a:rPr lang="en-US" sz="18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myFirstKarel.column = </a:t>
            </a:r>
            <a:r>
              <a:rPr lang="en-US" sz="18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myFirstKarel.facing = </a:t>
            </a:r>
            <a:r>
              <a:rPr lang="en-US" sz="18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myFirstKarel.name = </a:t>
            </a:r>
            <a:r>
              <a:rPr lang="en-US" sz="18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 T. Robot"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pic>
        <p:nvPicPr>
          <p:cNvPr id="11" name="Karel on the grid" descr="karel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965960"/>
            <a:ext cx="3657600" cy="2619803"/>
          </a:xfrm>
          <a:prstGeom prst="rect">
            <a:avLst/>
          </a:prstGeom>
        </p:spPr>
      </p:pic>
      <p:sp>
        <p:nvSpPr>
          <p:cNvPr id="12" name="Body"/>
          <p:cNvSpPr txBox="1"/>
          <p:nvPr/>
        </p:nvSpPr>
        <p:spPr>
          <a:xfrm>
            <a:off x="7680960" y="47548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Facing east, standing at row 14, column 0.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A5160"/>
                </a:solidFill>
              </a:rPr>
              <a:t>Rows are numbered from the top, so row 14 is the bottom row of Karel's world.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Passing structs to functions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We can now pass our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 into functions. No more passing a row, a column, a direction, and a name separately!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486400" y="1600200"/>
            <a:ext cx="6126480" cy="3489706"/>
          </a:xfrm>
          <a:prstGeom prst="roundRect">
            <a:avLst>
              <a:gd name="adj" fmla="val 209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line numbers"/>
          <p:cNvSpPr txBox="1"/>
          <p:nvPr/>
        </p:nvSpPr>
        <p:spPr>
          <a:xfrm>
            <a:off x="5687568" y="1801368"/>
            <a:ext cx="518160" cy="3087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700" dirty="0"/>
          </a:p>
        </p:txBody>
      </p:sp>
      <p:sp>
        <p:nvSpPr>
          <p:cNvPr id="6" name="Code text"/>
          <p:cNvSpPr txBox="1"/>
          <p:nvPr/>
        </p:nvSpPr>
        <p:spPr>
          <a:xfrm>
            <a:off x="6205728" y="1801368"/>
            <a:ext cx="5297424" cy="3087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&amp;karel)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-=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-=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+=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+= </a:t>
            </a:r>
            <a:r>
              <a:rPr lang="en-US" sz="17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Passing structs to functions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Notice that we pass our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 in </a:t>
            </a:r>
            <a:r>
              <a:rPr lang="en-US" sz="2000" b="1" dirty="0">
                <a:solidFill>
                  <a:schemeClr val="tx1"/>
                </a:solidFill>
              </a:rPr>
              <a:t>by reference</a:t>
            </a:r>
            <a:r>
              <a:rPr lang="en-US" sz="2000" dirty="0">
                <a:solidFill>
                  <a:schemeClr val="tx1"/>
                </a:solidFill>
              </a:rPr>
              <a:t> (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 &amp;karel</a:t>
            </a:r>
            <a:r>
              <a:rPr lang="en-US" sz="2000" dirty="0">
                <a:solidFill>
                  <a:schemeClr val="tx1"/>
                </a:solidFill>
              </a:rPr>
              <a:t>).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That's because this function </a:t>
            </a:r>
            <a:r>
              <a:rPr lang="en-US" sz="2000" i="1" dirty="0">
                <a:solidFill>
                  <a:schemeClr val="tx1"/>
                </a:solidFill>
              </a:rPr>
              <a:t>changes</a:t>
            </a:r>
            <a:r>
              <a:rPr lang="en-US" sz="2000" dirty="0">
                <a:solidFill>
                  <a:schemeClr val="tx1"/>
                </a:solidFill>
              </a:rPr>
              <a:t> the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 variable, and we want those changes to stick after the function returns.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486400" y="1600200"/>
            <a:ext cx="6126480" cy="3489706"/>
          </a:xfrm>
          <a:prstGeom prst="roundRect">
            <a:avLst>
              <a:gd name="adj" fmla="val 209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7"/>
          <p:cNvSpPr/>
          <p:nvPr/>
        </p:nvSpPr>
        <p:spPr>
          <a:xfrm>
            <a:off x="5541264" y="1801368"/>
            <a:ext cx="601675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5687568" y="1801368"/>
            <a:ext cx="518160" cy="3087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700" dirty="0"/>
          </a:p>
        </p:txBody>
      </p:sp>
      <p:sp>
        <p:nvSpPr>
          <p:cNvPr id="7" name="Code text"/>
          <p:cNvSpPr txBox="1"/>
          <p:nvPr/>
        </p:nvSpPr>
        <p:spPr>
          <a:xfrm>
            <a:off x="6205728" y="1801368"/>
            <a:ext cx="5297424" cy="3087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&amp;karel)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-=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-=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+=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+=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How should you pass a struct?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Structs can get large, so copying them on every function call is wasteful. A good rule of thumb:</a:t>
            </a:r>
            <a:endParaRPr lang="en-US" sz="2000" dirty="0"/>
          </a:p>
        </p:txBody>
      </p:sp>
      <p:sp>
        <p:nvSpPr>
          <p:cNvPr id="4" name="Rule card 1"/>
          <p:cNvSpPr/>
          <p:nvPr/>
        </p:nvSpPr>
        <p:spPr>
          <a:xfrm>
            <a:off x="548640" y="2331720"/>
            <a:ext cx="11064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ule text 1"/>
          <p:cNvSpPr txBox="1"/>
          <p:nvPr/>
        </p:nvSpPr>
        <p:spPr>
          <a:xfrm>
            <a:off x="822960" y="233172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function changes the struct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4A5160"/>
                </a:solidFill>
              </a:rPr>
              <a:t>pass by reference</a:t>
            </a:r>
            <a:endParaRPr lang="en-US" sz="1900" dirty="0"/>
          </a:p>
        </p:txBody>
      </p:sp>
      <p:sp>
        <p:nvSpPr>
          <p:cNvPr id="6" name="Rule code 1 panel"/>
          <p:cNvSpPr/>
          <p:nvPr/>
        </p:nvSpPr>
        <p:spPr>
          <a:xfrm>
            <a:off x="5029200" y="2532888"/>
            <a:ext cx="6355080" cy="699516"/>
          </a:xfrm>
          <a:prstGeom prst="roundRect">
            <a:avLst>
              <a:gd name="adj" fmla="val 10458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7" name="Rule code 1 text"/>
          <p:cNvSpPr txBox="1"/>
          <p:nvPr/>
        </p:nvSpPr>
        <p:spPr>
          <a:xfrm>
            <a:off x="5230368" y="2734056"/>
            <a:ext cx="604418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&amp;karel);</a:t>
            </a:r>
            <a:endParaRPr lang="en-US" sz="1800" dirty="0"/>
          </a:p>
        </p:txBody>
      </p:sp>
      <p:sp>
        <p:nvSpPr>
          <p:cNvPr id="8" name="Rule card 2"/>
          <p:cNvSpPr/>
          <p:nvPr/>
        </p:nvSpPr>
        <p:spPr>
          <a:xfrm>
            <a:off x="548640" y="3794760"/>
            <a:ext cx="11064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ule text 2"/>
          <p:cNvSpPr txBox="1"/>
          <p:nvPr/>
        </p:nvSpPr>
        <p:spPr>
          <a:xfrm>
            <a:off x="822960" y="37947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The function only reads the struct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4A5160"/>
                </a:solidFill>
              </a:rPr>
              <a:t>pass by const reference</a:t>
            </a:r>
            <a:endParaRPr lang="en-US" sz="1900" dirty="0"/>
          </a:p>
        </p:txBody>
      </p:sp>
      <p:sp>
        <p:nvSpPr>
          <p:cNvPr id="10" name="Rule code 2 panel"/>
          <p:cNvSpPr/>
          <p:nvPr/>
        </p:nvSpPr>
        <p:spPr>
          <a:xfrm>
            <a:off x="5029200" y="3995928"/>
            <a:ext cx="6355080" cy="699516"/>
          </a:xfrm>
          <a:prstGeom prst="roundRect">
            <a:avLst>
              <a:gd name="adj" fmla="val 10458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1" name="Rule code 2 text"/>
          <p:cNvSpPr txBox="1"/>
          <p:nvPr/>
        </p:nvSpPr>
        <p:spPr>
          <a:xfrm>
            <a:off x="5230368" y="4197096"/>
            <a:ext cx="6044184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340"/>
              </a:lnSpc>
              <a:buNone/>
            </a:pPr>
            <a:r>
              <a:rPr lang="en-US" sz="18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karelPrint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8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&amp;karel);</a:t>
            </a:r>
            <a:endParaRPr lang="en-US" sz="1800" dirty="0"/>
          </a:p>
        </p:txBody>
      </p:sp>
      <p:sp>
        <p:nvSpPr>
          <p:cNvPr id="12" name="Body"/>
          <p:cNvSpPr txBox="1"/>
          <p:nvPr/>
        </p:nvSpPr>
        <p:spPr>
          <a:xfrm>
            <a:off x="548640" y="53492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700" dirty="0">
                <a:solidFill>
                  <a:schemeClr val="tx1"/>
                </a:solidFill>
              </a:rPr>
              <a:t> means no copy </a:t>
            </a:r>
            <a:r>
              <a:rPr lang="en-US" sz="1700" i="1" dirty="0">
                <a:solidFill>
                  <a:schemeClr val="tx1"/>
                </a:solidFill>
              </a:rPr>
              <a:t>and</a:t>
            </a:r>
            <a:r>
              <a:rPr lang="en-US" sz="1700" dirty="0">
                <a:solidFill>
                  <a:schemeClr val="tx1"/>
                </a:solidFill>
              </a:rPr>
              <a:t> the compiler stops you if you accidentally try to change it.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4A5160"/>
                </a:solidFill>
              </a:rPr>
              <a:t>Arrays are different: they're never copied when you pass them, so they never need the </a:t>
            </a:r>
            <a:r>
              <a:rPr lang="en-US" sz="17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r>
              <a:rPr lang="en-US" sz="1700" dirty="0">
                <a:solidFill>
                  <a:srgbClr val="4A5160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Passing structs to functions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After we call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karelMove()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myFirstKarel.column</a:t>
            </a:r>
            <a:r>
              <a:rPr lang="en-US" sz="1900" dirty="0">
                <a:solidFill>
                  <a:schemeClr val="tx1"/>
                </a:solidFill>
              </a:rPr>
              <a:t> really has changed:</a:t>
            </a:r>
            <a:endParaRPr lang="en-US" sz="1900" dirty="0"/>
          </a:p>
        </p:txBody>
      </p:sp>
      <p:sp>
        <p:nvSpPr>
          <p:cNvPr id="4" name="Code panel"/>
          <p:cNvSpPr/>
          <p:nvPr/>
        </p:nvSpPr>
        <p:spPr>
          <a:xfrm>
            <a:off x="548640" y="2331720"/>
            <a:ext cx="8229600" cy="3869436"/>
          </a:xfrm>
          <a:prstGeom prst="roundRect">
            <a:avLst>
              <a:gd name="adj" fmla="val 1891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7"/>
          <p:cNvSpPr/>
          <p:nvPr/>
        </p:nvSpPr>
        <p:spPr>
          <a:xfrm>
            <a:off x="603504" y="45140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38"/>
          <p:cNvSpPr/>
          <p:nvPr/>
        </p:nvSpPr>
        <p:spPr>
          <a:xfrm>
            <a:off x="603504" y="476173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39"/>
          <p:cNvSpPr/>
          <p:nvPr/>
        </p:nvSpPr>
        <p:spPr>
          <a:xfrm>
            <a:off x="603504" y="50093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line numbers"/>
          <p:cNvSpPr txBox="1"/>
          <p:nvPr/>
        </p:nvSpPr>
        <p:spPr>
          <a:xfrm>
            <a:off x="749808" y="2532888"/>
            <a:ext cx="457200" cy="3467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500" dirty="0"/>
          </a:p>
        </p:txBody>
      </p:sp>
      <p:sp>
        <p:nvSpPr>
          <p:cNvPr id="9" name="Code text"/>
          <p:cNvSpPr txBox="1"/>
          <p:nvPr/>
        </p:nvSpPr>
        <p:spPr>
          <a:xfrm>
            <a:off x="1207008" y="2532888"/>
            <a:ext cx="7461504" cy="3467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myFirstKarel;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myFirstKarel.row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myFirstKarel.column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myFirstKarel.facing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myFirstKarel.name =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 T. Robot"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(myFirstKarel);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row: 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myFirstKarel.row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column: 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myFirstKarel.column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rminal panel"/>
          <p:cNvSpPr/>
          <p:nvPr/>
        </p:nvSpPr>
        <p:spPr>
          <a:xfrm>
            <a:off x="9052560" y="2331720"/>
            <a:ext cx="2560320" cy="1059180"/>
          </a:xfrm>
          <a:prstGeom prst="roundRect">
            <a:avLst>
              <a:gd name="adj" fmla="val 5180"/>
            </a:avLst>
          </a:prstGeom>
          <a:solidFill>
            <a:srgbClr val="FFFFFF"/>
          </a:solidFill>
          <a:ln w="19050">
            <a:solidFill>
              <a:srgbClr val="57606A"/>
            </a:solidFill>
            <a:prstDash val="solid"/>
          </a:ln>
        </p:spPr>
      </p:sp>
      <p:sp>
        <p:nvSpPr>
          <p:cNvPr id="11" name="Terminal text"/>
          <p:cNvSpPr txBox="1"/>
          <p:nvPr/>
        </p:nvSpPr>
        <p:spPr>
          <a:xfrm>
            <a:off x="9235440" y="2514600"/>
            <a:ext cx="2286000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./karel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Karel's row: 14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Karel's column: 1</a:t>
            </a:r>
            <a:endParaRPr lang="en-US" sz="1400" dirty="0"/>
          </a:p>
        </p:txBody>
      </p:sp>
      <p:sp>
        <p:nvSpPr>
          <p:cNvPr id="12" name="Body"/>
          <p:cNvSpPr txBox="1"/>
          <p:nvPr/>
        </p:nvSpPr>
        <p:spPr>
          <a:xfrm>
            <a:off x="9052560" y="36195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600" dirty="0">
                <a:solidFill>
                  <a:srgbClr val="4A5160"/>
                </a:solidFill>
              </a:rPr>
              <a:t> is now 1 instead of 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Beyond structs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572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Notice that we have a function that only makes sense when it's applied to a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karelMove()</a:t>
            </a:r>
            <a:r>
              <a:rPr lang="en-US" sz="2000" dirty="0">
                <a:solidFill>
                  <a:srgbClr val="4A5160"/>
                </a:solidFill>
              </a:rPr>
              <a:t> is meaningless unless you've defined a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rgbClr val="4A5160"/>
                </a:solidFill>
              </a:rPr>
              <a:t> struct.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486400" y="1600200"/>
            <a:ext cx="6126480" cy="3489706"/>
          </a:xfrm>
          <a:prstGeom prst="roundRect">
            <a:avLst>
              <a:gd name="adj" fmla="val 2096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7"/>
          <p:cNvSpPr/>
          <p:nvPr/>
        </p:nvSpPr>
        <p:spPr>
          <a:xfrm>
            <a:off x="5541264" y="1801368"/>
            <a:ext cx="6016752" cy="28067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5687568" y="1801368"/>
            <a:ext cx="518160" cy="3087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700" dirty="0"/>
          </a:p>
        </p:txBody>
      </p:sp>
      <p:sp>
        <p:nvSpPr>
          <p:cNvPr id="7" name="Code text"/>
          <p:cNvSpPr txBox="1"/>
          <p:nvPr/>
        </p:nvSpPr>
        <p:spPr>
          <a:xfrm>
            <a:off x="6205728" y="1801368"/>
            <a:ext cx="5297424" cy="3087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7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&amp;karel)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-=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-=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+=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+= </a:t>
            </a:r>
            <a:r>
              <a:rPr lang="en-US" sz="17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700" dirty="0"/>
          </a:p>
          <a:p>
            <a:pPr marL="0" indent="0">
              <a:lnSpc>
                <a:spcPts val="2210"/>
              </a:lnSpc>
              <a:buNone/>
            </a:pPr>
            <a:r>
              <a:rPr lang="en-US" sz="17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400" dirty="0">
                <a:solidFill>
                  <a:schemeClr val="tx1"/>
                </a:solidFill>
              </a:rPr>
              <a:t>Your first class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6118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160"/>
                </a:solidFill>
              </a:rPr>
              <a:t>welcome to object-oriented programming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Welcome to object-oriented programming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508760"/>
            <a:ext cx="48463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In the 1960s, two Norwegian computer scientists, </a:t>
            </a:r>
            <a:r>
              <a:rPr lang="en-US" sz="1900" b="1" dirty="0">
                <a:solidFill>
                  <a:schemeClr val="tx1"/>
                </a:solidFill>
              </a:rPr>
              <a:t>Ole-Johan Dahl</a:t>
            </a:r>
            <a:r>
              <a:rPr lang="en-US" sz="1900" dirty="0">
                <a:solidFill>
                  <a:schemeClr val="tx1"/>
                </a:solidFill>
              </a:rPr>
              <a:t> and </a:t>
            </a:r>
            <a:r>
              <a:rPr lang="en-US" sz="1900" b="1" dirty="0">
                <a:solidFill>
                  <a:schemeClr val="tx1"/>
                </a:solidFill>
              </a:rPr>
              <a:t>Kristen Nygaard</a:t>
            </a:r>
            <a:r>
              <a:rPr lang="en-US" sz="1900" dirty="0">
                <a:solidFill>
                  <a:schemeClr val="tx1"/>
                </a:solidFill>
              </a:rPr>
              <a:t>, had an idea: bundle a data structure (like a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900" dirty="0">
                <a:solidFill>
                  <a:schemeClr val="tx1"/>
                </a:solidFill>
              </a:rPr>
              <a:t>) together with the functions that operate on that data.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Their language, Simula, was the first object-oriented language.</a:t>
            </a:r>
            <a:endParaRPr lang="en-US" sz="19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1900" dirty="0">
                <a:solidFill>
                  <a:srgbClr val="4A5160"/>
                </a:solidFill>
              </a:rPr>
              <a:t>Bjarne Stroustrup borrowed Simula's classes when he created C++ (originally called “C with Classes”).</a:t>
            </a:r>
            <a:endParaRPr lang="en-US" sz="1900" dirty="0"/>
          </a:p>
        </p:txBody>
      </p:sp>
      <p:pic>
        <p:nvPicPr>
          <p:cNvPr id="4" name="Dahl and Nygaard photo" descr="dahl_nyga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120640" cy="4326829"/>
          </a:xfrm>
          <a:prstGeom prst="rect">
            <a:avLst/>
          </a:prstGeom>
        </p:spPr>
      </p:pic>
      <p:sp>
        <p:nvSpPr>
          <p:cNvPr id="5" name="Photo caption"/>
          <p:cNvSpPr txBox="1"/>
          <p:nvPr/>
        </p:nvSpPr>
        <p:spPr>
          <a:xfrm>
            <a:off x="6309360" y="5725861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090"/>
                </a:solidFill>
              </a:rPr>
              <a:t>Ole-Johan Dahl (left) and Kristen Nygaard (right)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Welcome to object-oriented programming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C++ has a tool much like the struct that can hold not just variables, but also </a:t>
            </a:r>
            <a:r>
              <a:rPr lang="en-US" sz="2000" i="1" dirty="0">
                <a:solidFill>
                  <a:schemeClr val="tx1"/>
                </a:solidFill>
              </a:rPr>
              <a:t>functions</a:t>
            </a:r>
            <a:r>
              <a:rPr lang="en-US" sz="2000" dirty="0">
                <a:solidFill>
                  <a:schemeClr val="tx1"/>
                </a:solidFill>
              </a:rPr>
              <a:t> that operate on those variables.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It's called the </a:t>
            </a:r>
            <a:r>
              <a:rPr lang="en-US" sz="2000" b="1" dirty="0">
                <a:solidFill>
                  <a:schemeClr val="tx1"/>
                </a:solidFill>
              </a:rPr>
              <a:t>class</a:t>
            </a:r>
            <a:r>
              <a:rPr lang="en-US" sz="2000" dirty="0">
                <a:solidFill>
                  <a:schemeClr val="tx1"/>
                </a:solidFill>
              </a:rPr>
              <a:t>, and it's what we'll be talking about for literally the rest of the semester.</a:t>
            </a:r>
            <a:endParaRPr lang="en-US" sz="2000" dirty="0"/>
          </a:p>
        </p:txBody>
      </p:sp>
      <p:sp>
        <p:nvSpPr>
          <p:cNvPr id="4" name="struct card"/>
          <p:cNvSpPr/>
          <p:nvPr/>
        </p:nvSpPr>
        <p:spPr>
          <a:xfrm>
            <a:off x="548640" y="3063240"/>
            <a:ext cx="53949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ruct label"/>
          <p:cNvSpPr txBox="1"/>
          <p:nvPr/>
        </p:nvSpPr>
        <p:spPr>
          <a:xfrm>
            <a:off x="86868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endParaRPr lang="en-US" sz="2800" dirty="0"/>
          </a:p>
        </p:txBody>
      </p:sp>
      <p:sp>
        <p:nvSpPr>
          <p:cNvPr id="6" name="struct text"/>
          <p:cNvSpPr txBox="1"/>
          <p:nvPr/>
        </p:nvSpPr>
        <p:spPr>
          <a:xfrm>
            <a:off x="868680" y="39319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Members are public by default</a:t>
            </a:r>
            <a:endParaRPr lang="en-US" sz="1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00" dirty="0">
                <a:solidFill>
                  <a:srgbClr val="4A5160"/>
                </a:solidFill>
              </a:rPr>
              <a:t>By convention: plain bundles of data</a:t>
            </a:r>
            <a:endParaRPr lang="en-US" sz="1900" dirty="0"/>
          </a:p>
        </p:txBody>
      </p:sp>
      <p:sp>
        <p:nvSpPr>
          <p:cNvPr id="7" name="class card"/>
          <p:cNvSpPr/>
          <p:nvPr/>
        </p:nvSpPr>
        <p:spPr>
          <a:xfrm>
            <a:off x="6217920" y="3063240"/>
            <a:ext cx="5394960" cy="219456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lass label"/>
          <p:cNvSpPr txBox="1"/>
          <p:nvPr/>
        </p:nvSpPr>
        <p:spPr>
          <a:xfrm>
            <a:off x="6537960" y="32461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2800" dirty="0"/>
          </a:p>
        </p:txBody>
      </p:sp>
      <p:sp>
        <p:nvSpPr>
          <p:cNvPr id="9" name="class text"/>
          <p:cNvSpPr txBox="1"/>
          <p:nvPr/>
        </p:nvSpPr>
        <p:spPr>
          <a:xfrm>
            <a:off x="6537960" y="39319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Members are private by default</a:t>
            </a:r>
            <a:endParaRPr lang="en-US" sz="1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900" dirty="0">
                <a:solidFill>
                  <a:srgbClr val="4A5160"/>
                </a:solidFill>
              </a:rPr>
              <a:t>By convention: types that also have functions</a:t>
            </a:r>
            <a:endParaRPr lang="en-US" sz="1900" dirty="0"/>
          </a:p>
        </p:txBody>
      </p:sp>
      <p:sp>
        <p:nvSpPr>
          <p:cNvPr id="10" name="Body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A5160"/>
                </a:solidFill>
              </a:rPr>
              <a:t>Technically, C++ structs can hold functions too. The default access is the only real language difference.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first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937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Here's our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 type defined using a </a:t>
            </a:r>
            <a:r>
              <a:rPr lang="en-US" sz="2000" b="1" dirty="0">
                <a:solidFill>
                  <a:schemeClr val="tx1"/>
                </a:solidFill>
              </a:rPr>
              <a:t>class</a:t>
            </a:r>
            <a:r>
              <a:rPr lang="en-US" sz="2000" dirty="0">
                <a:solidFill>
                  <a:schemeClr val="tx1"/>
                </a:solidFill>
              </a:rPr>
              <a:t> rather than a struct.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Notice it contains a function,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</a:t>
            </a:r>
            <a:r>
              <a:rPr lang="en-US" sz="2000" dirty="0">
                <a:solidFill>
                  <a:schemeClr val="tx1"/>
                </a:solidFill>
              </a:rPr>
              <a:t>, as well as variables.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6035040" y="1600200"/>
            <a:ext cx="5577840" cy="3043936"/>
          </a:xfrm>
          <a:prstGeom prst="roundRect">
            <a:avLst>
              <a:gd name="adj" fmla="val 2403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6"/>
          <p:cNvSpPr/>
          <p:nvPr/>
        </p:nvSpPr>
        <p:spPr>
          <a:xfrm>
            <a:off x="6089904" y="3782568"/>
            <a:ext cx="5468112" cy="3302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6236208" y="1801368"/>
            <a:ext cx="609600" cy="264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2000" dirty="0"/>
          </a:p>
        </p:txBody>
      </p:sp>
      <p:sp>
        <p:nvSpPr>
          <p:cNvPr id="7" name="Code text"/>
          <p:cNvSpPr txBox="1"/>
          <p:nvPr/>
        </p:nvSpPr>
        <p:spPr>
          <a:xfrm>
            <a:off x="6845808" y="1801368"/>
            <a:ext cx="4657344" cy="264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first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937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Thing to notice #1: defining a class looks just like defining a struct, except you use the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2000" dirty="0">
                <a:solidFill>
                  <a:schemeClr val="tx1"/>
                </a:solidFill>
              </a:rPr>
              <a:t> keyword instead of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6035040" y="1600200"/>
            <a:ext cx="5577840" cy="3043936"/>
          </a:xfrm>
          <a:prstGeom prst="roundRect">
            <a:avLst>
              <a:gd name="adj" fmla="val 2403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0"/>
          <p:cNvSpPr/>
          <p:nvPr/>
        </p:nvSpPr>
        <p:spPr>
          <a:xfrm>
            <a:off x="6089904" y="1801368"/>
            <a:ext cx="5468112" cy="3302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6236208" y="1801368"/>
            <a:ext cx="609600" cy="264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2000" dirty="0"/>
          </a:p>
        </p:txBody>
      </p:sp>
      <p:sp>
        <p:nvSpPr>
          <p:cNvPr id="7" name="Code text"/>
          <p:cNvSpPr txBox="1"/>
          <p:nvPr/>
        </p:nvSpPr>
        <p:spPr>
          <a:xfrm>
            <a:off x="6845808" y="1801368"/>
            <a:ext cx="4657344" cy="264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first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9377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Everything after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r>
              <a:rPr lang="en-US" sz="2000" dirty="0">
                <a:solidFill>
                  <a:schemeClr val="tx1"/>
                </a:solidFill>
              </a:rPr>
              <a:t> can be accessed from </a:t>
            </a:r>
            <a:r>
              <a:rPr lang="en-US" sz="2000" i="1" dirty="0">
                <a:solidFill>
                  <a:schemeClr val="tx1"/>
                </a:solidFill>
              </a:rPr>
              <a:t>outside</a:t>
            </a:r>
            <a:r>
              <a:rPr lang="en-US" sz="2000" dirty="0">
                <a:solidFill>
                  <a:schemeClr val="tx1"/>
                </a:solidFill>
              </a:rPr>
              <a:t> the class, like from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We need it because class members are </a:t>
            </a:r>
            <a:r>
              <a:rPr lang="en-US" sz="2000" b="1" dirty="0">
                <a:solidFill>
                  <a:schemeClr val="tx1"/>
                </a:solidFill>
              </a:rPr>
              <a:t>private</a:t>
            </a:r>
            <a:r>
              <a:rPr lang="en-US" sz="2000" dirty="0">
                <a:solidFill>
                  <a:schemeClr val="tx1"/>
                </a:solidFill>
              </a:rPr>
              <a:t> by default. Without it,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2000" dirty="0">
                <a:solidFill>
                  <a:schemeClr val="tx1"/>
                </a:solidFill>
              </a:rPr>
              <a:t> couldn't touch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2000" dirty="0">
                <a:solidFill>
                  <a:schemeClr val="tx1"/>
                </a:solidFill>
              </a:rPr>
              <a:t>, and so on.</a:t>
            </a:r>
            <a:endParaRPr lang="en-US" sz="20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2000" dirty="0">
                <a:solidFill>
                  <a:srgbClr val="4A5160"/>
                </a:solidFill>
              </a:rPr>
              <a:t>We'll talk (much, much) more about public vs. private, and why you'd ever want private, in future sessions.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6035040" y="1600200"/>
            <a:ext cx="5577840" cy="3043936"/>
          </a:xfrm>
          <a:prstGeom prst="roundRect">
            <a:avLst>
              <a:gd name="adj" fmla="val 2403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1"/>
          <p:cNvSpPr/>
          <p:nvPr/>
        </p:nvSpPr>
        <p:spPr>
          <a:xfrm>
            <a:off x="6089904" y="2131568"/>
            <a:ext cx="5468112" cy="33020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6236208" y="1801368"/>
            <a:ext cx="609600" cy="264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2000" dirty="0"/>
          </a:p>
        </p:txBody>
      </p:sp>
      <p:sp>
        <p:nvSpPr>
          <p:cNvPr id="7" name="Code text"/>
          <p:cNvSpPr txBox="1"/>
          <p:nvPr/>
        </p:nvSpPr>
        <p:spPr>
          <a:xfrm>
            <a:off x="6845808" y="1801368"/>
            <a:ext cx="4657344" cy="264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2B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20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20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20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0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0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first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600200"/>
            <a:ext cx="4754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And here's the version with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</a:t>
            </a:r>
            <a:r>
              <a:rPr lang="en-US" sz="2000" dirty="0">
                <a:solidFill>
                  <a:schemeClr val="tx1"/>
                </a:solidFill>
              </a:rPr>
              <a:t> actually defined.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We write the name of the class before the name of the function, separated by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endParaRPr lang="en-US" sz="2000" dirty="0"/>
          </a:p>
          <a:p>
            <a:pPr marL="0" indent="0"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return type goes before all of that, as usual.</a:t>
            </a:r>
            <a:endParaRPr lang="en-US" sz="2000" dirty="0"/>
          </a:p>
        </p:txBody>
      </p:sp>
      <p:sp>
        <p:nvSpPr>
          <p:cNvPr id="4" name="Code panel"/>
          <p:cNvSpPr/>
          <p:nvPr/>
        </p:nvSpPr>
        <p:spPr>
          <a:xfrm>
            <a:off x="5852160" y="1280160"/>
            <a:ext cx="5760720" cy="4872736"/>
          </a:xfrm>
          <a:prstGeom prst="roundRect">
            <a:avLst>
              <a:gd name="adj" fmla="val 1501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19"/>
          <p:cNvSpPr/>
          <p:nvPr/>
        </p:nvSpPr>
        <p:spPr>
          <a:xfrm>
            <a:off x="5907024" y="3493008"/>
            <a:ext cx="5650992" cy="22352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6053328" y="1481328"/>
            <a:ext cx="411480" cy="447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350" dirty="0"/>
          </a:p>
        </p:txBody>
      </p:sp>
      <p:sp>
        <p:nvSpPr>
          <p:cNvPr id="7" name="Code text"/>
          <p:cNvSpPr txBox="1"/>
          <p:nvPr/>
        </p:nvSpPr>
        <p:spPr>
          <a:xfrm>
            <a:off x="6464808" y="1481328"/>
            <a:ext cx="5038344" cy="447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facing;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3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35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13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3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-= </a:t>
            </a:r>
            <a:r>
              <a:rPr lang="en-US" sz="13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3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column -= </a:t>
            </a:r>
            <a:r>
              <a:rPr lang="en-US" sz="13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3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+= </a:t>
            </a:r>
            <a:r>
              <a:rPr lang="en-US" sz="13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3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column += </a:t>
            </a:r>
            <a:r>
              <a:rPr lang="en-US" sz="13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ts val="1760"/>
              </a:lnSpc>
              <a:buNone/>
            </a:pPr>
            <a:r>
              <a:rPr lang="en-US" sz="13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Struct version vs. class version</a:t>
            </a:r>
            <a:endParaRPr lang="en-US" sz="3200" dirty="0"/>
          </a:p>
        </p:txBody>
      </p:sp>
      <p:sp>
        <p:nvSpPr>
          <p:cNvPr id="3" name="Struct heading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5160"/>
                </a:solidFill>
              </a:rPr>
              <a:t>struct version</a:t>
            </a:r>
            <a:endParaRPr lang="en-US" sz="1800" dirty="0"/>
          </a:p>
        </p:txBody>
      </p:sp>
      <p:sp>
        <p:nvSpPr>
          <p:cNvPr id="4" name="Class heading"/>
          <p:cNvSpPr txBox="1"/>
          <p:nvPr/>
        </p:nvSpPr>
        <p:spPr>
          <a:xfrm>
            <a:off x="6263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5160"/>
                </a:solidFill>
              </a:rPr>
              <a:t>class version</a:t>
            </a:r>
            <a:endParaRPr lang="en-US" sz="1800" dirty="0"/>
          </a:p>
        </p:txBody>
      </p:sp>
      <p:sp>
        <p:nvSpPr>
          <p:cNvPr id="5" name="Struct code panel"/>
          <p:cNvSpPr/>
          <p:nvPr/>
        </p:nvSpPr>
        <p:spPr>
          <a:xfrm>
            <a:off x="548640" y="1737360"/>
            <a:ext cx="5440680" cy="3126486"/>
          </a:xfrm>
          <a:prstGeom prst="roundRect">
            <a:avLst>
              <a:gd name="adj" fmla="val 2340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6" name="Struct code highlight 17"/>
          <p:cNvSpPr/>
          <p:nvPr/>
        </p:nvSpPr>
        <p:spPr>
          <a:xfrm>
            <a:off x="603504" y="1938528"/>
            <a:ext cx="533095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Struct code highlight 19"/>
          <p:cNvSpPr/>
          <p:nvPr/>
        </p:nvSpPr>
        <p:spPr>
          <a:xfrm>
            <a:off x="603504" y="2433828"/>
            <a:ext cx="533095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Struct code highlight 21"/>
          <p:cNvSpPr/>
          <p:nvPr/>
        </p:nvSpPr>
        <p:spPr>
          <a:xfrm>
            <a:off x="603504" y="2929128"/>
            <a:ext cx="533095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Struct code highlight 23"/>
          <p:cNvSpPr/>
          <p:nvPr/>
        </p:nvSpPr>
        <p:spPr>
          <a:xfrm>
            <a:off x="603504" y="3424428"/>
            <a:ext cx="533095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Struct code highlight 25"/>
          <p:cNvSpPr/>
          <p:nvPr/>
        </p:nvSpPr>
        <p:spPr>
          <a:xfrm>
            <a:off x="603504" y="3919728"/>
            <a:ext cx="533095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1" name="Struct code line numbers"/>
          <p:cNvSpPr txBox="1"/>
          <p:nvPr/>
        </p:nvSpPr>
        <p:spPr>
          <a:xfrm>
            <a:off x="749808" y="1938528"/>
            <a:ext cx="457200" cy="272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500" dirty="0"/>
          </a:p>
        </p:txBody>
      </p:sp>
      <p:sp>
        <p:nvSpPr>
          <p:cNvPr id="12" name="Struct code text"/>
          <p:cNvSpPr txBox="1"/>
          <p:nvPr/>
        </p:nvSpPr>
        <p:spPr>
          <a:xfrm>
            <a:off x="1207008" y="1938528"/>
            <a:ext cx="4672584" cy="272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&amp;karel)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-= </a:t>
            </a:r>
            <a:r>
              <a:rPr lang="en-US" sz="15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-= </a:t>
            </a:r>
            <a:r>
              <a:rPr lang="en-US" sz="15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+= </a:t>
            </a:r>
            <a:r>
              <a:rPr lang="en-US" sz="15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+= </a:t>
            </a:r>
            <a:r>
              <a:rPr lang="en-US" sz="15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Class code panel"/>
          <p:cNvSpPr/>
          <p:nvPr/>
        </p:nvSpPr>
        <p:spPr>
          <a:xfrm>
            <a:off x="6263640" y="1737360"/>
            <a:ext cx="5349240" cy="3308096"/>
          </a:xfrm>
          <a:prstGeom prst="roundRect">
            <a:avLst>
              <a:gd name="adj" fmla="val 2211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14" name="Class code line numbers"/>
          <p:cNvSpPr txBox="1"/>
          <p:nvPr/>
        </p:nvSpPr>
        <p:spPr>
          <a:xfrm>
            <a:off x="6464808" y="1938528"/>
            <a:ext cx="487680" cy="290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600" dirty="0"/>
          </a:p>
        </p:txBody>
      </p:sp>
      <p:sp>
        <p:nvSpPr>
          <p:cNvPr id="15" name="Class code text"/>
          <p:cNvSpPr txBox="1"/>
          <p:nvPr/>
        </p:nvSpPr>
        <p:spPr>
          <a:xfrm>
            <a:off x="6952488" y="1938528"/>
            <a:ext cx="4550664" cy="290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6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-=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column -=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+=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column +=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6" name="Body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In the struct version, we have to pass in a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900" dirty="0">
                <a:solidFill>
                  <a:schemeClr val="tx1"/>
                </a:solidFill>
              </a:rPr>
              <a:t> and say </a:t>
            </a:r>
            <a:r>
              <a:rPr lang="en-US" sz="1900" i="1" dirty="0">
                <a:solidFill>
                  <a:schemeClr val="tx1"/>
                </a:solidFill>
              </a:rPr>
              <a:t>which</a:t>
            </a:r>
            <a:r>
              <a:rPr lang="en-US" sz="1900" dirty="0">
                <a:solidFill>
                  <a:schemeClr val="tx1"/>
                </a:solidFill>
              </a:rPr>
              <a:t> Karel's variables to change: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karel.row</a:t>
            </a:r>
            <a:r>
              <a:rPr lang="en-US" sz="1900" dirty="0">
                <a:solidFill>
                  <a:schemeClr val="tx1"/>
                </a:solidFill>
              </a:rPr>
              <a:t>,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karel.column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Struct version vs. class version</a:t>
            </a:r>
            <a:endParaRPr lang="en-US" sz="3200" dirty="0"/>
          </a:p>
        </p:txBody>
      </p:sp>
      <p:sp>
        <p:nvSpPr>
          <p:cNvPr id="3" name="Struct heading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5160"/>
                </a:solidFill>
              </a:rPr>
              <a:t>struct version</a:t>
            </a:r>
            <a:endParaRPr lang="en-US" sz="1800" dirty="0"/>
          </a:p>
        </p:txBody>
      </p:sp>
      <p:sp>
        <p:nvSpPr>
          <p:cNvPr id="4" name="Class heading"/>
          <p:cNvSpPr txBox="1"/>
          <p:nvPr/>
        </p:nvSpPr>
        <p:spPr>
          <a:xfrm>
            <a:off x="62636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5160"/>
                </a:solidFill>
              </a:rPr>
              <a:t>class version</a:t>
            </a:r>
            <a:endParaRPr lang="en-US" sz="1800" dirty="0"/>
          </a:p>
        </p:txBody>
      </p:sp>
      <p:sp>
        <p:nvSpPr>
          <p:cNvPr id="5" name="Struct code panel"/>
          <p:cNvSpPr/>
          <p:nvPr/>
        </p:nvSpPr>
        <p:spPr>
          <a:xfrm>
            <a:off x="548640" y="1737360"/>
            <a:ext cx="5440680" cy="3126486"/>
          </a:xfrm>
          <a:prstGeom prst="roundRect">
            <a:avLst>
              <a:gd name="adj" fmla="val 2340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6" name="Struct code line numbers"/>
          <p:cNvSpPr txBox="1"/>
          <p:nvPr/>
        </p:nvSpPr>
        <p:spPr>
          <a:xfrm>
            <a:off x="749808" y="1938528"/>
            <a:ext cx="457200" cy="272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500" dirty="0"/>
          </a:p>
        </p:txBody>
      </p:sp>
      <p:sp>
        <p:nvSpPr>
          <p:cNvPr id="7" name="Struct code text"/>
          <p:cNvSpPr txBox="1"/>
          <p:nvPr/>
        </p:nvSpPr>
        <p:spPr>
          <a:xfrm>
            <a:off x="1207008" y="1938528"/>
            <a:ext cx="4672584" cy="272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&amp;karel)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-=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-=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karel.row +=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(karel.facing ==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karel.column +=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Class code panel"/>
          <p:cNvSpPr/>
          <p:nvPr/>
        </p:nvSpPr>
        <p:spPr>
          <a:xfrm>
            <a:off x="6263640" y="1737360"/>
            <a:ext cx="5349240" cy="3308096"/>
          </a:xfrm>
          <a:prstGeom prst="roundRect">
            <a:avLst>
              <a:gd name="adj" fmla="val 2211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9" name="Class code highlight 19"/>
          <p:cNvSpPr/>
          <p:nvPr/>
        </p:nvSpPr>
        <p:spPr>
          <a:xfrm>
            <a:off x="6318504" y="1938528"/>
            <a:ext cx="5239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lass code highlight 21"/>
          <p:cNvSpPr/>
          <p:nvPr/>
        </p:nvSpPr>
        <p:spPr>
          <a:xfrm>
            <a:off x="6318504" y="2466848"/>
            <a:ext cx="5239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1" name="Class code highlight 23"/>
          <p:cNvSpPr/>
          <p:nvPr/>
        </p:nvSpPr>
        <p:spPr>
          <a:xfrm>
            <a:off x="6318504" y="2995168"/>
            <a:ext cx="5239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2" name="Class code highlight 25"/>
          <p:cNvSpPr/>
          <p:nvPr/>
        </p:nvSpPr>
        <p:spPr>
          <a:xfrm>
            <a:off x="6318504" y="3523488"/>
            <a:ext cx="5239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3" name="Class code highlight 27"/>
          <p:cNvSpPr/>
          <p:nvPr/>
        </p:nvSpPr>
        <p:spPr>
          <a:xfrm>
            <a:off x="6318504" y="4051808"/>
            <a:ext cx="5239512" cy="2641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4" name="Class code line numbers"/>
          <p:cNvSpPr txBox="1"/>
          <p:nvPr/>
        </p:nvSpPr>
        <p:spPr>
          <a:xfrm>
            <a:off x="6464808" y="1938528"/>
            <a:ext cx="487680" cy="290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600" dirty="0"/>
          </a:p>
        </p:txBody>
      </p:sp>
      <p:sp>
        <p:nvSpPr>
          <p:cNvPr id="15" name="Class code text"/>
          <p:cNvSpPr txBox="1"/>
          <p:nvPr/>
        </p:nvSpPr>
        <p:spPr>
          <a:xfrm>
            <a:off x="6952488" y="1938528"/>
            <a:ext cx="4550664" cy="290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r>
              <a:rPr lang="en-US" sz="16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NORTH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-=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WEST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column -=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SOUTH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+=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(facing == </a:t>
            </a:r>
            <a:r>
              <a:rPr lang="en-US" sz="16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column += </a:t>
            </a:r>
            <a:r>
              <a:rPr lang="en-US" sz="160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6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marL="0" indent="0">
              <a:lnSpc>
                <a:spcPts val="2080"/>
              </a:lnSpc>
              <a:buNone/>
            </a:pPr>
            <a:r>
              <a:rPr lang="en-US" sz="16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6" name="Body"/>
          <p:cNvSpPr txBox="1"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In the class version, we never say which Karel we're operating on. It's just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900" dirty="0">
                <a:solidFill>
                  <a:schemeClr val="tx1"/>
                </a:solidFill>
              </a:rPr>
              <a:t> and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900" dirty="0">
                <a:solidFill>
                  <a:schemeClr val="tx1"/>
                </a:solidFill>
              </a:rPr>
              <a:t>. So whose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900" dirty="0">
                <a:solidFill>
                  <a:schemeClr val="tx1"/>
                </a:solidFill>
              </a:rPr>
              <a:t> is this?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Whose row is it?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A member function always runs on a particular object: the one </a:t>
            </a:r>
            <a:r>
              <a:rPr lang="en-US" sz="2100" b="1" dirty="0">
                <a:solidFill>
                  <a:schemeClr val="tx1"/>
                </a:solidFill>
              </a:rPr>
              <a:t>before the dot</a:t>
            </a:r>
            <a:r>
              <a:rPr lang="en-US" sz="2100" dirty="0">
                <a:solidFill>
                  <a:schemeClr val="tx1"/>
                </a:solidFill>
              </a:rPr>
              <a:t> when you call it.</a:t>
            </a:r>
            <a:endParaRPr lang="en-US" sz="2100" dirty="0"/>
          </a:p>
        </p:txBody>
      </p:sp>
      <p:sp>
        <p:nvSpPr>
          <p:cNvPr id="4" name="Call panel"/>
          <p:cNvSpPr/>
          <p:nvPr/>
        </p:nvSpPr>
        <p:spPr>
          <a:xfrm>
            <a:off x="548640" y="2514600"/>
            <a:ext cx="4206240" cy="765556"/>
          </a:xfrm>
          <a:prstGeom prst="roundRect">
            <a:avLst>
              <a:gd name="adj" fmla="val 9555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all text"/>
          <p:cNvSpPr txBox="1"/>
          <p:nvPr/>
        </p:nvSpPr>
        <p:spPr>
          <a:xfrm>
            <a:off x="749808" y="2715768"/>
            <a:ext cx="3895344" cy="363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60"/>
              </a:lnSpc>
              <a:buNone/>
            </a:pPr>
            <a:r>
              <a:rPr lang="en-US" sz="2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myFirstKarel.</a:t>
            </a:r>
            <a:r>
              <a:rPr lang="en-US" sz="22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22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2200" dirty="0"/>
          </a:p>
        </p:txBody>
      </p:sp>
      <p:sp>
        <p:nvSpPr>
          <p:cNvPr id="6" name="Arrow"/>
          <p:cNvSpPr/>
          <p:nvPr/>
        </p:nvSpPr>
        <p:spPr>
          <a:xfrm>
            <a:off x="4983480" y="2606040"/>
            <a:ext cx="822960" cy="4572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Inside move card"/>
          <p:cNvSpPr/>
          <p:nvPr/>
        </p:nvSpPr>
        <p:spPr>
          <a:xfrm>
            <a:off x="6035040" y="2194560"/>
            <a:ext cx="557784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nside label"/>
          <p:cNvSpPr txBox="1"/>
          <p:nvPr/>
        </p:nvSpPr>
        <p:spPr>
          <a:xfrm>
            <a:off x="630936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5160"/>
                </a:solidFill>
              </a:rPr>
              <a:t>inside move(), this time:</a:t>
            </a:r>
            <a:endParaRPr lang="en-US" sz="1700" dirty="0"/>
          </a:p>
        </p:txBody>
      </p:sp>
      <p:sp>
        <p:nvSpPr>
          <p:cNvPr id="9" name="Mapping row"/>
          <p:cNvSpPr txBox="1"/>
          <p:nvPr/>
        </p:nvSpPr>
        <p:spPr>
          <a:xfrm>
            <a:off x="6309360" y="2834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   </a:t>
            </a:r>
            <a:r>
              <a:rPr lang="en-US" sz="19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 </a:t>
            </a:r>
            <a:r>
              <a:rPr lang="en-US" sz="19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myFirstKarel.row</a:t>
            </a:r>
            <a:endParaRPr lang="en-US" sz="1900" dirty="0"/>
          </a:p>
        </p:txBody>
      </p:sp>
      <p:sp>
        <p:nvSpPr>
          <p:cNvPr id="10" name="Mapping column"/>
          <p:cNvSpPr txBox="1"/>
          <p:nvPr/>
        </p:nvSpPr>
        <p:spPr>
          <a:xfrm>
            <a:off x="630936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</a:t>
            </a:r>
            <a:r>
              <a:rPr lang="en-US" sz="19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 </a:t>
            </a:r>
            <a:r>
              <a:rPr lang="en-US" sz="19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myFirstKarel.column</a:t>
            </a:r>
            <a:endParaRPr lang="en-US" sz="1900" dirty="0"/>
          </a:p>
        </p:txBody>
      </p:sp>
      <p:sp>
        <p:nvSpPr>
          <p:cNvPr id="11" name="Mapping facing"/>
          <p:cNvSpPr txBox="1"/>
          <p:nvPr/>
        </p:nvSpPr>
        <p:spPr>
          <a:xfrm>
            <a:off x="6309360" y="3840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facing </a:t>
            </a:r>
            <a:r>
              <a:rPr lang="en-US" sz="1900" dirty="0">
                <a:solidFill>
                  <a:srgbClr val="4A5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 </a:t>
            </a:r>
            <a:r>
              <a:rPr lang="en-US" sz="19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myFirstKarel.facing</a:t>
            </a:r>
            <a:endParaRPr lang="en-US" sz="1900" dirty="0"/>
          </a:p>
        </p:txBody>
      </p:sp>
      <p:sp>
        <p:nvSpPr>
          <p:cNvPr id="12" name="Body"/>
          <p:cNvSpPr txBox="1"/>
          <p:nvPr/>
        </p:nvSpPr>
        <p:spPr>
          <a:xfrm>
            <a:off x="548640" y="4800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So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myFirstKarel.move()</a:t>
            </a:r>
            <a:r>
              <a:rPr lang="en-US" sz="1900" dirty="0">
                <a:solidFill>
                  <a:schemeClr val="tx1"/>
                </a:solidFill>
              </a:rPr>
              <a:t> does the same job as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karelMove(myFirstKarel)</a:t>
            </a:r>
            <a:r>
              <a:rPr lang="en-US" sz="1900" dirty="0">
                <a:solidFill>
                  <a:schemeClr val="tx1"/>
                </a:solidFill>
              </a:rPr>
              <a:t> did. The object gets passed along for you.</a:t>
            </a:r>
            <a:endParaRPr lang="en-US" sz="19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A5160"/>
                </a:solidFill>
              </a:rPr>
              <a:t>(Behind the scenes, C++ hands the function a hidden pointer to that object, called </a:t>
            </a:r>
            <a:r>
              <a:rPr lang="en-US" sz="16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600" dirty="0">
                <a:solidFill>
                  <a:srgbClr val="4A5160"/>
                </a:solidFill>
              </a:rPr>
              <a:t>. More on that later.)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the Karel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Here's a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900" dirty="0">
                <a:solidFill>
                  <a:schemeClr val="tx1"/>
                </a:solidFill>
              </a:rPr>
              <a:t> that uses the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900" dirty="0">
                <a:solidFill>
                  <a:schemeClr val="tx1"/>
                </a:solidFill>
              </a:rPr>
              <a:t> class. Notice how we call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</a:t>
            </a:r>
            <a:r>
              <a:rPr lang="en-US" sz="1900" dirty="0">
                <a:solidFill>
                  <a:schemeClr val="tx1"/>
                </a:solidFill>
              </a:rPr>
              <a:t>: the same way we access a variable inside an object. Object's name, a dot, then the function.</a:t>
            </a:r>
            <a:endParaRPr lang="en-US" sz="1900" dirty="0"/>
          </a:p>
        </p:txBody>
      </p:sp>
      <p:sp>
        <p:nvSpPr>
          <p:cNvPr id="4" name="Code panel"/>
          <p:cNvSpPr/>
          <p:nvPr/>
        </p:nvSpPr>
        <p:spPr>
          <a:xfrm>
            <a:off x="548640" y="2331720"/>
            <a:ext cx="8229600" cy="3869436"/>
          </a:xfrm>
          <a:prstGeom prst="roundRect">
            <a:avLst>
              <a:gd name="adj" fmla="val 1891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9"/>
          <p:cNvSpPr/>
          <p:nvPr/>
        </p:nvSpPr>
        <p:spPr>
          <a:xfrm>
            <a:off x="603504" y="45140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749808" y="2532888"/>
            <a:ext cx="457200" cy="3467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500" dirty="0"/>
          </a:p>
        </p:txBody>
      </p:sp>
      <p:sp>
        <p:nvSpPr>
          <p:cNvPr id="7" name="Code text"/>
          <p:cNvSpPr txBox="1"/>
          <p:nvPr/>
        </p:nvSpPr>
        <p:spPr>
          <a:xfrm>
            <a:off x="1207008" y="2532888"/>
            <a:ext cx="7461504" cy="3467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myFirstKarel;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myFirstKarel.row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myFirstKarel.column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myFirstKarel.facing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myFirstKarel.name =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 T. Robot"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</a:t>
            </a:r>
            <a:r>
              <a:rPr lang="en-US" sz="15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row: 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myFirstKarel.row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column: 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myFirstKarel.column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the Karel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Here's the output. Karel moved one column to the east:</a:t>
            </a:r>
            <a:endParaRPr lang="en-US" sz="1900" dirty="0"/>
          </a:p>
        </p:txBody>
      </p:sp>
      <p:sp>
        <p:nvSpPr>
          <p:cNvPr id="4" name="Code panel"/>
          <p:cNvSpPr/>
          <p:nvPr/>
        </p:nvSpPr>
        <p:spPr>
          <a:xfrm>
            <a:off x="548640" y="2331720"/>
            <a:ext cx="8229600" cy="3869436"/>
          </a:xfrm>
          <a:prstGeom prst="roundRect">
            <a:avLst>
              <a:gd name="adj" fmla="val 1891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9"/>
          <p:cNvSpPr/>
          <p:nvPr/>
        </p:nvSpPr>
        <p:spPr>
          <a:xfrm>
            <a:off x="603504" y="45140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40"/>
          <p:cNvSpPr/>
          <p:nvPr/>
        </p:nvSpPr>
        <p:spPr>
          <a:xfrm>
            <a:off x="603504" y="476173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41"/>
          <p:cNvSpPr/>
          <p:nvPr/>
        </p:nvSpPr>
        <p:spPr>
          <a:xfrm>
            <a:off x="603504" y="50093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line numbers"/>
          <p:cNvSpPr txBox="1"/>
          <p:nvPr/>
        </p:nvSpPr>
        <p:spPr>
          <a:xfrm>
            <a:off x="749808" y="2532888"/>
            <a:ext cx="457200" cy="3467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500" dirty="0"/>
          </a:p>
        </p:txBody>
      </p:sp>
      <p:sp>
        <p:nvSpPr>
          <p:cNvPr id="9" name="Code text"/>
          <p:cNvSpPr txBox="1"/>
          <p:nvPr/>
        </p:nvSpPr>
        <p:spPr>
          <a:xfrm>
            <a:off x="1207008" y="2532888"/>
            <a:ext cx="7461504" cy="3467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myFirstKarel;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myFirstKarel.row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myFirstKarel.column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myFirstKarel.facing =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myFirstKarel.name =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 T. Robot"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</a:t>
            </a:r>
            <a:r>
              <a:rPr lang="en-US" sz="15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row: 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myFirstKarel.row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column: 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myFirstKarel.column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rminal panel"/>
          <p:cNvSpPr/>
          <p:nvPr/>
        </p:nvSpPr>
        <p:spPr>
          <a:xfrm>
            <a:off x="9052560" y="2331720"/>
            <a:ext cx="2560320" cy="1059180"/>
          </a:xfrm>
          <a:prstGeom prst="roundRect">
            <a:avLst>
              <a:gd name="adj" fmla="val 5180"/>
            </a:avLst>
          </a:prstGeom>
          <a:solidFill>
            <a:srgbClr val="FFFFFF"/>
          </a:solidFill>
          <a:ln w="19050">
            <a:solidFill>
              <a:srgbClr val="57606A"/>
            </a:solidFill>
            <a:prstDash val="solid"/>
          </a:ln>
        </p:spPr>
      </p:sp>
      <p:sp>
        <p:nvSpPr>
          <p:cNvPr id="11" name="Terminal text"/>
          <p:cNvSpPr txBox="1"/>
          <p:nvPr/>
        </p:nvSpPr>
        <p:spPr>
          <a:xfrm>
            <a:off x="9235440" y="2514600"/>
            <a:ext cx="2286000" cy="693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./karel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Karel's row: 14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Karel's column: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the Karel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Here's a version with two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900" dirty="0">
                <a:solidFill>
                  <a:schemeClr val="tx1"/>
                </a:solidFill>
              </a:rPr>
              <a:t> variables: Karel and Lerak (Lerak is Karel's evil twin).</a:t>
            </a:r>
            <a:endParaRPr lang="en-US" sz="1900" dirty="0"/>
          </a:p>
        </p:txBody>
      </p:sp>
      <p:sp>
        <p:nvSpPr>
          <p:cNvPr id="4" name="Code panel"/>
          <p:cNvSpPr/>
          <p:nvPr/>
        </p:nvSpPr>
        <p:spPr>
          <a:xfrm>
            <a:off x="548640" y="2331720"/>
            <a:ext cx="8229600" cy="3877056"/>
          </a:xfrm>
          <a:prstGeom prst="roundRect">
            <a:avLst>
              <a:gd name="adj" fmla="val 1887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38"/>
          <p:cNvSpPr/>
          <p:nvPr/>
        </p:nvSpPr>
        <p:spPr>
          <a:xfrm>
            <a:off x="603504" y="4559808"/>
            <a:ext cx="8119872" cy="2895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39"/>
          <p:cNvSpPr/>
          <p:nvPr/>
        </p:nvSpPr>
        <p:spPr>
          <a:xfrm>
            <a:off x="603504" y="4849368"/>
            <a:ext cx="8119872" cy="2895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40"/>
          <p:cNvSpPr/>
          <p:nvPr/>
        </p:nvSpPr>
        <p:spPr>
          <a:xfrm>
            <a:off x="603504" y="5138928"/>
            <a:ext cx="8119872" cy="2895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41"/>
          <p:cNvSpPr/>
          <p:nvPr/>
        </p:nvSpPr>
        <p:spPr>
          <a:xfrm>
            <a:off x="603504" y="5428488"/>
            <a:ext cx="8119872" cy="2895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highlight 42"/>
          <p:cNvSpPr/>
          <p:nvPr/>
        </p:nvSpPr>
        <p:spPr>
          <a:xfrm>
            <a:off x="603504" y="5718048"/>
            <a:ext cx="8119872" cy="28956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ode line numbers"/>
          <p:cNvSpPr txBox="1"/>
          <p:nvPr/>
        </p:nvSpPr>
        <p:spPr>
          <a:xfrm>
            <a:off x="749808" y="2532888"/>
            <a:ext cx="533400" cy="347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750" dirty="0"/>
          </a:p>
        </p:txBody>
      </p:sp>
      <p:sp>
        <p:nvSpPr>
          <p:cNvPr id="11" name="Code text"/>
          <p:cNvSpPr txBox="1"/>
          <p:nvPr/>
        </p:nvSpPr>
        <p:spPr>
          <a:xfrm>
            <a:off x="1283208" y="2532888"/>
            <a:ext cx="7385304" cy="3474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750" dirty="0">
                <a:solidFill>
                  <a:srgbClr val="8AA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50" dirty="0">
                <a:solidFill>
                  <a:srgbClr val="7FB1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myFirstKarel;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myFirstKarel.row = </a:t>
            </a:r>
            <a:r>
              <a:rPr lang="en-US" sz="17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myFirstKarel.column = </a:t>
            </a:r>
            <a:r>
              <a:rPr lang="en-US" sz="17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myFirstKarel.facing = </a:t>
            </a:r>
            <a:r>
              <a:rPr lang="en-US" sz="175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myFirstKarel.name = </a:t>
            </a:r>
            <a:r>
              <a:rPr lang="en-US" sz="175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 T. Robot"</a:t>
            </a: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750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mySecondKarel;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mySecondKarel.row = </a:t>
            </a:r>
            <a:r>
              <a:rPr lang="en-US" sz="17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mySecondKarel.column = </a:t>
            </a:r>
            <a:r>
              <a:rPr lang="en-US" sz="17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mySecondKarel.facing = </a:t>
            </a:r>
            <a:r>
              <a:rPr lang="en-US" sz="1750" dirty="0">
                <a:solidFill>
                  <a:srgbClr val="B0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EAST</a:t>
            </a: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50" dirty="0"/>
          </a:p>
          <a:p>
            <a:pPr marL="0" indent="0">
              <a:lnSpc>
                <a:spcPts val="2280"/>
              </a:lnSpc>
              <a:buNone/>
            </a:pP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mySecondKarel.name = </a:t>
            </a:r>
            <a:r>
              <a:rPr lang="en-US" sz="175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"Lerak (Karel's evil twin)"</a:t>
            </a:r>
            <a:r>
              <a:rPr lang="en-US" sz="175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the Karel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Here's a version with two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1900" dirty="0">
                <a:solidFill>
                  <a:schemeClr val="tx1"/>
                </a:solidFill>
              </a:rPr>
              <a:t> variables: Karel and Lerak (Lerak is Karel's evil twin). I call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</a:t>
            </a:r>
            <a:r>
              <a:rPr lang="en-US" sz="1900" dirty="0">
                <a:solidFill>
                  <a:schemeClr val="tx1"/>
                </a:solidFill>
              </a:rPr>
              <a:t> on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</a:t>
            </a:r>
            <a:r>
              <a:rPr lang="en-US" sz="1900" dirty="0">
                <a:solidFill>
                  <a:schemeClr val="tx1"/>
                </a:solidFill>
              </a:rPr>
              <a:t> but not on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mySecondKarel</a:t>
            </a: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</p:txBody>
      </p:sp>
      <p:sp>
        <p:nvSpPr>
          <p:cNvPr id="4" name="Code panel"/>
          <p:cNvSpPr/>
          <p:nvPr/>
        </p:nvSpPr>
        <p:spPr>
          <a:xfrm>
            <a:off x="548640" y="2331720"/>
            <a:ext cx="8229600" cy="2631186"/>
          </a:xfrm>
          <a:prstGeom prst="roundRect">
            <a:avLst>
              <a:gd name="adj" fmla="val 2780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44"/>
          <p:cNvSpPr/>
          <p:nvPr/>
        </p:nvSpPr>
        <p:spPr>
          <a:xfrm>
            <a:off x="603504" y="25328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line numbers"/>
          <p:cNvSpPr txBox="1"/>
          <p:nvPr/>
        </p:nvSpPr>
        <p:spPr>
          <a:xfrm>
            <a:off x="749808" y="2532888"/>
            <a:ext cx="457200" cy="2228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500" dirty="0"/>
          </a:p>
        </p:txBody>
      </p:sp>
      <p:sp>
        <p:nvSpPr>
          <p:cNvPr id="7" name="Code text"/>
          <p:cNvSpPr txBox="1"/>
          <p:nvPr/>
        </p:nvSpPr>
        <p:spPr>
          <a:xfrm>
            <a:off x="1207008" y="2532888"/>
            <a:ext cx="7461504" cy="2228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</a:t>
            </a:r>
            <a:r>
              <a:rPr lang="en-US" sz="15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row: 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myFirstKarel.row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column: 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myFirstKarel.column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"Lerak's row: 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mySecondKarel.row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8CB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"Lerak's column: "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mySecondKarel.column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Using the Karel class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 call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</a:t>
            </a:r>
            <a:r>
              <a:rPr lang="en-US" sz="1900" dirty="0">
                <a:solidFill>
                  <a:schemeClr val="tx1"/>
                </a:solidFill>
              </a:rPr>
              <a:t> on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</a:t>
            </a:r>
            <a:r>
              <a:rPr lang="en-US" sz="1900" dirty="0">
                <a:solidFill>
                  <a:schemeClr val="tx1"/>
                </a:solidFill>
              </a:rPr>
              <a:t> but not on </a:t>
            </a:r>
            <a:r>
              <a:rPr lang="en-US" sz="19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mySecondKarel</a:t>
            </a:r>
            <a:r>
              <a:rPr lang="en-US" sz="1900" dirty="0">
                <a:solidFill>
                  <a:schemeClr val="tx1"/>
                </a:solidFill>
              </a:rPr>
              <a:t>… so Karel moves, but Lerak bides her time.</a:t>
            </a:r>
            <a:endParaRPr lang="en-US" sz="1900" dirty="0"/>
          </a:p>
        </p:txBody>
      </p:sp>
      <p:sp>
        <p:nvSpPr>
          <p:cNvPr id="4" name="Code panel"/>
          <p:cNvSpPr/>
          <p:nvPr/>
        </p:nvSpPr>
        <p:spPr>
          <a:xfrm>
            <a:off x="548640" y="2331720"/>
            <a:ext cx="8229600" cy="2631186"/>
          </a:xfrm>
          <a:prstGeom prst="roundRect">
            <a:avLst>
              <a:gd name="adj" fmla="val 2780"/>
            </a:avLst>
          </a:prstGeom>
          <a:solidFill>
            <a:srgbClr val="F4F6F8"/>
          </a:solidFill>
          <a:ln w="12700">
            <a:solidFill>
              <a:srgbClr val="C9D1D9"/>
            </a:solidFill>
            <a:prstDash val="solid"/>
          </a:ln>
        </p:spPr>
      </p:sp>
      <p:sp>
        <p:nvSpPr>
          <p:cNvPr id="5" name="Code highlight 44"/>
          <p:cNvSpPr/>
          <p:nvPr/>
        </p:nvSpPr>
        <p:spPr>
          <a:xfrm>
            <a:off x="603504" y="25328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6" name="Code highlight 45"/>
          <p:cNvSpPr/>
          <p:nvPr/>
        </p:nvSpPr>
        <p:spPr>
          <a:xfrm>
            <a:off x="603504" y="278053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7" name="Code highlight 46"/>
          <p:cNvSpPr/>
          <p:nvPr/>
        </p:nvSpPr>
        <p:spPr>
          <a:xfrm>
            <a:off x="603504" y="30281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8" name="Code highlight 48"/>
          <p:cNvSpPr/>
          <p:nvPr/>
        </p:nvSpPr>
        <p:spPr>
          <a:xfrm>
            <a:off x="603504" y="352348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9" name="Code highlight 49"/>
          <p:cNvSpPr/>
          <p:nvPr/>
        </p:nvSpPr>
        <p:spPr>
          <a:xfrm>
            <a:off x="603504" y="3771138"/>
            <a:ext cx="8119872" cy="247650"/>
          </a:xfrm>
          <a:prstGeom prst="rect">
            <a:avLst/>
          </a:prstGeom>
          <a:solidFill>
            <a:srgbClr val="FFE7A3"/>
          </a:solidFill>
          <a:ln w="12700">
            <a:solidFill>
              <a:srgbClr val="FFE7A3"/>
            </a:solidFill>
            <a:prstDash val="solid"/>
          </a:ln>
        </p:spPr>
      </p:sp>
      <p:sp>
        <p:nvSpPr>
          <p:cNvPr id="10" name="Code line numbers"/>
          <p:cNvSpPr txBox="1"/>
          <p:nvPr/>
        </p:nvSpPr>
        <p:spPr>
          <a:xfrm>
            <a:off x="749808" y="2532888"/>
            <a:ext cx="457200" cy="2228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C95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500" dirty="0"/>
          </a:p>
        </p:txBody>
      </p:sp>
      <p:sp>
        <p:nvSpPr>
          <p:cNvPr id="11" name="Code text"/>
          <p:cNvSpPr txBox="1"/>
          <p:nvPr/>
        </p:nvSpPr>
        <p:spPr>
          <a:xfrm>
            <a:off x="1207008" y="2532888"/>
            <a:ext cx="7461504" cy="2228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myFirstKarel.</a:t>
            </a:r>
            <a:r>
              <a:rPr lang="en-US" sz="15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row: 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myFirstKarel.row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"Karel's column: 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myFirstKarel.column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"Lerak's row: 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mySecondKarel.row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r>
              <a:rPr lang="en-US" sz="1500" dirty="0">
                <a:solidFill>
                  <a:srgbClr val="237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"Lerak's column: "</a:t>
            </a:r>
            <a:r>
              <a:rPr lang="en-US" sz="15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mySecondKarel.column &lt;&lt; endl;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BF91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2A8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marL="0" indent="0">
              <a:lnSpc>
                <a:spcPts val="1950"/>
              </a:lnSpc>
              <a:buNone/>
            </a:pPr>
            <a:r>
              <a:rPr lang="en-US" sz="1500" dirty="0">
                <a:solidFill>
                  <a:srgbClr val="8A8D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12" name="Terminal panel"/>
          <p:cNvSpPr/>
          <p:nvPr/>
        </p:nvSpPr>
        <p:spPr>
          <a:xfrm>
            <a:off x="9052560" y="2331720"/>
            <a:ext cx="2560320" cy="1521460"/>
          </a:xfrm>
          <a:prstGeom prst="roundRect">
            <a:avLst>
              <a:gd name="adj" fmla="val 3606"/>
            </a:avLst>
          </a:prstGeom>
          <a:solidFill>
            <a:srgbClr val="FFFFFF"/>
          </a:solidFill>
          <a:ln w="19050">
            <a:solidFill>
              <a:srgbClr val="57606A"/>
            </a:solidFill>
            <a:prstDash val="solid"/>
          </a:ln>
        </p:spPr>
      </p:sp>
      <p:sp>
        <p:nvSpPr>
          <p:cNvPr id="13" name="Terminal text"/>
          <p:cNvSpPr txBox="1"/>
          <p:nvPr/>
        </p:nvSpPr>
        <p:spPr>
          <a:xfrm>
            <a:off x="9235440" y="2514600"/>
            <a:ext cx="2286000" cy="1155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b="1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./karel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Karel's row: 14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Karel's column: 1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Lerak's row: 14</a:t>
            </a:r>
            <a:endParaRPr lang="en-US" sz="1400" dirty="0"/>
          </a:p>
          <a:p>
            <a:pPr marL="0" indent="0">
              <a:lnSpc>
                <a:spcPts val="182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Lerak's column: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Terminology</a:t>
            </a:r>
            <a:endParaRPr lang="en-US" sz="3200" dirty="0"/>
          </a:p>
        </p:txBody>
      </p:sp>
      <p:sp>
        <p:nvSpPr>
          <p:cNvPr id="3" name="Body"/>
          <p:cNvSpPr txBox="1"/>
          <p:nvPr/>
        </p:nvSpPr>
        <p:spPr>
          <a:xfrm>
            <a:off x="548640" y="1325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variable whose type is a class is called an </a:t>
            </a:r>
            <a:r>
              <a:rPr lang="en-US" sz="2000" b="1" dirty="0">
                <a:solidFill>
                  <a:schemeClr val="tx1"/>
                </a:solidFill>
              </a:rPr>
              <a:t>object</a:t>
            </a:r>
            <a:r>
              <a:rPr lang="en-US" sz="2000" dirty="0">
                <a:solidFill>
                  <a:schemeClr val="tx1"/>
                </a:solidFill>
              </a:rPr>
              <a:t> (hence “object-oriented programming”).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This program has two objects,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</a:t>
            </a:r>
            <a:r>
              <a:rPr lang="en-US" sz="2000" dirty="0">
                <a:solidFill>
                  <a:schemeClr val="tx1"/>
                </a:solidFill>
              </a:rPr>
              <a:t> and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mySecondKarel</a:t>
            </a:r>
            <a:r>
              <a:rPr lang="en-US" sz="2000" dirty="0">
                <a:solidFill>
                  <a:schemeClr val="tx1"/>
                </a:solidFill>
              </a:rPr>
              <a:t>. Both are </a:t>
            </a:r>
            <a:r>
              <a:rPr lang="en-US" sz="2000" b="1" dirty="0">
                <a:solidFill>
                  <a:schemeClr val="tx1"/>
                </a:solidFill>
              </a:rPr>
              <a:t>instances</a:t>
            </a:r>
            <a:r>
              <a:rPr lang="en-US" sz="2000" dirty="0">
                <a:solidFill>
                  <a:schemeClr val="tx1"/>
                </a:solidFill>
              </a:rPr>
              <a:t> of the </a:t>
            </a:r>
            <a:r>
              <a:rPr lang="en-US" sz="2000" dirty="0">
                <a:solidFill>
                  <a:srgbClr val="8A4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Karel</a:t>
            </a:r>
            <a:r>
              <a:rPr lang="en-US" sz="2000" dirty="0">
                <a:solidFill>
                  <a:schemeClr val="tx1"/>
                </a:solidFill>
              </a:rPr>
              <a:t> class.</a:t>
            </a:r>
            <a:endParaRPr lang="en-US" sz="2000" dirty="0"/>
          </a:p>
        </p:txBody>
      </p:sp>
      <p:sp>
        <p:nvSpPr>
          <p:cNvPr id="4" name="Class box"/>
          <p:cNvSpPr/>
          <p:nvPr/>
        </p:nvSpPr>
        <p:spPr>
          <a:xfrm>
            <a:off x="548640" y="3017520"/>
            <a:ext cx="3291840" cy="2834640"/>
          </a:xfrm>
          <a:prstGeom prst="roundRect">
            <a:avLst>
              <a:gd name="adj" fmla="val 32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lass box text"/>
          <p:cNvSpPr txBox="1"/>
          <p:nvPr/>
        </p:nvSpPr>
        <p:spPr>
          <a:xfrm>
            <a:off x="822960" y="320040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A6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Karel</a:t>
            </a:r>
            <a:endParaRPr lang="en-US" sz="17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facing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23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F4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move()</a:t>
            </a:r>
            <a:endParaRPr lang="en-US" sz="1700" dirty="0"/>
          </a:p>
        </p:txBody>
      </p:sp>
      <p:sp>
        <p:nvSpPr>
          <p:cNvPr id="6" name="Class caption"/>
          <p:cNvSpPr txBox="1"/>
          <p:nvPr/>
        </p:nvSpPr>
        <p:spPr>
          <a:xfrm>
            <a:off x="548640" y="5943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5160"/>
                </a:solidFill>
              </a:rPr>
              <a:t>the class: a description of a type</a:t>
            </a:r>
            <a:endParaRPr lang="en-US" sz="1400" dirty="0"/>
          </a:p>
        </p:txBody>
      </p:sp>
      <p:sp>
        <p:nvSpPr>
          <p:cNvPr id="7" name="Instance arrow 1"/>
          <p:cNvSpPr/>
          <p:nvPr/>
        </p:nvSpPr>
        <p:spPr>
          <a:xfrm flipV="1">
            <a:off x="3931920" y="3268980"/>
            <a:ext cx="914400" cy="11658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myFirstKarel box"/>
          <p:cNvSpPr/>
          <p:nvPr/>
        </p:nvSpPr>
        <p:spPr>
          <a:xfrm>
            <a:off x="4937760" y="2468880"/>
            <a:ext cx="6675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yFirstKarel text"/>
          <p:cNvSpPr txBox="1"/>
          <p:nvPr/>
        </p:nvSpPr>
        <p:spPr>
          <a:xfrm>
            <a:off x="5212080" y="25603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myFirstKarel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1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= 14    column = 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1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facing = EAST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1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"Karel T. Robot"</a:t>
            </a:r>
            <a:endParaRPr lang="en-US" sz="1500" dirty="0"/>
          </a:p>
        </p:txBody>
      </p:sp>
      <p:sp>
        <p:nvSpPr>
          <p:cNvPr id="10" name="Instance arrow 2"/>
          <p:cNvSpPr/>
          <p:nvPr/>
        </p:nvSpPr>
        <p:spPr>
          <a:xfrm>
            <a:off x="3931920" y="4434840"/>
            <a:ext cx="914400" cy="7086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mySecondKarel box"/>
          <p:cNvSpPr/>
          <p:nvPr/>
        </p:nvSpPr>
        <p:spPr>
          <a:xfrm>
            <a:off x="4937760" y="4343400"/>
            <a:ext cx="667512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mySecondKarel text"/>
          <p:cNvSpPr txBox="1"/>
          <p:nvPr/>
        </p:nvSpPr>
        <p:spPr>
          <a:xfrm>
            <a:off x="5212080" y="443484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mySecondKarel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1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= 14    column 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1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facing = EAST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1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"Lerak (Karel's evil twin)"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5400" dirty="0">
                <a:solidFill>
                  <a:schemeClr val="tx1"/>
                </a:solidFill>
              </a:rPr>
              <a:t>Next time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914400" y="3611880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160"/>
                </a:solidFill>
              </a:rPr>
              <a:t>More on classes and object-oriented programming (and pretty much every session for the next seven weeks)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7A80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S25 Code">
  <a:themeElements>
    <a:clrScheme name="CIS25 Code">
      <a:dk1>
        <a:srgbClr val="1F2430"/>
      </a:dk1>
      <a:lt1>
        <a:srgbClr val="FFFFFF"/>
      </a:lt1>
      <a:dk2>
        <a:srgbClr val="282C34"/>
      </a:dk2>
      <a:lt2>
        <a:srgbClr val="EEF0F4"/>
      </a:lt2>
      <a:accent1>
        <a:srgbClr val="E0A43A"/>
      </a:accent1>
      <a:accent2>
        <a:srgbClr val="4F8FD6"/>
      </a:accent2>
      <a:accent3>
        <a:srgbClr val="6FA85A"/>
      </a:accent3>
      <a:accent4>
        <a:srgbClr val="A86BC4"/>
      </a:accent4>
      <a:accent5>
        <a:srgbClr val="D19A66"/>
      </a:accent5>
      <a:accent6>
        <a:srgbClr val="3E9AA6"/>
      </a:accent6>
      <a:hlink>
        <a:srgbClr val="2F6FB0"/>
      </a:hlink>
      <a:folHlink>
        <a:srgbClr val="7A5BA8"/>
      </a:folHlink>
    </a:clrScheme>
    <a:fontScheme name="CIS25 Co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5749</Words>
  <Application>Microsoft Macintosh PowerPoint</Application>
  <PresentationFormat>Widescreen</PresentationFormat>
  <Paragraphs>1242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Consolas</vt:lpstr>
      <vt:lpstr>CIS25 Code</vt:lpstr>
      <vt:lpstr>CIS022 Day 12</vt:lpstr>
      <vt:lpstr>Agenda</vt:lpstr>
      <vt:lpstr>A note on where we are – this class moves fast</vt:lpstr>
      <vt:lpstr>The data structure we've seen</vt:lpstr>
      <vt:lpstr>A couple of notes about arrays</vt:lpstr>
      <vt:lpstr>A couple of notes about arrays</vt:lpstr>
      <vt:lpstr>A couple of notes about arrays</vt:lpstr>
      <vt:lpstr>Running the multiplication table</vt:lpstr>
      <vt:lpstr>A debugging tip: 2D arrays in memory</vt:lpstr>
      <vt:lpstr>Structs and enums</vt:lpstr>
      <vt:lpstr>Your first struct</vt:lpstr>
      <vt:lpstr>Your first struct</vt:lpstr>
      <vt:lpstr>Your first struct</vt:lpstr>
      <vt:lpstr>Tangent: enums</vt:lpstr>
      <vt:lpstr>Tangent: enums</vt:lpstr>
      <vt:lpstr>Tangent: enums</vt:lpstr>
      <vt:lpstr>Tangent: enums</vt:lpstr>
      <vt:lpstr>Tangent: enums</vt:lpstr>
      <vt:lpstr>Tangent: enums</vt:lpstr>
      <vt:lpstr>Tangent: naming your types</vt:lpstr>
      <vt:lpstr>Printing an enum class</vt:lpstr>
      <vt:lpstr>Printing an enum class</vt:lpstr>
      <vt:lpstr>Back to structs</vt:lpstr>
      <vt:lpstr>Back to structs</vt:lpstr>
      <vt:lpstr>Back to structs</vt:lpstr>
      <vt:lpstr>Creating a struct variable</vt:lpstr>
      <vt:lpstr>Assigning values inside a struct</vt:lpstr>
      <vt:lpstr>Assigning values inside a struct</vt:lpstr>
      <vt:lpstr>Passing structs to functions</vt:lpstr>
      <vt:lpstr>Passing structs to functions</vt:lpstr>
      <vt:lpstr>How should you pass a struct?</vt:lpstr>
      <vt:lpstr>Passing structs to functions</vt:lpstr>
      <vt:lpstr>Beyond structs</vt:lpstr>
      <vt:lpstr>Your first class</vt:lpstr>
      <vt:lpstr>Welcome to object-oriented programming</vt:lpstr>
      <vt:lpstr>Welcome to object-oriented programming</vt:lpstr>
      <vt:lpstr>Your first class</vt:lpstr>
      <vt:lpstr>Your first class</vt:lpstr>
      <vt:lpstr>Your first class</vt:lpstr>
      <vt:lpstr>Your first class</vt:lpstr>
      <vt:lpstr>Struct version vs. class version</vt:lpstr>
      <vt:lpstr>Struct version vs. class version</vt:lpstr>
      <vt:lpstr>Whose row is it?</vt:lpstr>
      <vt:lpstr>Using the Karel class</vt:lpstr>
      <vt:lpstr>Using the Karel class</vt:lpstr>
      <vt:lpstr>Using the Karel class</vt:lpstr>
      <vt:lpstr>Using the Karel class</vt:lpstr>
      <vt:lpstr>Using the Karel class</vt:lpstr>
      <vt:lpstr>Terminology</vt:lpstr>
      <vt:lpstr>Next time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CIS022 Day 6: Structs, Enums, and Your First Class</dc:title>
  <dc:subject>PptxGenJS Presentation</dc:subject>
  <dc:creator>PptxGenJS</dc:creator>
  <cp:lastModifiedBy>Ben Allen</cp:lastModifiedBy>
  <cp:revision>2</cp:revision>
  <dcterms:created xsi:type="dcterms:W3CDTF">2026-10-06T18:34:57Z</dcterms:created>
  <dcterms:modified xsi:type="dcterms:W3CDTF">2026-10-06T19:09:14Z</dcterms:modified>
</cp:coreProperties>
</file>