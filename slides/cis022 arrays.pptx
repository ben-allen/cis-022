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639" r:id="rId3"/>
    <p:sldId id="259" r:id="rId4"/>
    <p:sldId id="260" r:id="rId5"/>
    <p:sldId id="261" r:id="rId6"/>
    <p:sldId id="262" r:id="rId7"/>
    <p:sldId id="263" r:id="rId8"/>
    <p:sldId id="264" r:id="rId9"/>
    <p:sldId id="431" r:id="rId10"/>
    <p:sldId id="448" r:id="rId11"/>
    <p:sldId id="626" r:id="rId12"/>
    <p:sldId id="627" r:id="rId13"/>
    <p:sldId id="628" r:id="rId14"/>
    <p:sldId id="453" r:id="rId15"/>
    <p:sldId id="629" r:id="rId16"/>
    <p:sldId id="630" r:id="rId17"/>
    <p:sldId id="631" r:id="rId18"/>
    <p:sldId id="632" r:id="rId19"/>
    <p:sldId id="633" r:id="rId20"/>
    <p:sldId id="634" r:id="rId21"/>
    <p:sldId id="637" r:id="rId22"/>
    <p:sldId id="620" r:id="rId23"/>
    <p:sldId id="621" r:id="rId24"/>
    <p:sldId id="622" r:id="rId25"/>
    <p:sldId id="623" r:id="rId26"/>
    <p:sldId id="462" r:id="rId27"/>
    <p:sldId id="457" r:id="rId28"/>
    <p:sldId id="458" r:id="rId29"/>
    <p:sldId id="459" r:id="rId30"/>
    <p:sldId id="460" r:id="rId31"/>
    <p:sldId id="461" r:id="rId32"/>
    <p:sldId id="43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03"/>
  </p:normalViewPr>
  <p:slideViewPr>
    <p:cSldViewPr snapToGrid="0" snapToObjects="1">
      <p:cViewPr varScale="1">
        <p:scale>
          <a:sx n="98" d="100"/>
          <a:sy n="98" d="100"/>
        </p:scale>
        <p:origin x="1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53507D-A10E-D846-81E2-F71AB9C7BDAE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0919D-5E24-FA40-8EEB-EECBD70A6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36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F219-DD00-AC40-8AC7-86D334D4E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66134-251F-4E46-BFBA-F65628C93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C78C5-26F3-854B-B915-47157020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0AD5-737B-CC4A-9E3E-6FDABA25B9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D96D6-D3DE-9D48-9610-926D2DC3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5932B-E4B7-9148-9AA4-C3C1BFDE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925B-DA4F-3243-935B-AADBB73F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86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D92B-8698-F14B-8120-C366CAA26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391C2-8185-0142-B6E0-2B0A40896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FED5E-56A1-6F4E-91FB-465836B40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0AD5-737B-CC4A-9E3E-6FDABA25B9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7ED2E-2616-464C-8A4F-18E574719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32F6C-0FA3-F842-9E04-CA433A81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925B-DA4F-3243-935B-AADBB73F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75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4332-6C22-7B48-9FCC-173799212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95B9-0641-4B4D-8F78-19DD84F12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3B566-505C-2140-8DA8-7DC65E162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0AD5-737B-CC4A-9E3E-6FDABA25B9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30880-F1A8-584B-BE1B-7A270878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C7814-595D-0B4B-858F-9C5ABF37E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925B-DA4F-3243-935B-AADBB73F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9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3994-6024-244C-AD7F-58EF1252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6B432-8B49-F747-B742-42F4647D9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2BD18-008A-9140-AAED-911A007BA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6F265-B446-6D48-A444-F044B3DB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0AD5-737B-CC4A-9E3E-6FDABA25B9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F8475-2ACF-C84D-9E41-30A510584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453E4-4EE5-E04F-BA89-9869AAA1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925B-DA4F-3243-935B-AADBB73F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89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518F-4AAE-6848-A5D2-8A8C7099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3AEA7-0310-944C-A596-CD3EB57CC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5960F-AC3B-4C42-A0E0-9C7528BB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64CDC-A052-B342-B997-7181FE65D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D00639-9597-6E4A-9A5C-36A20BAD3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AC2974-7F63-F740-B98A-6C719E5B0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0AD5-737B-CC4A-9E3E-6FDABA25B9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74CBA3-7949-2841-BB46-DDBDACBDA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DEA42-43E6-5D4C-AD6E-4211A645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925B-DA4F-3243-935B-AADBB73F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0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954E-2074-0D41-B782-385E79B3D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B94B5-E740-324D-8CAB-5754FD0EE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0AD5-737B-CC4A-9E3E-6FDABA25B9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8194F-211E-6842-848D-F696D5111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2604B-DE3B-DF41-BA39-6B71AE9F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925B-DA4F-3243-935B-AADBB73F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56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F85CA9-6BAD-EB4C-B437-36E2EC42C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0AD5-737B-CC4A-9E3E-6FDABA25B9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47E8B5-B6C0-344E-9B40-998ACE34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0A54-5A20-034D-B139-D789868C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925B-DA4F-3243-935B-AADBB73F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43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E53B9-54BD-6849-88CB-1F9653A5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EE66E-0196-6647-8118-3BB1321FB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97027-A48C-084C-8BC9-B62D4991D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C5621-4082-8144-A655-E2E9AFFD1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0AD5-737B-CC4A-9E3E-6FDABA25B9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4AF26-FFF2-3844-9788-E1CC9350B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65882-F785-254F-9EFA-CF7C4C00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925B-DA4F-3243-935B-AADBB73F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9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19FA-7B5E-B14F-966D-6E7507CB1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57A884-596C-5A45-93B8-A3AE2C667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E897D-3A43-9949-B2CC-E44B5CF8C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00204-BCAC-BF41-9572-4D65B479D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0AD5-737B-CC4A-9E3E-6FDABA25B9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85625-2BE1-8A43-A753-2EE18DA5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9DE5C-9B05-2340-8384-AA7B088C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925B-DA4F-3243-935B-AADBB73F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7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B1C0B-C4F4-C149-9E64-395D47BF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B3B22-8BCB-3A40-AB0B-535AA4D39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01B2B-45CB-6348-B884-8C805F62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0AD5-737B-CC4A-9E3E-6FDABA25B9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25D5F-B06D-2644-96F9-B7F5389D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D510D-BABC-5E4F-8E05-5F754723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925B-DA4F-3243-935B-AADBB73F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10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DBD5F-C7C9-2742-8E47-BE0B6D190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F873C-49D2-3D41-8A15-345696929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A61E2-ADCC-4D40-8C6D-820E3932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0AD5-737B-CC4A-9E3E-6FDABA25B9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2A80A-F60B-D84F-B653-7601525A8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F08D4-93F2-6E43-9639-6B5D9E0E4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5925B-DA4F-3243-935B-AADBB73F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81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41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4849C-6897-8C4D-98B3-6A11F3226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B89A2-E023-BD46-99FC-C14D1EF95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51C6D-2A49-354B-AAE4-44C31746B2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F0AD5-737B-CC4A-9E3E-6FDABA25B9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D4956-166C-B04F-98EF-7D4187EF27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6BB9E-E9A4-9549-BA8B-8F6A6FD29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5925B-DA4F-3243-935B-AADBB73FF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26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C69E-40D9-DE40-A32C-B1A3671DE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CIS 25 day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1D2CF-05B6-8A46-9512-30E6F560E6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functions, arrays, call stack, strings, style guide</a:t>
            </a:r>
          </a:p>
        </p:txBody>
      </p:sp>
    </p:spTree>
    <p:extLst>
      <p:ext uri="{BB962C8B-B14F-4D97-AF65-F5344CB8AC3E}">
        <p14:creationId xmlns:p14="http://schemas.microsoft.com/office/powerpoint/2010/main" val="2805497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CONST, AND WHY NO GLOBALS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204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 keyword, and why non-const global variables are off limits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 CATCHES MISTAKES FOR YOU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(or a teammate) accidentally try to reassign a const variable, the code won't compile.</a:t>
            </a:r>
            <a:endParaRPr lang="en-US" sz="1900" dirty="0"/>
          </a:p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a silent logic bug into a loud, immediate compiler error -- exactly when you want to find it.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126480" y="14630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355080" y="1627632"/>
            <a:ext cx="4983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MAX_SCORE = 100;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MAX_SCORE = 200;  // oops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301752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55080" y="3182112"/>
            <a:ext cx="4983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1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 of read-only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'MAX_SCORE'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MAX_SCORE = 200;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1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~~~~~~~~~ ^ ~~~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23560" y="1600200"/>
            <a:ext cx="502920" cy="274320"/>
          </a:xfrm>
          <a:prstGeom prst="rightArrow">
            <a:avLst/>
          </a:prstGeom>
          <a:solidFill>
            <a:srgbClr val="2E5CB8"/>
          </a:solidFill>
          <a:ln w="12700">
            <a:solidFill>
              <a:srgbClr val="2E5C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754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refuses to build this program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STYLE: NAMING CONSTANTS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connects to a rule from the style guide: names of constants should be in ALL_CAPS.</a:t>
            </a:r>
            <a:endParaRPr lang="en-US" sz="2000" dirty="0"/>
          </a:p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"magic numbers." If you use a number repeatedly (or even just once, if it needs explaining), give it a name.</a:t>
            </a:r>
            <a:endParaRPr lang="en-US" sz="2000" dirty="0"/>
          </a:p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const int ARRAY_SIZE = 4; instead of scattering the number 4 through your code.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434340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4507992"/>
            <a:ext cx="104241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unclear -- what is 4? what is 0.15?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tax = price * </a:t>
            </a:r>
            <a:r>
              <a:rPr lang="en-US" sz="1400" dirty="0">
                <a:solidFill>
                  <a:srgbClr val="B5CE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clear -- self-documenting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 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TAX_RATE = </a:t>
            </a:r>
            <a:r>
              <a:rPr lang="en-US" sz="1400" dirty="0">
                <a:solidFill>
                  <a:srgbClr val="B5CE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tax = price * TAX_RATE;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725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NO NON-CONST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VARIABLES?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9319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PROBLEM: NAMESPACE POLLUTION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variable's name is visible to every file and function in your program.</a:t>
            </a:r>
            <a:endParaRPr lang="en-US" sz="1850" dirty="0"/>
          </a:p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big program (or one built from several files), it's easy for two globals to accidentally collide -- same name, different intended meaning.</a:t>
            </a:r>
            <a:endParaRPr lang="en-US" sz="1850" dirty="0"/>
          </a:p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variables don't have this problem: two functions can each safely use a variable named count.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080760" y="146304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309360" y="1627632"/>
            <a:ext cx="502920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physics.cpp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count;  // particles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grading.cpp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count;  // # of students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F1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linker error: 'count'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F14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defined more than once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1500000">
            <a:off x="5715000" y="1920240"/>
            <a:ext cx="457200" cy="256032"/>
          </a:xfrm>
          <a:prstGeom prst="rightArrow">
            <a:avLst/>
          </a:prstGeom>
          <a:solidFill>
            <a:srgbClr val="2E5CB8"/>
          </a:solidFill>
          <a:ln w="12700">
            <a:solidFill>
              <a:srgbClr val="2E5C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1500000">
            <a:off x="5715000" y="2450592"/>
            <a:ext cx="457200" cy="256032"/>
          </a:xfrm>
          <a:prstGeom prst="rightArrow">
            <a:avLst/>
          </a:prstGeom>
          <a:solidFill>
            <a:srgbClr val="2E5CB8"/>
          </a:solidFill>
          <a:ln w="12700">
            <a:solidFill>
              <a:srgbClr val="2E5C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80760" y="4434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two different meanings -- collision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PROBLEM: TESTABILITY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892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reads or writes a global has hidden inputs and outputs -- its behavior depends on state that isn't in its parameter list.</a:t>
            </a:r>
            <a:endParaRPr lang="en-US" sz="1850" dirty="0"/>
          </a:p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test it, you can't just call it with inputs and check the output. You first have to set up the right global state, and that setup can leak between tests.</a:t>
            </a:r>
            <a:endParaRPr lang="en-US" sz="1850" dirty="0"/>
          </a:p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only uses its parameters and local variables is easy to test in isolation.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080760" y="146304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309360" y="1627632"/>
            <a:ext cx="502920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total;  // global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addToTotal(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n;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 test this, you must first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 'total' correctly yourself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23560" y="2121408"/>
            <a:ext cx="365760" cy="237744"/>
          </a:xfrm>
          <a:prstGeom prst="rightArrow">
            <a:avLst/>
          </a:prstGeom>
          <a:solidFill>
            <a:srgbClr val="2E5CB8"/>
          </a:solidFill>
          <a:ln w="12700">
            <a:solidFill>
              <a:srgbClr val="2E5C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80760" y="4572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dependency on state outside the function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PROBLEM: DEBUGGING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can be changed by any function, anywhere in the program, at any time.</a:t>
            </a:r>
            <a:endParaRPr lang="en-US" sz="1850" dirty="0"/>
          </a:p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holds a wrong value, you have no way to narrow down where -- you have to search the entire codebase.</a:t>
            </a:r>
            <a:endParaRPr lang="en-US" sz="1850" dirty="0"/>
          </a:p>
          <a:p>
            <a:pPr marL="342900" indent="-3429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variable can only be changed inside the one function (or block) it lives in, so a bug is much easier to trace.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080760" y="1463040"/>
            <a:ext cx="5486400" cy="3337560"/>
          </a:xfrm>
          <a:prstGeom prst="roundRect">
            <a:avLst>
              <a:gd name="adj" fmla="val 219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309360" y="1627632"/>
            <a:ext cx="5029200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score;  // global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f() { score++; }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g() { score = 0; }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h() { score -= 5; }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score is wrong. which one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of these did it? all of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them can reach it.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080760" y="4892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function can reach in and change it -- no way to narrow the search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4C48-EF4D-2845-9496-5A33E34A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B0E47-C52F-D04F-80B6-A13F973A8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Arrays &amp; two-dimensional arrays</a:t>
            </a:r>
          </a:p>
          <a:p>
            <a:endParaRPr lang="en-US" dirty="0"/>
          </a:p>
          <a:p>
            <a:r>
              <a:rPr lang="en-US" dirty="0"/>
              <a:t>More recursion! More! More!</a:t>
            </a:r>
          </a:p>
          <a:p>
            <a:pPr lvl="1"/>
            <a:r>
              <a:rPr lang="en-US" dirty="0"/>
              <a:t>(mostly this is just to introduce you to the call stack, but I’ll show a pretty fun technique too)</a:t>
            </a:r>
          </a:p>
          <a:p>
            <a:pPr lvl="1"/>
            <a:endParaRPr lang="en-US" dirty="0"/>
          </a:p>
          <a:p>
            <a:r>
              <a:rPr lang="en-US" dirty="0"/>
              <a:t>String functions</a:t>
            </a:r>
          </a:p>
          <a:p>
            <a:endParaRPr lang="en-US" dirty="0"/>
          </a:p>
          <a:p>
            <a:r>
              <a:rPr lang="en-US" dirty="0"/>
              <a:t>Style guide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211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C69E-40D9-DE40-A32C-B1A3671DE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57175" y="1122363"/>
            <a:ext cx="12758737" cy="2387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PASS BY REFERENCE VS. PASS BY VALUE</a:t>
            </a:r>
          </a:p>
        </p:txBody>
      </p:sp>
    </p:spTree>
    <p:extLst>
      <p:ext uri="{BB962C8B-B14F-4D97-AF65-F5344CB8AC3E}">
        <p14:creationId xmlns:p14="http://schemas.microsoft.com/office/powerpoint/2010/main" val="2345341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60FA6A-46FD-A94E-90EC-6D61FBF8EA38}"/>
              </a:ext>
            </a:extLst>
          </p:cNvPr>
          <p:cNvSpPr txBox="1">
            <a:spLocks/>
          </p:cNvSpPr>
          <p:nvPr/>
        </p:nvSpPr>
        <p:spPr>
          <a:xfrm>
            <a:off x="838200" y="-406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PASS BY VALUE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8C4334-5069-B54F-99EA-0D35B6E8A897}"/>
              </a:ext>
            </a:extLst>
          </p:cNvPr>
          <p:cNvSpPr txBox="1">
            <a:spLocks/>
          </p:cNvSpPr>
          <p:nvPr/>
        </p:nvSpPr>
        <p:spPr>
          <a:xfrm>
            <a:off x="223838" y="132556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Consider this relatively straightforward program. The function </a:t>
            </a:r>
            <a:r>
              <a:rPr lang="en-US" dirty="0" err="1"/>
              <a:t>sumThree</a:t>
            </a:r>
            <a:r>
              <a:rPr lang="en-US" dirty="0"/>
              <a:t> takes in three integers, then returns their sum as an integer: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15D55072-D556-484B-AF94-547FB23E1BD2}"/>
              </a:ext>
            </a:extLst>
          </p:cNvPr>
          <p:cNvSpPr/>
          <p:nvPr/>
        </p:nvSpPr>
        <p:spPr>
          <a:xfrm rot="21042636">
            <a:off x="3411145" y="377143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C42DBD-7BA0-4540-A4D3-118C6DFF6364}"/>
              </a:ext>
            </a:extLst>
          </p:cNvPr>
          <p:cNvSpPr txBox="1"/>
          <p:nvPr/>
        </p:nvSpPr>
        <p:spPr>
          <a:xfrm>
            <a:off x="89855" y="4262727"/>
            <a:ext cx="514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one-line function that just returns a sum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E48AD7-5FB3-764E-9A65-2821EC756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821" y="2415214"/>
            <a:ext cx="6578600" cy="44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32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60FA6A-46FD-A94E-90EC-6D61FBF8EA38}"/>
              </a:ext>
            </a:extLst>
          </p:cNvPr>
          <p:cNvSpPr txBox="1">
            <a:spLocks/>
          </p:cNvSpPr>
          <p:nvPr/>
        </p:nvSpPr>
        <p:spPr>
          <a:xfrm>
            <a:off x="838200" y="-406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PASS BY VALUE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8C4334-5069-B54F-99EA-0D35B6E8A897}"/>
              </a:ext>
            </a:extLst>
          </p:cNvPr>
          <p:cNvSpPr txBox="1">
            <a:spLocks/>
          </p:cNvSpPr>
          <p:nvPr/>
        </p:nvSpPr>
        <p:spPr>
          <a:xfrm>
            <a:off x="223839" y="1325562"/>
            <a:ext cx="5249862" cy="6045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When </a:t>
            </a:r>
            <a:r>
              <a:rPr lang="en-US" dirty="0" err="1"/>
              <a:t>sumThree</a:t>
            </a:r>
            <a:r>
              <a:rPr lang="en-US" dirty="0"/>
              <a:t> is called (on line 17), the </a:t>
            </a:r>
            <a:r>
              <a:rPr lang="en-US" i="1" dirty="0"/>
              <a:t>values </a:t>
            </a:r>
            <a:r>
              <a:rPr lang="en-US" dirty="0"/>
              <a:t>of the three variables given as arguments are copied into the parameters of </a:t>
            </a:r>
            <a:r>
              <a:rPr lang="en-US" dirty="0" err="1"/>
              <a:t>sumThree</a:t>
            </a:r>
            <a:endParaRPr lang="en-US" dirty="0"/>
          </a:p>
          <a:p>
            <a:pPr algn="l"/>
            <a:endParaRPr lang="en-US" dirty="0">
              <a:sym typeface="Wingdings" pitchFamily="2" charset="2"/>
            </a:endParaRPr>
          </a:p>
          <a:p>
            <a:pPr algn="l"/>
            <a:r>
              <a:rPr lang="en-US" dirty="0">
                <a:sym typeface="Wingdings" pitchFamily="2" charset="2"/>
              </a:rPr>
              <a:t>So when we hit line 17, we call </a:t>
            </a:r>
            <a:r>
              <a:rPr lang="en-US" dirty="0" err="1">
                <a:sym typeface="Wingdings" pitchFamily="2" charset="2"/>
              </a:rPr>
              <a:t>sumThree</a:t>
            </a:r>
            <a:r>
              <a:rPr lang="en-US" dirty="0">
                <a:sym typeface="Wingdings" pitchFamily="2" charset="2"/>
              </a:rPr>
              <a:t>. When we call </a:t>
            </a:r>
            <a:r>
              <a:rPr lang="en-US" dirty="0" err="1">
                <a:sym typeface="Wingdings" pitchFamily="2" charset="2"/>
              </a:rPr>
              <a:t>sumThree</a:t>
            </a:r>
            <a:r>
              <a:rPr lang="en-US" dirty="0">
                <a:sym typeface="Wingdings" pitchFamily="2" charset="2"/>
              </a:rPr>
              <a:t>, three new </a:t>
            </a:r>
            <a:r>
              <a:rPr lang="en-US" dirty="0" err="1">
                <a:sym typeface="Wingdings" pitchFamily="2" charset="2"/>
              </a:rPr>
              <a:t>ints</a:t>
            </a:r>
            <a:r>
              <a:rPr lang="en-US" dirty="0">
                <a:sym typeface="Wingdings" pitchFamily="2" charset="2"/>
              </a:rPr>
              <a:t> (named a, b, and c) are declared, and their values are set equal to the values of the variables given as arguments.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AF56109-FDDB-2343-8C62-AF2703843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701" y="2159000"/>
            <a:ext cx="7086600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01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60FA6A-46FD-A94E-90EC-6D61FBF8EA38}"/>
              </a:ext>
            </a:extLst>
          </p:cNvPr>
          <p:cNvSpPr txBox="1">
            <a:spLocks/>
          </p:cNvSpPr>
          <p:nvPr/>
        </p:nvSpPr>
        <p:spPr>
          <a:xfrm>
            <a:off x="838200" y="-406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PASS BY VALUE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8C4334-5069-B54F-99EA-0D35B6E8A897}"/>
              </a:ext>
            </a:extLst>
          </p:cNvPr>
          <p:cNvSpPr txBox="1">
            <a:spLocks/>
          </p:cNvSpPr>
          <p:nvPr/>
        </p:nvSpPr>
        <p:spPr>
          <a:xfrm>
            <a:off x="417803" y="1187016"/>
            <a:ext cx="9391216" cy="5670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When </a:t>
            </a:r>
            <a:r>
              <a:rPr lang="en-US" dirty="0" err="1"/>
              <a:t>sumThree</a:t>
            </a:r>
            <a:r>
              <a:rPr lang="en-US" dirty="0"/>
              <a:t> is called (on line 19), the </a:t>
            </a:r>
            <a:r>
              <a:rPr lang="en-US" i="1" dirty="0"/>
              <a:t>values </a:t>
            </a:r>
            <a:r>
              <a:rPr lang="en-US" dirty="0"/>
              <a:t>of the three variables given as arguments are copied into the parameters of </a:t>
            </a:r>
            <a:r>
              <a:rPr lang="en-US" dirty="0" err="1"/>
              <a:t>sumThree</a:t>
            </a:r>
            <a:r>
              <a:rPr lang="en-US" dirty="0"/>
              <a:t>: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main:</a:t>
            </a:r>
          </a:p>
          <a:p>
            <a:pPr algn="l"/>
            <a:endParaRPr lang="en-US" dirty="0"/>
          </a:p>
          <a:p>
            <a:pPr algn="l"/>
            <a:r>
              <a:rPr lang="en-US" dirty="0" err="1"/>
              <a:t>firstInt</a:t>
            </a:r>
            <a:r>
              <a:rPr lang="en-US" dirty="0"/>
              <a:t>				2</a:t>
            </a:r>
          </a:p>
          <a:p>
            <a:pPr algn="l"/>
            <a:r>
              <a:rPr lang="en-US" dirty="0" err="1"/>
              <a:t>secondInt</a:t>
            </a:r>
            <a:r>
              <a:rPr lang="en-US" dirty="0"/>
              <a:t> 			3</a:t>
            </a:r>
          </a:p>
          <a:p>
            <a:pPr algn="l"/>
            <a:r>
              <a:rPr lang="en-US" dirty="0" err="1"/>
              <a:t>thirdInt</a:t>
            </a:r>
            <a:r>
              <a:rPr lang="en-US" dirty="0"/>
              <a:t>			5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7AA0D7D-1863-8142-9239-99800BD48362}"/>
              </a:ext>
            </a:extLst>
          </p:cNvPr>
          <p:cNvSpPr txBox="1">
            <a:spLocks/>
          </p:cNvSpPr>
          <p:nvPr/>
        </p:nvSpPr>
        <p:spPr>
          <a:xfrm>
            <a:off x="5682530" y="1939778"/>
            <a:ext cx="9391216" cy="5670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 err="1"/>
              <a:t>sumThree</a:t>
            </a:r>
            <a:r>
              <a:rPr lang="en-US" dirty="0"/>
              <a:t>: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a			2</a:t>
            </a:r>
          </a:p>
          <a:p>
            <a:pPr algn="l"/>
            <a:r>
              <a:rPr lang="en-US" dirty="0"/>
              <a:t>b 			3</a:t>
            </a:r>
          </a:p>
          <a:p>
            <a:pPr algn="l"/>
            <a:r>
              <a:rPr lang="en-US" dirty="0"/>
              <a:t>c			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7F0B50-9227-DC4B-AB1A-BA8E933A06DA}"/>
              </a:ext>
            </a:extLst>
          </p:cNvPr>
          <p:cNvSpPr txBox="1"/>
          <p:nvPr/>
        </p:nvSpPr>
        <p:spPr>
          <a:xfrm>
            <a:off x="9809019" y="2729846"/>
            <a:ext cx="20227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a, b, and c are totally new variables, that are set equal to the values of </a:t>
            </a:r>
            <a:r>
              <a:rPr lang="en-US" dirty="0" err="1"/>
              <a:t>firstInt</a:t>
            </a:r>
            <a:r>
              <a:rPr lang="en-US" dirty="0"/>
              <a:t>, </a:t>
            </a:r>
            <a:r>
              <a:rPr lang="en-US" dirty="0" err="1"/>
              <a:t>secondInt</a:t>
            </a:r>
            <a:r>
              <a:rPr lang="en-US" dirty="0"/>
              <a:t>, and </a:t>
            </a:r>
            <a:r>
              <a:rPr lang="en-US" dirty="0" err="1"/>
              <a:t>thirdInt</a:t>
            </a:r>
            <a:r>
              <a:rPr lang="en-US" dirty="0"/>
              <a:t> when the </a:t>
            </a:r>
            <a:r>
              <a:rPr lang="en-US" dirty="0" err="1"/>
              <a:t>sumThree</a:t>
            </a:r>
            <a:r>
              <a:rPr lang="en-US" dirty="0"/>
              <a:t> function is called.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497DD7-2DA8-4949-A4CA-E368C8E0624C}"/>
              </a:ext>
            </a:extLst>
          </p:cNvPr>
          <p:cNvSpPr/>
          <p:nvPr/>
        </p:nvSpPr>
        <p:spPr>
          <a:xfrm>
            <a:off x="417803" y="2632364"/>
            <a:ext cx="4168052" cy="34082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01FCD1-E314-E74C-AB4E-FE1FCA716645}"/>
              </a:ext>
            </a:extLst>
          </p:cNvPr>
          <p:cNvSpPr/>
          <p:nvPr/>
        </p:nvSpPr>
        <p:spPr>
          <a:xfrm>
            <a:off x="5182685" y="2583873"/>
            <a:ext cx="3725788" cy="345671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CA8B7C1B-B98E-EE48-BD80-16D6FDB4FD02}"/>
              </a:ext>
            </a:extLst>
          </p:cNvPr>
          <p:cNvSpPr/>
          <p:nvPr/>
        </p:nvSpPr>
        <p:spPr>
          <a:xfrm>
            <a:off x="2440567" y="3818220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6226D977-8590-714A-A8F2-99508253AED6}"/>
              </a:ext>
            </a:extLst>
          </p:cNvPr>
          <p:cNvSpPr/>
          <p:nvPr/>
        </p:nvSpPr>
        <p:spPr>
          <a:xfrm>
            <a:off x="2440567" y="4312228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16F1325E-FFC3-AD45-A17A-B72EFA887F75}"/>
              </a:ext>
            </a:extLst>
          </p:cNvPr>
          <p:cNvSpPr/>
          <p:nvPr/>
        </p:nvSpPr>
        <p:spPr>
          <a:xfrm>
            <a:off x="2440567" y="4775270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F1F0F745-DA6C-AC4B-8152-EE8EC5393303}"/>
              </a:ext>
            </a:extLst>
          </p:cNvPr>
          <p:cNvSpPr/>
          <p:nvPr/>
        </p:nvSpPr>
        <p:spPr>
          <a:xfrm>
            <a:off x="6752215" y="3832075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B873557F-66FD-B94F-82C8-571C65157E52}"/>
              </a:ext>
            </a:extLst>
          </p:cNvPr>
          <p:cNvSpPr/>
          <p:nvPr/>
        </p:nvSpPr>
        <p:spPr>
          <a:xfrm>
            <a:off x="6752215" y="4326083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CE7B7A7A-A7B7-664A-95AE-24BA7EB37D57}"/>
              </a:ext>
            </a:extLst>
          </p:cNvPr>
          <p:cNvSpPr/>
          <p:nvPr/>
        </p:nvSpPr>
        <p:spPr>
          <a:xfrm>
            <a:off x="6752215" y="4789125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45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60FA6A-46FD-A94E-90EC-6D61FBF8EA38}"/>
              </a:ext>
            </a:extLst>
          </p:cNvPr>
          <p:cNvSpPr txBox="1">
            <a:spLocks/>
          </p:cNvSpPr>
          <p:nvPr/>
        </p:nvSpPr>
        <p:spPr>
          <a:xfrm>
            <a:off x="838200" y="-406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PASS BY REFERENCE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8C4334-5069-B54F-99EA-0D35B6E8A897}"/>
              </a:ext>
            </a:extLst>
          </p:cNvPr>
          <p:cNvSpPr txBox="1">
            <a:spLocks/>
          </p:cNvSpPr>
          <p:nvPr/>
        </p:nvSpPr>
        <p:spPr>
          <a:xfrm>
            <a:off x="223839" y="1325562"/>
            <a:ext cx="10208634" cy="2151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Now consider this version of the program: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BD4998-61BE-954E-A40E-56A6260D0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426" y="3596024"/>
            <a:ext cx="7683500" cy="2895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A8F360-B511-5F4E-810C-829AE3AEA977}"/>
              </a:ext>
            </a:extLst>
          </p:cNvPr>
          <p:cNvSpPr txBox="1"/>
          <p:nvPr/>
        </p:nvSpPr>
        <p:spPr>
          <a:xfrm>
            <a:off x="415637" y="1898072"/>
            <a:ext cx="31726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works exactly the same… but we pass in each of the variables </a:t>
            </a:r>
            <a:r>
              <a:rPr lang="en-US" i="1" dirty="0"/>
              <a:t>by reference.</a:t>
            </a:r>
            <a:r>
              <a:rPr lang="en-US" dirty="0"/>
              <a:t> This means that instead of </a:t>
            </a:r>
            <a:r>
              <a:rPr lang="en-US" i="1" dirty="0"/>
              <a:t>copying the value</a:t>
            </a:r>
            <a:r>
              <a:rPr lang="en-US" dirty="0"/>
              <a:t> stored in a particular variable, we </a:t>
            </a:r>
            <a:r>
              <a:rPr lang="en-US" i="1" dirty="0"/>
              <a:t>give the address of that variable.</a:t>
            </a:r>
            <a:endParaRPr lang="en-US" dirty="0"/>
          </a:p>
          <a:p>
            <a:endParaRPr lang="en-US" dirty="0"/>
          </a:p>
          <a:p>
            <a:r>
              <a:rPr lang="en-US" dirty="0"/>
              <a:t>What's the difference?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219AC-CFC0-D74C-895E-6DEBF96333DC}"/>
              </a:ext>
            </a:extLst>
          </p:cNvPr>
          <p:cNvSpPr txBox="1"/>
          <p:nvPr/>
        </p:nvSpPr>
        <p:spPr>
          <a:xfrm>
            <a:off x="6096000" y="2151763"/>
            <a:ext cx="495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indicate that a variable  is passed by reference by putting a &amp; sign before the variable name when specifying the parameters: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5EE73AFB-6BA3-DD4D-8350-88CF41F51E54}"/>
              </a:ext>
            </a:extLst>
          </p:cNvPr>
          <p:cNvSpPr/>
          <p:nvPr/>
        </p:nvSpPr>
        <p:spPr>
          <a:xfrm rot="7196449">
            <a:off x="8827513" y="3007806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51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60FA6A-46FD-A94E-90EC-6D61FBF8EA38}"/>
              </a:ext>
            </a:extLst>
          </p:cNvPr>
          <p:cNvSpPr txBox="1">
            <a:spLocks/>
          </p:cNvSpPr>
          <p:nvPr/>
        </p:nvSpPr>
        <p:spPr>
          <a:xfrm>
            <a:off x="838200" y="-406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PASS BY REFERENCE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8C4334-5069-B54F-99EA-0D35B6E8A897}"/>
              </a:ext>
            </a:extLst>
          </p:cNvPr>
          <p:cNvSpPr txBox="1">
            <a:spLocks/>
          </p:cNvSpPr>
          <p:nvPr/>
        </p:nvSpPr>
        <p:spPr>
          <a:xfrm>
            <a:off x="838200" y="1284498"/>
            <a:ext cx="9391216" cy="5670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When </a:t>
            </a:r>
            <a:r>
              <a:rPr lang="en-US" dirty="0" err="1"/>
              <a:t>sumThreeByReference</a:t>
            </a:r>
            <a:r>
              <a:rPr lang="en-US" dirty="0"/>
              <a:t> is called on line 22, this time no new variables are made. 'a' in </a:t>
            </a:r>
            <a:r>
              <a:rPr lang="en-US" dirty="0" err="1"/>
              <a:t>sumThreeByReference</a:t>
            </a:r>
            <a:r>
              <a:rPr lang="en-US" dirty="0"/>
              <a:t> is </a:t>
            </a:r>
            <a:r>
              <a:rPr lang="en-US" i="1" dirty="0"/>
              <a:t>literally the same variable </a:t>
            </a:r>
            <a:r>
              <a:rPr lang="en-US" dirty="0"/>
              <a:t>as </a:t>
            </a:r>
            <a:r>
              <a:rPr lang="en-US" dirty="0" err="1"/>
              <a:t>firstInt</a:t>
            </a:r>
            <a:r>
              <a:rPr lang="en-US" dirty="0"/>
              <a:t> in main: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main:</a:t>
            </a:r>
          </a:p>
          <a:p>
            <a:pPr algn="l"/>
            <a:endParaRPr lang="en-US" dirty="0"/>
          </a:p>
          <a:p>
            <a:pPr algn="l"/>
            <a:r>
              <a:rPr lang="en-US" dirty="0" err="1"/>
              <a:t>firstInt</a:t>
            </a:r>
            <a:r>
              <a:rPr lang="en-US" dirty="0"/>
              <a:t>				2</a:t>
            </a:r>
          </a:p>
          <a:p>
            <a:pPr algn="l"/>
            <a:r>
              <a:rPr lang="en-US" dirty="0" err="1"/>
              <a:t>secondInt</a:t>
            </a:r>
            <a:r>
              <a:rPr lang="en-US" dirty="0"/>
              <a:t> 			3</a:t>
            </a:r>
          </a:p>
          <a:p>
            <a:pPr algn="l"/>
            <a:r>
              <a:rPr lang="en-US" dirty="0" err="1"/>
              <a:t>thirdInt</a:t>
            </a:r>
            <a:r>
              <a:rPr lang="en-US" dirty="0"/>
              <a:t>			5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7AA0D7D-1863-8142-9239-99800BD48362}"/>
              </a:ext>
            </a:extLst>
          </p:cNvPr>
          <p:cNvSpPr txBox="1">
            <a:spLocks/>
          </p:cNvSpPr>
          <p:nvPr/>
        </p:nvSpPr>
        <p:spPr>
          <a:xfrm>
            <a:off x="6102927" y="2037260"/>
            <a:ext cx="9391216" cy="5670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 err="1"/>
              <a:t>sumThree</a:t>
            </a:r>
            <a:r>
              <a:rPr lang="en-US" dirty="0"/>
              <a:t>: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a			</a:t>
            </a:r>
          </a:p>
          <a:p>
            <a:pPr algn="l"/>
            <a:r>
              <a:rPr lang="en-US" dirty="0"/>
              <a:t>b 			</a:t>
            </a:r>
          </a:p>
          <a:p>
            <a:pPr algn="l"/>
            <a:r>
              <a:rPr lang="en-US" dirty="0"/>
              <a:t>c	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7F0B50-9227-DC4B-AB1A-BA8E933A06DA}"/>
              </a:ext>
            </a:extLst>
          </p:cNvPr>
          <p:cNvSpPr txBox="1"/>
          <p:nvPr/>
        </p:nvSpPr>
        <p:spPr>
          <a:xfrm>
            <a:off x="9809019" y="2729846"/>
            <a:ext cx="20227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a, b, and c are not copies of </a:t>
            </a:r>
            <a:r>
              <a:rPr lang="en-US" dirty="0" err="1"/>
              <a:t>firstInt</a:t>
            </a:r>
            <a:r>
              <a:rPr lang="en-US" dirty="0"/>
              <a:t>, </a:t>
            </a:r>
            <a:r>
              <a:rPr lang="en-US" dirty="0" err="1"/>
              <a:t>secondInt</a:t>
            </a:r>
            <a:r>
              <a:rPr lang="en-US" dirty="0"/>
              <a:t>, and </a:t>
            </a:r>
            <a:r>
              <a:rPr lang="en-US" dirty="0" err="1"/>
              <a:t>thirdInt</a:t>
            </a:r>
            <a:r>
              <a:rPr lang="en-US" dirty="0"/>
              <a:t>. They are instead new names referring to </a:t>
            </a:r>
            <a:r>
              <a:rPr lang="en-US" dirty="0" err="1"/>
              <a:t>firstInt</a:t>
            </a:r>
            <a:r>
              <a:rPr lang="en-US" dirty="0"/>
              <a:t>, </a:t>
            </a:r>
            <a:r>
              <a:rPr lang="en-US" dirty="0" err="1"/>
              <a:t>secondInt</a:t>
            </a:r>
            <a:r>
              <a:rPr lang="en-US" dirty="0"/>
              <a:t>, and </a:t>
            </a:r>
            <a:r>
              <a:rPr lang="en-US" dirty="0" err="1"/>
              <a:t>thirdInt</a:t>
            </a:r>
            <a:r>
              <a:rPr lang="en-US" dirty="0"/>
              <a:t>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497DD7-2DA8-4949-A4CA-E368C8E0624C}"/>
              </a:ext>
            </a:extLst>
          </p:cNvPr>
          <p:cNvSpPr/>
          <p:nvPr/>
        </p:nvSpPr>
        <p:spPr>
          <a:xfrm>
            <a:off x="838200" y="2729846"/>
            <a:ext cx="4168052" cy="34082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01FCD1-E314-E74C-AB4E-FE1FCA716645}"/>
              </a:ext>
            </a:extLst>
          </p:cNvPr>
          <p:cNvSpPr/>
          <p:nvPr/>
        </p:nvSpPr>
        <p:spPr>
          <a:xfrm>
            <a:off x="5603082" y="2681355"/>
            <a:ext cx="3725788" cy="345671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CA8B7C1B-B98E-EE48-BD80-16D6FDB4FD02}"/>
              </a:ext>
            </a:extLst>
          </p:cNvPr>
          <p:cNvSpPr/>
          <p:nvPr/>
        </p:nvSpPr>
        <p:spPr>
          <a:xfrm>
            <a:off x="2860964" y="3915702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6226D977-8590-714A-A8F2-99508253AED6}"/>
              </a:ext>
            </a:extLst>
          </p:cNvPr>
          <p:cNvSpPr/>
          <p:nvPr/>
        </p:nvSpPr>
        <p:spPr>
          <a:xfrm>
            <a:off x="2860964" y="4409710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16F1325E-FFC3-AD45-A17A-B72EFA887F75}"/>
              </a:ext>
            </a:extLst>
          </p:cNvPr>
          <p:cNvSpPr/>
          <p:nvPr/>
        </p:nvSpPr>
        <p:spPr>
          <a:xfrm>
            <a:off x="2860964" y="4872752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F1F0F745-DA6C-AC4B-8152-EE8EC5393303}"/>
              </a:ext>
            </a:extLst>
          </p:cNvPr>
          <p:cNvSpPr/>
          <p:nvPr/>
        </p:nvSpPr>
        <p:spPr>
          <a:xfrm rot="11107477">
            <a:off x="5020896" y="3878521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B873557F-66FD-B94F-82C8-571C65157E52}"/>
              </a:ext>
            </a:extLst>
          </p:cNvPr>
          <p:cNvSpPr/>
          <p:nvPr/>
        </p:nvSpPr>
        <p:spPr>
          <a:xfrm rot="11084840">
            <a:off x="4931913" y="4297690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CE7B7A7A-A7B7-664A-95AE-24BA7EB37D57}"/>
              </a:ext>
            </a:extLst>
          </p:cNvPr>
          <p:cNvSpPr/>
          <p:nvPr/>
        </p:nvSpPr>
        <p:spPr>
          <a:xfrm rot="11356540">
            <a:off x="5021016" y="4777936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18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60FA6A-46FD-A94E-90EC-6D61FBF8EA38}"/>
              </a:ext>
            </a:extLst>
          </p:cNvPr>
          <p:cNvSpPr txBox="1">
            <a:spLocks/>
          </p:cNvSpPr>
          <p:nvPr/>
        </p:nvSpPr>
        <p:spPr>
          <a:xfrm>
            <a:off x="838200" y="-406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PASS BY VALUE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8C4334-5069-B54F-99EA-0D35B6E8A897}"/>
              </a:ext>
            </a:extLst>
          </p:cNvPr>
          <p:cNvSpPr txBox="1">
            <a:spLocks/>
          </p:cNvSpPr>
          <p:nvPr/>
        </p:nvSpPr>
        <p:spPr>
          <a:xfrm>
            <a:off x="417803" y="1187016"/>
            <a:ext cx="9391216" cy="5670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What difference does it make? Let's try changing the values of variables in </a:t>
            </a:r>
            <a:r>
              <a:rPr lang="en-US" dirty="0" err="1"/>
              <a:t>sumThree</a:t>
            </a:r>
            <a:r>
              <a:rPr lang="en-US" dirty="0"/>
              <a:t>: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main:</a:t>
            </a:r>
          </a:p>
          <a:p>
            <a:pPr algn="l"/>
            <a:endParaRPr lang="en-US" dirty="0"/>
          </a:p>
          <a:p>
            <a:pPr algn="l"/>
            <a:r>
              <a:rPr lang="en-US" dirty="0" err="1"/>
              <a:t>firstInt</a:t>
            </a:r>
            <a:r>
              <a:rPr lang="en-US" dirty="0"/>
              <a:t>				2</a:t>
            </a:r>
          </a:p>
          <a:p>
            <a:pPr algn="l"/>
            <a:r>
              <a:rPr lang="en-US" dirty="0" err="1"/>
              <a:t>secondInt</a:t>
            </a:r>
            <a:r>
              <a:rPr lang="en-US" dirty="0"/>
              <a:t> 			3</a:t>
            </a:r>
          </a:p>
          <a:p>
            <a:pPr algn="l"/>
            <a:r>
              <a:rPr lang="en-US" dirty="0" err="1"/>
              <a:t>thirdInt</a:t>
            </a:r>
            <a:r>
              <a:rPr lang="en-US" dirty="0"/>
              <a:t>			5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7AA0D7D-1863-8142-9239-99800BD48362}"/>
              </a:ext>
            </a:extLst>
          </p:cNvPr>
          <p:cNvSpPr txBox="1">
            <a:spLocks/>
          </p:cNvSpPr>
          <p:nvPr/>
        </p:nvSpPr>
        <p:spPr>
          <a:xfrm>
            <a:off x="5682530" y="1939778"/>
            <a:ext cx="9391216" cy="5670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 err="1"/>
              <a:t>sumThree</a:t>
            </a:r>
            <a:r>
              <a:rPr lang="en-US" dirty="0"/>
              <a:t>: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a			2</a:t>
            </a:r>
          </a:p>
          <a:p>
            <a:pPr algn="l"/>
            <a:r>
              <a:rPr lang="en-US" dirty="0"/>
              <a:t>b 			3</a:t>
            </a:r>
          </a:p>
          <a:p>
            <a:pPr algn="l"/>
            <a:r>
              <a:rPr lang="en-US" dirty="0"/>
              <a:t>c			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7F0B50-9227-DC4B-AB1A-BA8E933A06DA}"/>
              </a:ext>
            </a:extLst>
          </p:cNvPr>
          <p:cNvSpPr txBox="1"/>
          <p:nvPr/>
        </p:nvSpPr>
        <p:spPr>
          <a:xfrm>
            <a:off x="9809019" y="2729846"/>
            <a:ext cx="20227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a, b, and c are totally new variables, that are set equal to the values of </a:t>
            </a:r>
            <a:r>
              <a:rPr lang="en-US" dirty="0" err="1"/>
              <a:t>firstInt</a:t>
            </a:r>
            <a:r>
              <a:rPr lang="en-US" dirty="0"/>
              <a:t>, </a:t>
            </a:r>
            <a:r>
              <a:rPr lang="en-US" dirty="0" err="1"/>
              <a:t>secondInt</a:t>
            </a:r>
            <a:r>
              <a:rPr lang="en-US" dirty="0"/>
              <a:t>, and </a:t>
            </a:r>
            <a:r>
              <a:rPr lang="en-US" dirty="0" err="1"/>
              <a:t>thirdInt</a:t>
            </a:r>
            <a:r>
              <a:rPr lang="en-US" dirty="0"/>
              <a:t> when the </a:t>
            </a:r>
            <a:r>
              <a:rPr lang="en-US" dirty="0" err="1"/>
              <a:t>sumThree</a:t>
            </a:r>
            <a:r>
              <a:rPr lang="en-US" dirty="0"/>
              <a:t> function is called.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497DD7-2DA8-4949-A4CA-E368C8E0624C}"/>
              </a:ext>
            </a:extLst>
          </p:cNvPr>
          <p:cNvSpPr/>
          <p:nvPr/>
        </p:nvSpPr>
        <p:spPr>
          <a:xfrm>
            <a:off x="417803" y="2632364"/>
            <a:ext cx="4168052" cy="34082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01FCD1-E314-E74C-AB4E-FE1FCA716645}"/>
              </a:ext>
            </a:extLst>
          </p:cNvPr>
          <p:cNvSpPr/>
          <p:nvPr/>
        </p:nvSpPr>
        <p:spPr>
          <a:xfrm>
            <a:off x="5182685" y="2583873"/>
            <a:ext cx="3725788" cy="345671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CA8B7C1B-B98E-EE48-BD80-16D6FDB4FD02}"/>
              </a:ext>
            </a:extLst>
          </p:cNvPr>
          <p:cNvSpPr/>
          <p:nvPr/>
        </p:nvSpPr>
        <p:spPr>
          <a:xfrm>
            <a:off x="2440567" y="3818220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6226D977-8590-714A-A8F2-99508253AED6}"/>
              </a:ext>
            </a:extLst>
          </p:cNvPr>
          <p:cNvSpPr/>
          <p:nvPr/>
        </p:nvSpPr>
        <p:spPr>
          <a:xfrm>
            <a:off x="2440567" y="4312228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16F1325E-FFC3-AD45-A17A-B72EFA887F75}"/>
              </a:ext>
            </a:extLst>
          </p:cNvPr>
          <p:cNvSpPr/>
          <p:nvPr/>
        </p:nvSpPr>
        <p:spPr>
          <a:xfrm>
            <a:off x="2440567" y="4775270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F1F0F745-DA6C-AC4B-8152-EE8EC5393303}"/>
              </a:ext>
            </a:extLst>
          </p:cNvPr>
          <p:cNvSpPr/>
          <p:nvPr/>
        </p:nvSpPr>
        <p:spPr>
          <a:xfrm>
            <a:off x="6752215" y="3832075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B873557F-66FD-B94F-82C8-571C65157E52}"/>
              </a:ext>
            </a:extLst>
          </p:cNvPr>
          <p:cNvSpPr/>
          <p:nvPr/>
        </p:nvSpPr>
        <p:spPr>
          <a:xfrm>
            <a:off x="6752215" y="4326083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CE7B7A7A-A7B7-664A-95AE-24BA7EB37D57}"/>
              </a:ext>
            </a:extLst>
          </p:cNvPr>
          <p:cNvSpPr/>
          <p:nvPr/>
        </p:nvSpPr>
        <p:spPr>
          <a:xfrm>
            <a:off x="6752215" y="4789125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83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60FA6A-46FD-A94E-90EC-6D61FBF8EA38}"/>
              </a:ext>
            </a:extLst>
          </p:cNvPr>
          <p:cNvSpPr txBox="1">
            <a:spLocks/>
          </p:cNvSpPr>
          <p:nvPr/>
        </p:nvSpPr>
        <p:spPr>
          <a:xfrm>
            <a:off x="838200" y="-406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PASS BY VALUE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8C4334-5069-B54F-99EA-0D35B6E8A897}"/>
              </a:ext>
            </a:extLst>
          </p:cNvPr>
          <p:cNvSpPr txBox="1">
            <a:spLocks/>
          </p:cNvSpPr>
          <p:nvPr/>
        </p:nvSpPr>
        <p:spPr>
          <a:xfrm>
            <a:off x="417803" y="1187016"/>
            <a:ext cx="9391216" cy="5670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What difference does it make? Let's try changing the values of variables in </a:t>
            </a:r>
            <a:r>
              <a:rPr lang="en-US" dirty="0" err="1"/>
              <a:t>sumThree</a:t>
            </a:r>
            <a:r>
              <a:rPr lang="en-US" dirty="0"/>
              <a:t>: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			5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21A755B4-7685-594A-BFC5-94684B28A5E1}"/>
              </a:ext>
            </a:extLst>
          </p:cNvPr>
          <p:cNvSpPr/>
          <p:nvPr/>
        </p:nvSpPr>
        <p:spPr>
          <a:xfrm rot="8699106">
            <a:off x="7989888" y="3446225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D5CBB7-03D3-5748-9711-763C58A3C1CB}"/>
              </a:ext>
            </a:extLst>
          </p:cNvPr>
          <p:cNvSpPr txBox="1"/>
          <p:nvPr/>
        </p:nvSpPr>
        <p:spPr>
          <a:xfrm>
            <a:off x="7970873" y="2732536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result: as expected, </a:t>
            </a:r>
            <a:r>
              <a:rPr lang="en-US" dirty="0" err="1"/>
              <a:t>firstInt</a:t>
            </a:r>
            <a:r>
              <a:rPr lang="en-US" dirty="0"/>
              <a:t> is unchanged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3066C3D-9BEA-CC41-BBA2-1FD9BB9D7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92" y="2187533"/>
            <a:ext cx="5627255" cy="36699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B70C24-F132-A946-AF5F-DD00A97E2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4022508"/>
            <a:ext cx="54102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40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C521BB-CD03-5044-8E63-4004D87B7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82" y="2155608"/>
            <a:ext cx="8102600" cy="41656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460FA6A-46FD-A94E-90EC-6D61FBF8EA38}"/>
              </a:ext>
            </a:extLst>
          </p:cNvPr>
          <p:cNvSpPr txBox="1">
            <a:spLocks/>
          </p:cNvSpPr>
          <p:nvPr/>
        </p:nvSpPr>
        <p:spPr>
          <a:xfrm>
            <a:off x="838200" y="-406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PASS BY REFERENCE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8C4334-5069-B54F-99EA-0D35B6E8A897}"/>
              </a:ext>
            </a:extLst>
          </p:cNvPr>
          <p:cNvSpPr txBox="1">
            <a:spLocks/>
          </p:cNvSpPr>
          <p:nvPr/>
        </p:nvSpPr>
        <p:spPr>
          <a:xfrm>
            <a:off x="417803" y="1187016"/>
            <a:ext cx="9391216" cy="5670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What difference does it make? Let's try changing the values of variables in </a:t>
            </a:r>
            <a:r>
              <a:rPr lang="en-US" dirty="0" err="1"/>
              <a:t>sumThreeByReference</a:t>
            </a:r>
            <a:r>
              <a:rPr lang="en-US" dirty="0"/>
              <a:t>: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			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003C3D-6369-7340-BE40-AA8BB4EDE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1" y="4005110"/>
            <a:ext cx="58293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D5CBB7-03D3-5748-9711-763C58A3C1CB}"/>
              </a:ext>
            </a:extLst>
          </p:cNvPr>
          <p:cNvSpPr txBox="1"/>
          <p:nvPr/>
        </p:nvSpPr>
        <p:spPr>
          <a:xfrm>
            <a:off x="8920161" y="2732535"/>
            <a:ext cx="3013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result: after </a:t>
            </a:r>
            <a:r>
              <a:rPr lang="en-US" dirty="0" err="1"/>
              <a:t>sumThreeByReference</a:t>
            </a:r>
            <a:r>
              <a:rPr lang="en-US" dirty="0"/>
              <a:t>, </a:t>
            </a:r>
            <a:r>
              <a:rPr lang="en-US" dirty="0" err="1"/>
              <a:t>firstInt</a:t>
            </a:r>
            <a:r>
              <a:rPr lang="en-US" dirty="0"/>
              <a:t> is increased by 1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21A755B4-7685-594A-BFC5-94684B28A5E1}"/>
              </a:ext>
            </a:extLst>
          </p:cNvPr>
          <p:cNvSpPr/>
          <p:nvPr/>
        </p:nvSpPr>
        <p:spPr>
          <a:xfrm rot="2491635">
            <a:off x="9264577" y="3901663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11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60FA6A-46FD-A94E-90EC-6D61FBF8EA38}"/>
              </a:ext>
            </a:extLst>
          </p:cNvPr>
          <p:cNvSpPr txBox="1">
            <a:spLocks/>
          </p:cNvSpPr>
          <p:nvPr/>
        </p:nvSpPr>
        <p:spPr>
          <a:xfrm>
            <a:off x="838200" y="-4064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PASS BY REFERENCE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8C4334-5069-B54F-99EA-0D35B6E8A897}"/>
              </a:ext>
            </a:extLst>
          </p:cNvPr>
          <p:cNvSpPr txBox="1">
            <a:spLocks/>
          </p:cNvSpPr>
          <p:nvPr/>
        </p:nvSpPr>
        <p:spPr>
          <a:xfrm>
            <a:off x="417803" y="1187016"/>
            <a:ext cx="9391216" cy="5670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This is because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firstInt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/>
              <a:t> are </a:t>
            </a:r>
            <a:r>
              <a:rPr lang="en-US" i="1" dirty="0"/>
              <a:t>literally the same variable. </a:t>
            </a: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main:</a:t>
            </a:r>
          </a:p>
          <a:p>
            <a:pPr algn="l"/>
            <a:r>
              <a:rPr lang="en-US" dirty="0" err="1"/>
              <a:t>firstInt</a:t>
            </a:r>
            <a:r>
              <a:rPr lang="en-US" dirty="0"/>
              <a:t>				2</a:t>
            </a:r>
          </a:p>
          <a:p>
            <a:pPr algn="l"/>
            <a:r>
              <a:rPr lang="en-US" dirty="0" err="1"/>
              <a:t>secondInt</a:t>
            </a:r>
            <a:r>
              <a:rPr lang="en-US" dirty="0"/>
              <a:t> 			3</a:t>
            </a:r>
          </a:p>
          <a:p>
            <a:pPr algn="l"/>
            <a:r>
              <a:rPr lang="en-US" dirty="0" err="1"/>
              <a:t>thirdInt</a:t>
            </a:r>
            <a:r>
              <a:rPr lang="en-US" dirty="0"/>
              <a:t>			5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7AA0D7D-1863-8142-9239-99800BD48362}"/>
              </a:ext>
            </a:extLst>
          </p:cNvPr>
          <p:cNvSpPr txBox="1">
            <a:spLocks/>
          </p:cNvSpPr>
          <p:nvPr/>
        </p:nvSpPr>
        <p:spPr>
          <a:xfrm>
            <a:off x="5682530" y="1939778"/>
            <a:ext cx="9391216" cy="5670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 err="1"/>
              <a:t>sumThree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a			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b 			</a:t>
            </a:r>
          </a:p>
          <a:p>
            <a:pPr algn="l"/>
            <a:r>
              <a:rPr lang="en-US" dirty="0"/>
              <a:t>c	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7F0B50-9227-DC4B-AB1A-BA8E933A06DA}"/>
              </a:ext>
            </a:extLst>
          </p:cNvPr>
          <p:cNvSpPr txBox="1"/>
          <p:nvPr/>
        </p:nvSpPr>
        <p:spPr>
          <a:xfrm>
            <a:off x="9809019" y="2729846"/>
            <a:ext cx="20227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a, b, and c are not copies of </a:t>
            </a:r>
            <a:r>
              <a:rPr lang="en-US" dirty="0" err="1"/>
              <a:t>firstInt</a:t>
            </a:r>
            <a:r>
              <a:rPr lang="en-US" dirty="0"/>
              <a:t>, </a:t>
            </a:r>
            <a:r>
              <a:rPr lang="en-US" dirty="0" err="1"/>
              <a:t>secondInt</a:t>
            </a:r>
            <a:r>
              <a:rPr lang="en-US" dirty="0"/>
              <a:t>, and </a:t>
            </a:r>
            <a:r>
              <a:rPr lang="en-US" dirty="0" err="1"/>
              <a:t>thirdInt</a:t>
            </a:r>
            <a:r>
              <a:rPr lang="en-US" dirty="0"/>
              <a:t>. They are instead new names referring to </a:t>
            </a:r>
            <a:r>
              <a:rPr lang="en-US" dirty="0" err="1"/>
              <a:t>firstInt</a:t>
            </a:r>
            <a:r>
              <a:rPr lang="en-US" dirty="0"/>
              <a:t>, </a:t>
            </a:r>
            <a:r>
              <a:rPr lang="en-US" dirty="0" err="1"/>
              <a:t>secondInt</a:t>
            </a:r>
            <a:r>
              <a:rPr lang="en-US" dirty="0"/>
              <a:t>, and </a:t>
            </a:r>
            <a:r>
              <a:rPr lang="en-US" dirty="0" err="1"/>
              <a:t>thirdInt</a:t>
            </a:r>
            <a:r>
              <a:rPr lang="en-US" dirty="0"/>
              <a:t>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497DD7-2DA8-4949-A4CA-E368C8E0624C}"/>
              </a:ext>
            </a:extLst>
          </p:cNvPr>
          <p:cNvSpPr/>
          <p:nvPr/>
        </p:nvSpPr>
        <p:spPr>
          <a:xfrm>
            <a:off x="417803" y="2632364"/>
            <a:ext cx="4168052" cy="34082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01FCD1-E314-E74C-AB4E-FE1FCA716645}"/>
              </a:ext>
            </a:extLst>
          </p:cNvPr>
          <p:cNvSpPr/>
          <p:nvPr/>
        </p:nvSpPr>
        <p:spPr>
          <a:xfrm>
            <a:off x="5182685" y="2583873"/>
            <a:ext cx="3725788" cy="345671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CA8B7C1B-B98E-EE48-BD80-16D6FDB4FD02}"/>
              </a:ext>
            </a:extLst>
          </p:cNvPr>
          <p:cNvSpPr/>
          <p:nvPr/>
        </p:nvSpPr>
        <p:spPr>
          <a:xfrm>
            <a:off x="2424693" y="3495819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6226D977-8590-714A-A8F2-99508253AED6}"/>
              </a:ext>
            </a:extLst>
          </p:cNvPr>
          <p:cNvSpPr/>
          <p:nvPr/>
        </p:nvSpPr>
        <p:spPr>
          <a:xfrm>
            <a:off x="2424692" y="3957853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16F1325E-FFC3-AD45-A17A-B72EFA887F75}"/>
              </a:ext>
            </a:extLst>
          </p:cNvPr>
          <p:cNvSpPr/>
          <p:nvPr/>
        </p:nvSpPr>
        <p:spPr>
          <a:xfrm>
            <a:off x="2440567" y="4431505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F1F0F745-DA6C-AC4B-8152-EE8EC5393303}"/>
              </a:ext>
            </a:extLst>
          </p:cNvPr>
          <p:cNvSpPr/>
          <p:nvPr/>
        </p:nvSpPr>
        <p:spPr>
          <a:xfrm rot="10100900">
            <a:off x="4597300" y="3413867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B873557F-66FD-B94F-82C8-571C65157E52}"/>
              </a:ext>
            </a:extLst>
          </p:cNvPr>
          <p:cNvSpPr/>
          <p:nvPr/>
        </p:nvSpPr>
        <p:spPr>
          <a:xfrm rot="11084840">
            <a:off x="4511516" y="4200208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CE7B7A7A-A7B7-664A-95AE-24BA7EB37D57}"/>
              </a:ext>
            </a:extLst>
          </p:cNvPr>
          <p:cNvSpPr/>
          <p:nvPr/>
        </p:nvSpPr>
        <p:spPr>
          <a:xfrm rot="11356540">
            <a:off x="4600619" y="4680454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7E48E-5EEC-1C41-87E5-99ABD86CB696}"/>
              </a:ext>
            </a:extLst>
          </p:cNvPr>
          <p:cNvSpPr txBox="1"/>
          <p:nvPr/>
        </p:nvSpPr>
        <p:spPr>
          <a:xfrm>
            <a:off x="417803" y="1751496"/>
            <a:ext cx="9447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Both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firstInt</a:t>
            </a:r>
            <a:r>
              <a:rPr lang="en-US" sz="2400" dirty="0"/>
              <a:t> and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2400" dirty="0"/>
              <a:t> are exactly the same thing, just by different names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267B07-F784-DD41-8A1D-F812C85D338D}"/>
              </a:ext>
            </a:extLst>
          </p:cNvPr>
          <p:cNvSpPr/>
          <p:nvPr/>
        </p:nvSpPr>
        <p:spPr>
          <a:xfrm>
            <a:off x="3870403" y="3412946"/>
            <a:ext cx="627429" cy="54490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52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F73A07-7329-C743-8A08-56D07A3E7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509" y="512763"/>
            <a:ext cx="5672257" cy="55236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964C48-EF4D-2845-9496-5A33E34A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74067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WHY PASS BY REFERENCE  MATTERS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B0E47-C52F-D04F-80B6-A13F973A8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4721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Arrays are </a:t>
            </a:r>
            <a:r>
              <a:rPr lang="en-US" i="1" dirty="0"/>
              <a:t>always</a:t>
            </a:r>
            <a:r>
              <a:rPr lang="en-US" dirty="0"/>
              <a:t> pass-by-reference. Remember that if you change an array in a function, it changes it </a:t>
            </a:r>
            <a:r>
              <a:rPr lang="en-US" i="1" dirty="0"/>
              <a:t>everywhere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EDE1F-7482-E34F-8E03-332EB08B8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30056"/>
            <a:ext cx="6210300" cy="1092200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C776F763-241E-E746-BCBA-B08656C3EEBF}"/>
              </a:ext>
            </a:extLst>
          </p:cNvPr>
          <p:cNvSpPr/>
          <p:nvPr/>
        </p:nvSpPr>
        <p:spPr>
          <a:xfrm rot="9980057">
            <a:off x="5793267" y="5213481"/>
            <a:ext cx="848881" cy="3658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83E8A-8EC7-824B-9793-00E60C87A710}"/>
              </a:ext>
            </a:extLst>
          </p:cNvPr>
          <p:cNvSpPr txBox="1"/>
          <p:nvPr/>
        </p:nvSpPr>
        <p:spPr>
          <a:xfrm>
            <a:off x="4460458" y="4338141"/>
            <a:ext cx="14677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produces</a:t>
            </a:r>
          </a:p>
          <a:p>
            <a:r>
              <a:rPr lang="en-US" dirty="0"/>
              <a:t>the following </a:t>
            </a:r>
          </a:p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188931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C69E-40D9-DE40-A32C-B1A3671DE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57175" y="1122363"/>
            <a:ext cx="12758737" cy="2387600"/>
          </a:xfrm>
        </p:spPr>
        <p:txBody>
          <a:bodyPr/>
          <a:lstStyle/>
          <a:p>
            <a:r>
              <a:rPr lang="en-US" dirty="0"/>
              <a:t>ARRAYS[]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54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4C48-EF4D-2845-9496-5A33E34A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92275C8-C098-BA41-A3E3-469ED5FAB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34688" cy="4546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So let's (formally) talk about arrays.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Declare an array by either giving the number stored in the array in brackets: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myArray</a:t>
            </a:r>
            <a:r>
              <a:rPr lang="en-US" dirty="0"/>
              <a:t>[50];	// declares a 50 element array of </a:t>
            </a:r>
            <a:r>
              <a:rPr lang="en-US" dirty="0" err="1"/>
              <a:t>ints</a:t>
            </a:r>
            <a:br>
              <a:rPr lang="en-US" dirty="0"/>
            </a:br>
            <a:endParaRPr lang="en-US" dirty="0"/>
          </a:p>
          <a:p>
            <a:r>
              <a:rPr lang="en-US" dirty="0"/>
              <a:t>Or by explicitly initializing the array: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evensArray</a:t>
            </a:r>
            <a:r>
              <a:rPr lang="en-US" dirty="0"/>
              <a:t>[] = {2, 4, 6, 8, 10};	</a:t>
            </a:r>
            <a:br>
              <a:rPr lang="en-US" dirty="0"/>
            </a:br>
            <a:endParaRPr lang="en-US" dirty="0"/>
          </a:p>
          <a:p>
            <a:r>
              <a:rPr lang="en-US" dirty="0"/>
              <a:t>If you want, you can </a:t>
            </a:r>
            <a:r>
              <a:rPr lang="en-US" i="1" dirty="0"/>
              <a:t>partially </a:t>
            </a:r>
            <a:r>
              <a:rPr lang="en-US" dirty="0"/>
              <a:t>initialize the array: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double </a:t>
            </a:r>
            <a:r>
              <a:rPr lang="en-US" dirty="0" err="1"/>
              <a:t>partialArray</a:t>
            </a:r>
            <a:r>
              <a:rPr lang="en-US" dirty="0"/>
              <a:t>[10] = {2.0, 5.0, 7.0}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19728C-1BB2-1F43-BF37-826BB8422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611" y="431006"/>
            <a:ext cx="4572000" cy="596900"/>
          </a:xfrm>
          <a:prstGeom prst="rect">
            <a:avLst/>
          </a:prstGeom>
        </p:spPr>
      </p:pic>
      <p:sp>
        <p:nvSpPr>
          <p:cNvPr id="5" name="Down Arrow 4">
            <a:extLst>
              <a:ext uri="{FF2B5EF4-FFF2-40B4-BE49-F238E27FC236}">
                <a16:creationId xmlns:a16="http://schemas.microsoft.com/office/drawing/2014/main" id="{97AAAD3E-49FD-2044-8A2B-3A441599025C}"/>
              </a:ext>
            </a:extLst>
          </p:cNvPr>
          <p:cNvSpPr/>
          <p:nvPr/>
        </p:nvSpPr>
        <p:spPr>
          <a:xfrm rot="5242063">
            <a:off x="7855622" y="5349484"/>
            <a:ext cx="757796" cy="922917"/>
          </a:xfrm>
          <a:prstGeom prst="downArrow">
            <a:avLst>
              <a:gd name="adj1" fmla="val 34067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D47D7-6004-F146-B0DD-F1118F792AC6}"/>
              </a:ext>
            </a:extLst>
          </p:cNvPr>
          <p:cNvSpPr txBox="1"/>
          <p:nvPr/>
        </p:nvSpPr>
        <p:spPr>
          <a:xfrm>
            <a:off x="9222024" y="5226585"/>
            <a:ext cx="26170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first three elements in this array are initialized. The next seven aren't.</a:t>
            </a:r>
          </a:p>
        </p:txBody>
      </p:sp>
    </p:spTree>
    <p:extLst>
      <p:ext uri="{BB962C8B-B14F-4D97-AF65-F5344CB8AC3E}">
        <p14:creationId xmlns:p14="http://schemas.microsoft.com/office/powerpoint/2010/main" val="3945587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4C48-EF4D-2845-9496-5A33E34A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92275C8-C098-BA41-A3E3-469ED5FAB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34688" cy="4546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array of length </a:t>
            </a:r>
            <a:r>
              <a:rPr lang="en-US" i="1" dirty="0"/>
              <a:t>n </a:t>
            </a:r>
            <a:r>
              <a:rPr lang="en-US" dirty="0"/>
              <a:t>that stores variables of type </a:t>
            </a:r>
            <a:r>
              <a:rPr lang="en-US" i="1" dirty="0"/>
              <a:t>t </a:t>
            </a:r>
            <a:r>
              <a:rPr lang="en-US" dirty="0"/>
              <a:t>is in memory a contiguous block of </a:t>
            </a:r>
            <a:r>
              <a:rPr lang="en-US" i="1" dirty="0"/>
              <a:t>n * (</a:t>
            </a:r>
            <a:r>
              <a:rPr lang="en-US" dirty="0"/>
              <a:t>size of one variable of type </a:t>
            </a:r>
            <a:r>
              <a:rPr lang="en-US" i="1" dirty="0"/>
              <a:t>t) </a:t>
            </a:r>
            <a:r>
              <a:rPr lang="en-US" dirty="0"/>
              <a:t>bytes.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For an array named num, num[0] is the value stored at the address of the (size of </a:t>
            </a:r>
            <a:r>
              <a:rPr lang="en-US" i="1" dirty="0"/>
              <a:t>t)</a:t>
            </a:r>
            <a:r>
              <a:rPr lang="en-US" dirty="0"/>
              <a:t> bytes of the array in memory.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Copying an array into another array must be done </a:t>
            </a:r>
            <a:r>
              <a:rPr lang="en-US" i="1" dirty="0"/>
              <a:t>component by component. </a:t>
            </a:r>
            <a:r>
              <a:rPr lang="en-US" dirty="0"/>
              <a:t>To copy a 5-element array, you must do something like this.</a:t>
            </a:r>
            <a:br>
              <a:rPr lang="en-US" i="1" dirty="0"/>
            </a:br>
            <a:r>
              <a:rPr lang="en-US" i="1" dirty="0"/>
              <a:t>	</a:t>
            </a: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index = 0; index &lt; 5; index++){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newArray</a:t>
            </a:r>
            <a:r>
              <a:rPr lang="en-US" dirty="0"/>
              <a:t>[index] = </a:t>
            </a:r>
            <a:r>
              <a:rPr lang="en-US" dirty="0" err="1"/>
              <a:t>oldArray</a:t>
            </a:r>
            <a:r>
              <a:rPr lang="en-US" dirty="0"/>
              <a:t>[index];</a:t>
            </a:r>
            <a:br>
              <a:rPr lang="en-US" dirty="0"/>
            </a:b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869297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4C48-EF4D-2845-9496-5A33E34A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92275C8-C098-BA41-A3E3-469ED5FAB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726" y="1781259"/>
            <a:ext cx="10834688" cy="4546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 array of length </a:t>
            </a:r>
            <a:r>
              <a:rPr lang="en-US" i="1" dirty="0"/>
              <a:t>n </a:t>
            </a:r>
            <a:r>
              <a:rPr lang="en-US" dirty="0"/>
              <a:t>that stores variables of type </a:t>
            </a:r>
            <a:r>
              <a:rPr lang="en-US" i="1" dirty="0"/>
              <a:t>t </a:t>
            </a:r>
            <a:r>
              <a:rPr lang="en-US" dirty="0"/>
              <a:t>is in memory a contiguous block of </a:t>
            </a:r>
            <a:r>
              <a:rPr lang="en-US" i="1" dirty="0"/>
              <a:t>n * (</a:t>
            </a:r>
            <a:r>
              <a:rPr lang="en-US" dirty="0"/>
              <a:t>size of one variable of type </a:t>
            </a:r>
            <a:r>
              <a:rPr lang="en-US" i="1" dirty="0"/>
              <a:t>t) </a:t>
            </a:r>
            <a:r>
              <a:rPr lang="en-US" dirty="0"/>
              <a:t>bytes.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For an array named num, num[0] is the value stored at the address of the (size of </a:t>
            </a:r>
            <a:r>
              <a:rPr lang="en-US" i="1" dirty="0"/>
              <a:t>t)</a:t>
            </a:r>
            <a:r>
              <a:rPr lang="en-US" dirty="0"/>
              <a:t> bytes of the array in memory.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Copying an array into another array must be done </a:t>
            </a:r>
            <a:r>
              <a:rPr lang="en-US" i="1" dirty="0"/>
              <a:t>component by component. </a:t>
            </a:r>
            <a:r>
              <a:rPr lang="en-US" dirty="0"/>
              <a:t>To copy a 5-element array, you must do something like this.</a:t>
            </a:r>
            <a:br>
              <a:rPr lang="en-US" dirty="0"/>
            </a:br>
            <a:br>
              <a:rPr lang="en-US" i="1" dirty="0"/>
            </a:br>
            <a:r>
              <a:rPr lang="en-US" i="1" dirty="0"/>
              <a:t>	</a:t>
            </a: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index = 0; index &lt; 5; index++){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newArray</a:t>
            </a:r>
            <a:r>
              <a:rPr lang="en-US" dirty="0"/>
              <a:t>[index] = </a:t>
            </a:r>
            <a:r>
              <a:rPr lang="en-US" dirty="0" err="1"/>
              <a:t>oldArray</a:t>
            </a:r>
            <a:r>
              <a:rPr lang="en-US" dirty="0"/>
              <a:t>[index];</a:t>
            </a:r>
            <a:br>
              <a:rPr lang="en-US" dirty="0"/>
            </a:br>
            <a:r>
              <a:rPr lang="en-US" dirty="0"/>
              <a:t>	}</a:t>
            </a:r>
          </a:p>
          <a:p>
            <a:r>
              <a:rPr lang="en-US" dirty="0"/>
              <a:t>If you try this you will get an error: 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newArray</a:t>
            </a:r>
            <a:r>
              <a:rPr lang="en-US" dirty="0"/>
              <a:t> = </a:t>
            </a:r>
            <a:r>
              <a:rPr lang="en-US" dirty="0" err="1"/>
              <a:t>oldArray</a:t>
            </a:r>
            <a:r>
              <a:rPr lang="en-US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EB146D-3F39-8C4A-BA50-1D5567F01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8759"/>
            <a:ext cx="3606800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B178E9-11B5-2944-8B41-87E3D7B1D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865" y="5857959"/>
            <a:ext cx="7251700" cy="939800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9E79876A-B1BB-494A-8B27-BA9288CAC4A7}"/>
              </a:ext>
            </a:extLst>
          </p:cNvPr>
          <p:cNvSpPr/>
          <p:nvPr/>
        </p:nvSpPr>
        <p:spPr>
          <a:xfrm rot="16200000">
            <a:off x="3426507" y="5826198"/>
            <a:ext cx="757796" cy="922917"/>
          </a:xfrm>
          <a:prstGeom prst="downArrow">
            <a:avLst>
              <a:gd name="adj1" fmla="val 34067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75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4C48-EF4D-2845-9496-5A33E34A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158" y="14053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CONSTRAINTS ON ARRAYS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92275C8-C098-BA41-A3E3-469ED5FAB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725" y="1332080"/>
            <a:ext cx="11642559" cy="552592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Functions cannot return arrays</a:t>
            </a:r>
            <a:br>
              <a:rPr lang="en-US" dirty="0"/>
            </a:br>
            <a:endParaRPr lang="en-US" dirty="0"/>
          </a:p>
          <a:p>
            <a:r>
              <a:rPr lang="en-US" dirty="0"/>
              <a:t>Arrays are always (effectively) pass-by-reference – when you pass an array to a function, you are passing the address of the first element in the array.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Officially in C++ you </a:t>
            </a:r>
            <a:r>
              <a:rPr lang="en-US" i="1" dirty="0"/>
              <a:t>cannot</a:t>
            </a:r>
            <a:r>
              <a:rPr lang="en-US" dirty="0"/>
              <a:t> use variables as sizes in array declarations; i.e. 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size = 10;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myArray</a:t>
            </a:r>
            <a:r>
              <a:rPr lang="en-US" dirty="0"/>
              <a:t>[size];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is not standard C++. Some compilers (most notably </a:t>
            </a:r>
            <a:r>
              <a:rPr lang="en-US" dirty="0" err="1"/>
              <a:t>gcc</a:t>
            </a:r>
            <a:r>
              <a:rPr lang="en-US" dirty="0"/>
              <a:t>) allow this as an extension. Please do not do this in your assignments – we want to whenever possible stick to standard C++.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(you will not often hear me badmouthing </a:t>
            </a:r>
            <a:r>
              <a:rPr lang="en-US" dirty="0" err="1"/>
              <a:t>gcc</a:t>
            </a:r>
            <a:r>
              <a:rPr lang="en-US" dirty="0"/>
              <a:t>. but even so, I think it was a bad idea for them to include this).</a:t>
            </a:r>
            <a:br>
              <a:rPr lang="en-US" dirty="0"/>
            </a:br>
            <a:endParaRPr lang="en-US" dirty="0"/>
          </a:p>
          <a:p>
            <a:r>
              <a:rPr lang="en-US" sz="2600" dirty="0"/>
              <a:t>You CAN use a constant to set array size: i.e.</a:t>
            </a:r>
            <a:br>
              <a:rPr lang="en-US" sz="2600" dirty="0"/>
            </a:br>
            <a:r>
              <a:rPr lang="en-US" sz="2600" dirty="0"/>
              <a:t>	</a:t>
            </a:r>
            <a:r>
              <a:rPr lang="en-US" sz="2600" dirty="0" err="1"/>
              <a:t>const</a:t>
            </a:r>
            <a:r>
              <a:rPr lang="en-US" sz="2600" dirty="0"/>
              <a:t> </a:t>
            </a:r>
            <a:r>
              <a:rPr lang="en-US" sz="2600" dirty="0" err="1"/>
              <a:t>int</a:t>
            </a:r>
            <a:r>
              <a:rPr lang="en-US" sz="2600" dirty="0"/>
              <a:t> ARRAY_SIZE = 4;</a:t>
            </a:r>
            <a:br>
              <a:rPr lang="en-US" sz="2600" dirty="0"/>
            </a:br>
            <a:r>
              <a:rPr lang="en-US" sz="2600" dirty="0"/>
              <a:t>	</a:t>
            </a:r>
            <a:r>
              <a:rPr lang="en-US" sz="2600" dirty="0" err="1"/>
              <a:t>int</a:t>
            </a:r>
            <a:r>
              <a:rPr lang="en-US" sz="2600" dirty="0"/>
              <a:t> </a:t>
            </a:r>
            <a:r>
              <a:rPr lang="en-US" sz="2600" dirty="0" err="1"/>
              <a:t>myArray</a:t>
            </a:r>
            <a:r>
              <a:rPr lang="en-US" sz="2600" dirty="0"/>
              <a:t>[ARRAY_SIZE]; </a:t>
            </a:r>
            <a:br>
              <a:rPr lang="en-US" sz="2600" dirty="0"/>
            </a:br>
            <a:r>
              <a:rPr lang="en-US" sz="2600" dirty="0"/>
              <a:t>is perfectly fine</a:t>
            </a:r>
          </a:p>
        </p:txBody>
      </p:sp>
    </p:spTree>
    <p:extLst>
      <p:ext uri="{BB962C8B-B14F-4D97-AF65-F5344CB8AC3E}">
        <p14:creationId xmlns:p14="http://schemas.microsoft.com/office/powerpoint/2010/main" val="1851945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C69E-40D9-DE40-A32C-B1A3671DE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String objects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1D2CF-05B6-8A46-9512-30E6F560E6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 how to manipulate them</a:t>
            </a:r>
          </a:p>
        </p:txBody>
      </p:sp>
    </p:spTree>
    <p:extLst>
      <p:ext uri="{BB962C8B-B14F-4D97-AF65-F5344CB8AC3E}">
        <p14:creationId xmlns:p14="http://schemas.microsoft.com/office/powerpoint/2010/main" val="2343835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4C48-EF4D-2845-9496-5A33E34A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STRING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3F0DD-8A03-2647-8D20-6AEAFB413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153" y="1690688"/>
            <a:ext cx="6037636" cy="49205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F083E8-0CF2-8A4B-A1E7-95CC80691D3C}"/>
              </a:ext>
            </a:extLst>
          </p:cNvPr>
          <p:cNvSpPr txBox="1"/>
          <p:nvPr/>
        </p:nvSpPr>
        <p:spPr>
          <a:xfrm>
            <a:off x="10182727" y="566241"/>
            <a:ext cx="1171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(See page 496 of textbook)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903FF-A5D5-5148-AE29-9B8F1DF96CCA}"/>
              </a:ext>
            </a:extLst>
          </p:cNvPr>
          <p:cNvSpPr txBox="1"/>
          <p:nvPr/>
        </p:nvSpPr>
        <p:spPr>
          <a:xfrm>
            <a:off x="8603874" y="4362451"/>
            <a:ext cx="31577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apologies for</a:t>
            </a:r>
            <a:br>
              <a:rPr lang="en-US" sz="2400" dirty="0"/>
            </a:br>
            <a:r>
              <a:rPr lang="en-US" sz="2400" dirty="0"/>
              <a:t>how ugly /boring  these</a:t>
            </a:r>
            <a:br>
              <a:rPr lang="en-US" sz="2400" dirty="0"/>
            </a:br>
            <a:r>
              <a:rPr lang="en-US" sz="2400" dirty="0"/>
              <a:t>slides are…</a:t>
            </a:r>
          </a:p>
        </p:txBody>
      </p:sp>
    </p:spTree>
    <p:extLst>
      <p:ext uri="{BB962C8B-B14F-4D97-AF65-F5344CB8AC3E}">
        <p14:creationId xmlns:p14="http://schemas.microsoft.com/office/powerpoint/2010/main" val="3232344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4C48-EF4D-2845-9496-5A33E34A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STRING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3F0DD-8A03-2647-8D20-6AEAFB413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153" y="1690688"/>
            <a:ext cx="6037636" cy="49205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F083E8-0CF2-8A4B-A1E7-95CC80691D3C}"/>
              </a:ext>
            </a:extLst>
          </p:cNvPr>
          <p:cNvSpPr txBox="1"/>
          <p:nvPr/>
        </p:nvSpPr>
        <p:spPr>
          <a:xfrm>
            <a:off x="10182727" y="566241"/>
            <a:ext cx="1171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(See page 496 of textbook)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AB61580C-AF33-8C4F-B5E4-B6340C104EF1}"/>
              </a:ext>
            </a:extLst>
          </p:cNvPr>
          <p:cNvSpPr/>
          <p:nvPr/>
        </p:nvSpPr>
        <p:spPr>
          <a:xfrm rot="5242063">
            <a:off x="8481264" y="1868348"/>
            <a:ext cx="757796" cy="922917"/>
          </a:xfrm>
          <a:prstGeom prst="downArrow">
            <a:avLst>
              <a:gd name="adj1" fmla="val 34067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D146B9-FE84-EE4B-8683-D26D11F7304E}"/>
              </a:ext>
            </a:extLst>
          </p:cNvPr>
          <p:cNvSpPr txBox="1"/>
          <p:nvPr/>
        </p:nvSpPr>
        <p:spPr>
          <a:xfrm>
            <a:off x="9629775" y="2261937"/>
            <a:ext cx="23215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these two are equivalent: the array subscript notation is included to maintain compatibility with C</a:t>
            </a:r>
          </a:p>
        </p:txBody>
      </p:sp>
    </p:spTree>
    <p:extLst>
      <p:ext uri="{BB962C8B-B14F-4D97-AF65-F5344CB8AC3E}">
        <p14:creationId xmlns:p14="http://schemas.microsoft.com/office/powerpoint/2010/main" val="4079648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4C48-EF4D-2845-9496-5A33E34A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STRING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3F0DD-8A03-2647-8D20-6AEAFB413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153" y="1690688"/>
            <a:ext cx="6037636" cy="49205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F083E8-0CF2-8A4B-A1E7-95CC80691D3C}"/>
              </a:ext>
            </a:extLst>
          </p:cNvPr>
          <p:cNvSpPr txBox="1"/>
          <p:nvPr/>
        </p:nvSpPr>
        <p:spPr>
          <a:xfrm>
            <a:off x="10182727" y="566241"/>
            <a:ext cx="1171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(See page 496 of textbook)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AB61580C-AF33-8C4F-B5E4-B6340C104EF1}"/>
              </a:ext>
            </a:extLst>
          </p:cNvPr>
          <p:cNvSpPr/>
          <p:nvPr/>
        </p:nvSpPr>
        <p:spPr>
          <a:xfrm rot="5242063">
            <a:off x="8370843" y="3289829"/>
            <a:ext cx="757796" cy="922917"/>
          </a:xfrm>
          <a:prstGeom prst="downArrow">
            <a:avLst>
              <a:gd name="adj1" fmla="val 34067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D146B9-FE84-EE4B-8683-D26D11F7304E}"/>
              </a:ext>
            </a:extLst>
          </p:cNvPr>
          <p:cNvSpPr txBox="1"/>
          <p:nvPr/>
        </p:nvSpPr>
        <p:spPr>
          <a:xfrm>
            <a:off x="10074442" y="2261937"/>
            <a:ext cx="18769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place either chars or other strings at the end of a string</a:t>
            </a:r>
          </a:p>
        </p:txBody>
      </p:sp>
    </p:spTree>
    <p:extLst>
      <p:ext uri="{BB962C8B-B14F-4D97-AF65-F5344CB8AC3E}">
        <p14:creationId xmlns:p14="http://schemas.microsoft.com/office/powerpoint/2010/main" val="176157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4C48-EF4D-2845-9496-5A33E34A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STRING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3F0DD-8A03-2647-8D20-6AEAFB413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153" y="1690688"/>
            <a:ext cx="6037636" cy="49205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F083E8-0CF2-8A4B-A1E7-95CC80691D3C}"/>
              </a:ext>
            </a:extLst>
          </p:cNvPr>
          <p:cNvSpPr txBox="1"/>
          <p:nvPr/>
        </p:nvSpPr>
        <p:spPr>
          <a:xfrm>
            <a:off x="10182727" y="566241"/>
            <a:ext cx="1171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(See page 496 of textbook)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AB61580C-AF33-8C4F-B5E4-B6340C104EF1}"/>
              </a:ext>
            </a:extLst>
          </p:cNvPr>
          <p:cNvSpPr/>
          <p:nvPr/>
        </p:nvSpPr>
        <p:spPr>
          <a:xfrm rot="5242063">
            <a:off x="8226466" y="4313801"/>
            <a:ext cx="757796" cy="922917"/>
          </a:xfrm>
          <a:prstGeom prst="downArrow">
            <a:avLst>
              <a:gd name="adj1" fmla="val 34067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D146B9-FE84-EE4B-8683-D26D11F7304E}"/>
              </a:ext>
            </a:extLst>
          </p:cNvPr>
          <p:cNvSpPr txBox="1"/>
          <p:nvPr/>
        </p:nvSpPr>
        <p:spPr>
          <a:xfrm>
            <a:off x="9476874" y="4036595"/>
            <a:ext cx="1876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USEFUL</a:t>
            </a:r>
          </a:p>
        </p:txBody>
      </p:sp>
    </p:spTree>
    <p:extLst>
      <p:ext uri="{BB962C8B-B14F-4D97-AF65-F5344CB8AC3E}">
        <p14:creationId xmlns:p14="http://schemas.microsoft.com/office/powerpoint/2010/main" val="38199055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4C48-EF4D-2845-9496-5A33E34A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STRING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083E8-0CF2-8A4B-A1E7-95CC80691D3C}"/>
              </a:ext>
            </a:extLst>
          </p:cNvPr>
          <p:cNvSpPr txBox="1"/>
          <p:nvPr/>
        </p:nvSpPr>
        <p:spPr>
          <a:xfrm>
            <a:off x="10182727" y="566241"/>
            <a:ext cx="1171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(See page 497 of textbook)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D4312F-EDDD-6244-A617-F26A471BB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206" y="1690688"/>
            <a:ext cx="4030169" cy="51673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468B36-C747-F047-AC6D-FEADB82C5DAA}"/>
              </a:ext>
            </a:extLst>
          </p:cNvPr>
          <p:cNvSpPr txBox="1"/>
          <p:nvPr/>
        </p:nvSpPr>
        <p:spPr>
          <a:xfrm>
            <a:off x="8597349" y="2922104"/>
            <a:ext cx="22462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(for anyone who's had to work with regular c-strings (arrays of chars), you'll really appreciate every last one of these functions.)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F3BAED9E-AA1E-EC4C-A532-557D529CED7E}"/>
              </a:ext>
            </a:extLst>
          </p:cNvPr>
          <p:cNvSpPr/>
          <p:nvPr/>
        </p:nvSpPr>
        <p:spPr>
          <a:xfrm rot="15788330">
            <a:off x="3393969" y="4449952"/>
            <a:ext cx="757796" cy="922917"/>
          </a:xfrm>
          <a:prstGeom prst="downArrow">
            <a:avLst>
              <a:gd name="adj1" fmla="val 34067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1C0113-7B1C-EE4A-9F0C-7CDB8938619C}"/>
              </a:ext>
            </a:extLst>
          </p:cNvPr>
          <p:cNvSpPr txBox="1"/>
          <p:nvPr/>
        </p:nvSpPr>
        <p:spPr>
          <a:xfrm>
            <a:off x="-30550" y="3156659"/>
            <a:ext cx="4306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potential pitfall: technically, </a:t>
            </a:r>
            <a:r>
              <a:rPr lang="en-US" sz="1600" dirty="0" err="1"/>
              <a:t>str.length</a:t>
            </a:r>
            <a:r>
              <a:rPr lang="en-US" sz="1600" dirty="0"/>
              <a:t>() returns a variable of type </a:t>
            </a:r>
            <a:r>
              <a:rPr lang="en-US" sz="1600" dirty="0" err="1"/>
              <a:t>size_t</a:t>
            </a:r>
            <a:r>
              <a:rPr lang="en-US" sz="1600" dirty="0"/>
              <a:t>. it is best practice when printing a </a:t>
            </a:r>
            <a:r>
              <a:rPr lang="en-US" sz="1600" dirty="0" err="1"/>
              <a:t>size_t</a:t>
            </a:r>
            <a:r>
              <a:rPr lang="en-US" sz="1600" dirty="0"/>
              <a:t> to cast it to an </a:t>
            </a:r>
            <a:r>
              <a:rPr lang="en-US" sz="1600" dirty="0" err="1"/>
              <a:t>int</a:t>
            </a:r>
            <a:r>
              <a:rPr lang="en-US" sz="1600" dirty="0"/>
              <a:t>: i.e., </a:t>
            </a:r>
          </a:p>
          <a:p>
            <a:endParaRPr lang="en-US" sz="1600" dirty="0"/>
          </a:p>
          <a:p>
            <a:r>
              <a:rPr lang="en-US" sz="1600" dirty="0" err="1"/>
              <a:t>cout</a:t>
            </a:r>
            <a:r>
              <a:rPr lang="en-US" sz="1600" dirty="0"/>
              <a:t> &lt;&lt; </a:t>
            </a:r>
            <a:r>
              <a:rPr lang="en-US" sz="1600" dirty="0" err="1"/>
              <a:t>static_cast</a:t>
            </a:r>
            <a:r>
              <a:rPr lang="en-US" sz="1600" dirty="0"/>
              <a:t>&lt;unsigned </a:t>
            </a:r>
            <a:r>
              <a:rPr lang="en-US" sz="1600" dirty="0" err="1"/>
              <a:t>int</a:t>
            </a:r>
            <a:r>
              <a:rPr lang="en-US" sz="1600" dirty="0"/>
              <a:t>&gt; </a:t>
            </a:r>
            <a:r>
              <a:rPr lang="en-US" sz="1600" dirty="0" err="1"/>
              <a:t>strVar.length</a:t>
            </a:r>
            <a:r>
              <a:rPr lang="en-US" sz="16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814462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C69E-40D9-DE40-A32C-B1A3671DE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style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1D2CF-05B6-8A46-9512-30E6F560E6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please follow this, for your sake and for mine</a:t>
            </a:r>
          </a:p>
        </p:txBody>
      </p:sp>
    </p:spTree>
    <p:extLst>
      <p:ext uri="{BB962C8B-B14F-4D97-AF65-F5344CB8AC3E}">
        <p14:creationId xmlns:p14="http://schemas.microsoft.com/office/powerpoint/2010/main" val="3888463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4031</TotalTime>
  <Words>2051</Words>
  <Application>Microsoft Macintosh PowerPoint</Application>
  <PresentationFormat>Widescreen</PresentationFormat>
  <Paragraphs>227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Courier New</vt:lpstr>
      <vt:lpstr>Office Theme</vt:lpstr>
      <vt:lpstr>CIS 25 day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 </vt:lpstr>
      <vt:lpstr>PASS BY REFERENCE VS. PASS BY VALUE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PASS BY REFERENCE  MATTERS #1</vt:lpstr>
      <vt:lpstr>ARRAYS[]</vt:lpstr>
      <vt:lpstr>ARRAYS</vt:lpstr>
      <vt:lpstr>ARRAYS</vt:lpstr>
      <vt:lpstr>ARRAYS</vt:lpstr>
      <vt:lpstr>CONSTRAINTS ON ARRAYS</vt:lpstr>
      <vt:lpstr>String objects</vt:lpstr>
      <vt:lpstr>SOME STRING FUNCTIONS</vt:lpstr>
      <vt:lpstr>SOME STRING FUNCTIONS</vt:lpstr>
      <vt:lpstr>SOME STRING FUNCTIONS</vt:lpstr>
      <vt:lpstr>SOME STRING FUNCTIONS</vt:lpstr>
      <vt:lpstr>MORE STRING FUNCTIONS</vt:lpstr>
      <vt:lpstr>style guide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 BY REFERENCE VS. PASS BY VALUE</dc:title>
  <dc:creator>Benjamin Allen</dc:creator>
  <cp:lastModifiedBy>Ben Allen</cp:lastModifiedBy>
  <cp:revision>5</cp:revision>
  <dcterms:created xsi:type="dcterms:W3CDTF">2020-09-09T16:17:19Z</dcterms:created>
  <dcterms:modified xsi:type="dcterms:W3CDTF">2026-09-08T18:16:25Z</dcterms:modified>
</cp:coreProperties>
</file>