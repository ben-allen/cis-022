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8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193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code sample and output in this deck was compiled and run (g++, C++17).
Files: minesweeper_part1_starter.cpp (for students) and minesweeper_part1_solution.cpp.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by compiling and running each mistake on the test board (g++, C++17). Correct test output: 3, 2, 1, 0, 2.
- Counting the cell itself: tests printed 3, 2, 1, 0, 3. The printed board looked correct, because mines print as *.
- No bounds check: tests printed 3, 3, 2, 3, 2, and the top row printed as "* 5 4 4 3 3 2 2" instead of "* 2 1 1 0 1 1 1". This is undefined behavior, so other compilers or machines may print different numbers or crash.
- &lt; 1 instead of &lt;= 1: tests printed 2, 0, 0, 0, 0.
- Swapped indices: tests printed 3, 1, 3, 1, 1. On this non-square board it also reads outside the array (undefined behavior).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Verified: with the loop bounds swapped (row &lt; COLUMNS, column &lt; ROWS), g++ printed 8 rows of 5, and the last 3 rows held garbage values read from outside the array. The exact garbage varies from run to run (undefined behavior).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and run with g++ (C++17) on Linux. rand() comes from the C library, so exact numbers differ between systems; the behavior shown (same numbers without a seed, etc.) does not.
On this system RAND_MAX is 2147483647. The exact maximum varies by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and run with g++ (C++17) on Linux. rand() comes from the C library, so exact numbers differ between systems; the behavior shown (same numbers without a seed, etc.) does not.
For instructors: rand() % n is very slightly biased toward smaller values, and C++11 &lt;random&gt; fixes that, but for a game board the difference is invisible and &lt;random&gt; is much more machinery than beginners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and run with g++ (C++17) on Linux. rand() comes from the C library, so exact numbers differ between systems; the behavior shown (same numbers without a seed, etc.)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and run with g++ (C++17) on Linux. rand() comes from the C library, so exact numbers differ between systems; the behavior shown (same numbers without a seed, etc.) does not.
The two runs were about a second apart. Runs within the same second get the same seed and print the same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and run with g++ (C++17) on Linux. rand() comes from the C library, so exact numbers differ between systems; the behavior shown (same numbers without a seed, etc.)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from minesweeper_place_mines_demo.cpp with srand(time(0)) replaced by srand(4) so the run is repeatable. Seed 4 was chosen because its picks land on an existing mine once. Other systems will produce a different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run as the previous slide (seed 4), printed with print_debug_board.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with g++ on Linux: srand(time(0)) inside a 5-pass loop printed "3 3 3 3 3". Over 100,000 tries, rand() % ROWS - 1 ranged from -1 to 3, and rand() % ROWS + 1 ranged from 1 to 5 (ROWS =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371600" y="210312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MINESWEEPER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61188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the board and its numbers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GAME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73736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73736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73736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73736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73736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73736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73736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28600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28600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28600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28600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28600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28600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28600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283464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283464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283464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283464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283464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83464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283464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338328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338328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920240" y="338328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338328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017520" y="338328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338328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0" y="338328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338328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393192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93192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2468880" y="393192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3017520" y="3931920"/>
            <a:ext cx="548640" cy="54864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393192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0" y="393192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4663440" y="393192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5760720" y="173736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cells hide mines. Gray cells haven’t been revealed yet.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revealed cell shows how many of its neighbors are mines.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a mine and you lose.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every cell that isn’t a mine and you win.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cs typeface="Calibri Light" pitchFamily="34" charset="-120"/>
              </a:rPr>
              <a:t>BRAINSTORMING/PSEUDOCODE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60020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0020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60020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60020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60020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456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19456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19456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19456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19456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19456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78892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78892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78892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278892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278892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278892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38328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38328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338328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338328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338328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338328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397764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397764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97764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397764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397764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794760" y="397764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57200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457200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457200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4572000"/>
            <a:ext cx="594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457200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3794760" y="4572000"/>
            <a:ext cx="594360" cy="59436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164592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/>
              <a:t>Let's say the user clicks on a square that doesn't have a mine on it. What do we need to do?</a:t>
            </a:r>
          </a:p>
        </p:txBody>
      </p:sp>
    </p:spTree>
    <p:extLst>
      <p:ext uri="{BB962C8B-B14F-4D97-AF65-F5344CB8AC3E}">
        <p14:creationId xmlns:p14="http://schemas.microsoft.com/office/powerpoint/2010/main" val="1039559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NEIGHBORS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031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468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2004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66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246888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246888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246888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292608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283464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2834640"/>
            <a:ext cx="365760" cy="365760"/>
          </a:xfrm>
          <a:prstGeom prst="rect">
            <a:avLst/>
          </a:prstGeom>
          <a:solidFill>
            <a:srgbClr val="9DC3E6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2194560" y="283464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292608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365760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1463040" y="320040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828800" y="320040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194560" y="320040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256032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292608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329184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365760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109728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146304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182880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219456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256032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292608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329184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365760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cell (2, 2): 8 neighbors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475488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12064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548640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585216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21792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94944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31520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4434840" y="21031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4434840" y="2468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4434840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4434840" y="32004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434840" y="3566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512064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585216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4" name="Text 72"/>
          <p:cNvSpPr txBox="1"/>
          <p:nvPr/>
        </p:nvSpPr>
        <p:spPr>
          <a:xfrm>
            <a:off x="621792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6" name="Text 74"/>
          <p:cNvSpPr txBox="1"/>
          <p:nvPr/>
        </p:nvSpPr>
        <p:spPr>
          <a:xfrm>
            <a:off x="694944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7" name="Text 75"/>
          <p:cNvSpPr txBox="1"/>
          <p:nvPr/>
        </p:nvSpPr>
        <p:spPr>
          <a:xfrm>
            <a:off x="731520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8" name="Text 76"/>
          <p:cNvSpPr txBox="1"/>
          <p:nvPr/>
        </p:nvSpPr>
        <p:spPr>
          <a:xfrm>
            <a:off x="475488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9" name="Text 77"/>
          <p:cNvSpPr txBox="1"/>
          <p:nvPr/>
        </p:nvSpPr>
        <p:spPr>
          <a:xfrm>
            <a:off x="512064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0" name="Text 78"/>
          <p:cNvSpPr txBox="1"/>
          <p:nvPr/>
        </p:nvSpPr>
        <p:spPr>
          <a:xfrm>
            <a:off x="548640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1" name="Text 79"/>
          <p:cNvSpPr txBox="1"/>
          <p:nvPr/>
        </p:nvSpPr>
        <p:spPr>
          <a:xfrm>
            <a:off x="585216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2" name="Text 80"/>
          <p:cNvSpPr txBox="1"/>
          <p:nvPr/>
        </p:nvSpPr>
        <p:spPr>
          <a:xfrm>
            <a:off x="621792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3" name="Text 81"/>
          <p:cNvSpPr txBox="1"/>
          <p:nvPr/>
        </p:nvSpPr>
        <p:spPr>
          <a:xfrm>
            <a:off x="658368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4" name="Text 82"/>
          <p:cNvSpPr txBox="1"/>
          <p:nvPr/>
        </p:nvSpPr>
        <p:spPr>
          <a:xfrm>
            <a:off x="694944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5" name="Text 83"/>
          <p:cNvSpPr txBox="1"/>
          <p:nvPr/>
        </p:nvSpPr>
        <p:spPr>
          <a:xfrm>
            <a:off x="731520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6" name="Text 84"/>
          <p:cNvSpPr txBox="1"/>
          <p:nvPr/>
        </p:nvSpPr>
        <p:spPr>
          <a:xfrm>
            <a:off x="4754880" y="283464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7" name="Text 85"/>
          <p:cNvSpPr txBox="1"/>
          <p:nvPr/>
        </p:nvSpPr>
        <p:spPr>
          <a:xfrm>
            <a:off x="5120640" y="283464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8" name="Text 86"/>
          <p:cNvSpPr txBox="1"/>
          <p:nvPr/>
        </p:nvSpPr>
        <p:spPr>
          <a:xfrm>
            <a:off x="548640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9" name="Text 87"/>
          <p:cNvSpPr txBox="1"/>
          <p:nvPr/>
        </p:nvSpPr>
        <p:spPr>
          <a:xfrm>
            <a:off x="585216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0" name="Text 88"/>
          <p:cNvSpPr txBox="1"/>
          <p:nvPr/>
        </p:nvSpPr>
        <p:spPr>
          <a:xfrm>
            <a:off x="621792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2" name="Text 90"/>
          <p:cNvSpPr txBox="1"/>
          <p:nvPr/>
        </p:nvSpPr>
        <p:spPr>
          <a:xfrm>
            <a:off x="694944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3" name="Text 91"/>
          <p:cNvSpPr txBox="1"/>
          <p:nvPr/>
        </p:nvSpPr>
        <p:spPr>
          <a:xfrm>
            <a:off x="731520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4" name="Text 92"/>
          <p:cNvSpPr txBox="1"/>
          <p:nvPr/>
        </p:nvSpPr>
        <p:spPr>
          <a:xfrm>
            <a:off x="4754880" y="3200400"/>
            <a:ext cx="365760" cy="365760"/>
          </a:xfrm>
          <a:prstGeom prst="rect">
            <a:avLst/>
          </a:prstGeom>
          <a:solidFill>
            <a:srgbClr val="9DC3E6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5" name="Text 93"/>
          <p:cNvSpPr txBox="1"/>
          <p:nvPr/>
        </p:nvSpPr>
        <p:spPr>
          <a:xfrm>
            <a:off x="5120640" y="320040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6" name="Text 94"/>
          <p:cNvSpPr txBox="1"/>
          <p:nvPr/>
        </p:nvSpPr>
        <p:spPr>
          <a:xfrm>
            <a:off x="548640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7" name="Text 95"/>
          <p:cNvSpPr txBox="1"/>
          <p:nvPr/>
        </p:nvSpPr>
        <p:spPr>
          <a:xfrm>
            <a:off x="585216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8" name="Text 96"/>
          <p:cNvSpPr txBox="1"/>
          <p:nvPr/>
        </p:nvSpPr>
        <p:spPr>
          <a:xfrm>
            <a:off x="621792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9" name="Text 97"/>
          <p:cNvSpPr txBox="1"/>
          <p:nvPr/>
        </p:nvSpPr>
        <p:spPr>
          <a:xfrm>
            <a:off x="658368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0" name="Text 98"/>
          <p:cNvSpPr txBox="1"/>
          <p:nvPr/>
        </p:nvSpPr>
        <p:spPr>
          <a:xfrm>
            <a:off x="694944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1" name="Text 99"/>
          <p:cNvSpPr txBox="1"/>
          <p:nvPr/>
        </p:nvSpPr>
        <p:spPr>
          <a:xfrm>
            <a:off x="731520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2" name="Text 100"/>
          <p:cNvSpPr txBox="1"/>
          <p:nvPr/>
        </p:nvSpPr>
        <p:spPr>
          <a:xfrm>
            <a:off x="4754880" y="356616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3" name="Text 101"/>
          <p:cNvSpPr txBox="1"/>
          <p:nvPr/>
        </p:nvSpPr>
        <p:spPr>
          <a:xfrm>
            <a:off x="5120640" y="356616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4" name="Text 102"/>
          <p:cNvSpPr txBox="1"/>
          <p:nvPr/>
        </p:nvSpPr>
        <p:spPr>
          <a:xfrm>
            <a:off x="548640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5" name="Text 103"/>
          <p:cNvSpPr txBox="1"/>
          <p:nvPr/>
        </p:nvSpPr>
        <p:spPr>
          <a:xfrm>
            <a:off x="585216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6" name="Text 104"/>
          <p:cNvSpPr txBox="1"/>
          <p:nvPr/>
        </p:nvSpPr>
        <p:spPr>
          <a:xfrm>
            <a:off x="621792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7" name="Text 105"/>
          <p:cNvSpPr txBox="1"/>
          <p:nvPr/>
        </p:nvSpPr>
        <p:spPr>
          <a:xfrm>
            <a:off x="658368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8" name="Text 106"/>
          <p:cNvSpPr txBox="1"/>
          <p:nvPr/>
        </p:nvSpPr>
        <p:spPr>
          <a:xfrm>
            <a:off x="694944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9" name="Text 107"/>
          <p:cNvSpPr txBox="1"/>
          <p:nvPr/>
        </p:nvSpPr>
        <p:spPr>
          <a:xfrm>
            <a:off x="731520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0" name="Text 108"/>
          <p:cNvSpPr txBox="1"/>
          <p:nvPr/>
        </p:nvSpPr>
        <p:spPr>
          <a:xfrm>
            <a:off x="457200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cell (3, 0): 5 neighbors</a:t>
            </a:r>
            <a:endParaRPr lang="en-US" sz="1800" dirty="0"/>
          </a:p>
        </p:txBody>
      </p:sp>
      <p:sp>
        <p:nvSpPr>
          <p:cNvPr id="111" name="Text 109"/>
          <p:cNvSpPr txBox="1"/>
          <p:nvPr/>
        </p:nvSpPr>
        <p:spPr>
          <a:xfrm>
            <a:off x="841248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877824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914400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950976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987552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1024128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1060704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10972800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8092440" y="21031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8092440" y="2468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8092440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8092440" y="32004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8092440" y="3566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841248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5" name="Text 123"/>
          <p:cNvSpPr txBox="1"/>
          <p:nvPr/>
        </p:nvSpPr>
        <p:spPr>
          <a:xfrm>
            <a:off x="877824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6" name="Text 124"/>
          <p:cNvSpPr txBox="1"/>
          <p:nvPr/>
        </p:nvSpPr>
        <p:spPr>
          <a:xfrm>
            <a:off x="914400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7" name="Text 125"/>
          <p:cNvSpPr txBox="1"/>
          <p:nvPr/>
        </p:nvSpPr>
        <p:spPr>
          <a:xfrm>
            <a:off x="950976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8" name="Text 126"/>
          <p:cNvSpPr txBox="1"/>
          <p:nvPr/>
        </p:nvSpPr>
        <p:spPr>
          <a:xfrm>
            <a:off x="987552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9" name="Text 127"/>
          <p:cNvSpPr txBox="1"/>
          <p:nvPr/>
        </p:nvSpPr>
        <p:spPr>
          <a:xfrm>
            <a:off x="10241280" y="21031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0" name="Text 128"/>
          <p:cNvSpPr txBox="1"/>
          <p:nvPr/>
        </p:nvSpPr>
        <p:spPr>
          <a:xfrm>
            <a:off x="10607040" y="210312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1" name="Text 129"/>
          <p:cNvSpPr txBox="1"/>
          <p:nvPr/>
        </p:nvSpPr>
        <p:spPr>
          <a:xfrm>
            <a:off x="10972800" y="2103120"/>
            <a:ext cx="365760" cy="365760"/>
          </a:xfrm>
          <a:prstGeom prst="rect">
            <a:avLst/>
          </a:prstGeom>
          <a:solidFill>
            <a:srgbClr val="9DC3E6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2" name="Text 130"/>
          <p:cNvSpPr txBox="1"/>
          <p:nvPr/>
        </p:nvSpPr>
        <p:spPr>
          <a:xfrm>
            <a:off x="841248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3" name="Text 131"/>
          <p:cNvSpPr txBox="1"/>
          <p:nvPr/>
        </p:nvSpPr>
        <p:spPr>
          <a:xfrm>
            <a:off x="877824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4" name="Text 132"/>
          <p:cNvSpPr txBox="1"/>
          <p:nvPr/>
        </p:nvSpPr>
        <p:spPr>
          <a:xfrm>
            <a:off x="914400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5" name="Text 133"/>
          <p:cNvSpPr txBox="1"/>
          <p:nvPr/>
        </p:nvSpPr>
        <p:spPr>
          <a:xfrm>
            <a:off x="950976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6" name="Text 134"/>
          <p:cNvSpPr txBox="1"/>
          <p:nvPr/>
        </p:nvSpPr>
        <p:spPr>
          <a:xfrm>
            <a:off x="987552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7" name="Text 135"/>
          <p:cNvSpPr txBox="1"/>
          <p:nvPr/>
        </p:nvSpPr>
        <p:spPr>
          <a:xfrm>
            <a:off x="10241280" y="24688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8" name="Text 136"/>
          <p:cNvSpPr txBox="1"/>
          <p:nvPr/>
        </p:nvSpPr>
        <p:spPr>
          <a:xfrm>
            <a:off x="10607040" y="246888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9" name="Text 137"/>
          <p:cNvSpPr txBox="1"/>
          <p:nvPr/>
        </p:nvSpPr>
        <p:spPr>
          <a:xfrm>
            <a:off x="10972800" y="2468880"/>
            <a:ext cx="365760" cy="36576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0" name="Text 138"/>
          <p:cNvSpPr txBox="1"/>
          <p:nvPr/>
        </p:nvSpPr>
        <p:spPr>
          <a:xfrm>
            <a:off x="841248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1" name="Text 139"/>
          <p:cNvSpPr txBox="1"/>
          <p:nvPr/>
        </p:nvSpPr>
        <p:spPr>
          <a:xfrm>
            <a:off x="877824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2" name="Text 140"/>
          <p:cNvSpPr txBox="1"/>
          <p:nvPr/>
        </p:nvSpPr>
        <p:spPr>
          <a:xfrm>
            <a:off x="914400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3" name="Text 141"/>
          <p:cNvSpPr txBox="1"/>
          <p:nvPr/>
        </p:nvSpPr>
        <p:spPr>
          <a:xfrm>
            <a:off x="950976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4" name="Text 142"/>
          <p:cNvSpPr txBox="1"/>
          <p:nvPr/>
        </p:nvSpPr>
        <p:spPr>
          <a:xfrm>
            <a:off x="987552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5" name="Text 143"/>
          <p:cNvSpPr txBox="1"/>
          <p:nvPr/>
        </p:nvSpPr>
        <p:spPr>
          <a:xfrm>
            <a:off x="1024128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6" name="Text 144"/>
          <p:cNvSpPr txBox="1"/>
          <p:nvPr/>
        </p:nvSpPr>
        <p:spPr>
          <a:xfrm>
            <a:off x="1060704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7" name="Text 145"/>
          <p:cNvSpPr txBox="1"/>
          <p:nvPr/>
        </p:nvSpPr>
        <p:spPr>
          <a:xfrm>
            <a:off x="10972800" y="28346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8" name="Text 146"/>
          <p:cNvSpPr txBox="1"/>
          <p:nvPr/>
        </p:nvSpPr>
        <p:spPr>
          <a:xfrm>
            <a:off x="841248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9" name="Text 147"/>
          <p:cNvSpPr txBox="1"/>
          <p:nvPr/>
        </p:nvSpPr>
        <p:spPr>
          <a:xfrm>
            <a:off x="877824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0" name="Text 148"/>
          <p:cNvSpPr txBox="1"/>
          <p:nvPr/>
        </p:nvSpPr>
        <p:spPr>
          <a:xfrm>
            <a:off x="914400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1" name="Text 149"/>
          <p:cNvSpPr txBox="1"/>
          <p:nvPr/>
        </p:nvSpPr>
        <p:spPr>
          <a:xfrm>
            <a:off x="950976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2" name="Text 150"/>
          <p:cNvSpPr txBox="1"/>
          <p:nvPr/>
        </p:nvSpPr>
        <p:spPr>
          <a:xfrm>
            <a:off x="987552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3" name="Text 151"/>
          <p:cNvSpPr txBox="1"/>
          <p:nvPr/>
        </p:nvSpPr>
        <p:spPr>
          <a:xfrm>
            <a:off x="1024128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4" name="Text 152"/>
          <p:cNvSpPr txBox="1"/>
          <p:nvPr/>
        </p:nvSpPr>
        <p:spPr>
          <a:xfrm>
            <a:off x="1060704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5" name="Text 153"/>
          <p:cNvSpPr txBox="1"/>
          <p:nvPr/>
        </p:nvSpPr>
        <p:spPr>
          <a:xfrm>
            <a:off x="1097280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6" name="Text 154"/>
          <p:cNvSpPr txBox="1"/>
          <p:nvPr/>
        </p:nvSpPr>
        <p:spPr>
          <a:xfrm>
            <a:off x="841248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7" name="Text 155"/>
          <p:cNvSpPr txBox="1"/>
          <p:nvPr/>
        </p:nvSpPr>
        <p:spPr>
          <a:xfrm>
            <a:off x="877824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8" name="Text 156"/>
          <p:cNvSpPr txBox="1"/>
          <p:nvPr/>
        </p:nvSpPr>
        <p:spPr>
          <a:xfrm>
            <a:off x="914400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9" name="Text 157"/>
          <p:cNvSpPr txBox="1"/>
          <p:nvPr/>
        </p:nvSpPr>
        <p:spPr>
          <a:xfrm>
            <a:off x="950976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0" name="Text 158"/>
          <p:cNvSpPr txBox="1"/>
          <p:nvPr/>
        </p:nvSpPr>
        <p:spPr>
          <a:xfrm>
            <a:off x="987552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1" name="Text 159"/>
          <p:cNvSpPr txBox="1"/>
          <p:nvPr/>
        </p:nvSpPr>
        <p:spPr>
          <a:xfrm>
            <a:off x="1024128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2" name="Text 160"/>
          <p:cNvSpPr txBox="1"/>
          <p:nvPr/>
        </p:nvSpPr>
        <p:spPr>
          <a:xfrm>
            <a:off x="1060704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3" name="Text 161"/>
          <p:cNvSpPr txBox="1"/>
          <p:nvPr/>
        </p:nvSpPr>
        <p:spPr>
          <a:xfrm>
            <a:off x="10972800" y="35661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4" name="Text 162"/>
          <p:cNvSpPr txBox="1"/>
          <p:nvPr/>
        </p:nvSpPr>
        <p:spPr>
          <a:xfrm>
            <a:off x="822960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cell (0, 7): 3 neighbors</a:t>
            </a:r>
            <a:endParaRPr lang="en-US" sz="1800" dirty="0"/>
          </a:p>
        </p:txBody>
      </p:sp>
      <p:sp>
        <p:nvSpPr>
          <p:cNvPr id="165" name="Text 163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on the edge of the board have fewer neighbors. Don’t look past the edge.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REPRESENTING THE BOARD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 of the file, outside any function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3093720" cy="7569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28194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53840" y="1928368"/>
            <a:ext cx="822960" cy="411480"/>
          </a:xfrm>
          <a:prstGeom prst="leftArrow">
            <a:avLst/>
          </a:prstGeom>
          <a:solidFill>
            <a:srgbClr val="5B9BD5"/>
          </a:solidFill>
          <a:ln w="9525">
            <a:solidFill>
              <a:srgbClr val="4171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13960" y="18597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constants: every function can use them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main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55848"/>
            <a:ext cx="5288280" cy="9982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93008"/>
            <a:ext cx="501396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{};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{};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8400" y="3407918"/>
            <a:ext cx="822960" cy="411480"/>
          </a:xfrm>
          <a:prstGeom prst="leftArrow">
            <a:avLst/>
          </a:prstGeom>
          <a:solidFill>
            <a:srgbClr val="5B9BD5"/>
          </a:solidFill>
          <a:ln w="9525">
            <a:solidFill>
              <a:srgbClr val="4171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08520" y="333933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there’s a mine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8400" y="3890518"/>
            <a:ext cx="822960" cy="411480"/>
          </a:xfrm>
          <a:prstGeom prst="leftArrow">
            <a:avLst/>
          </a:prstGeom>
          <a:solidFill>
            <a:srgbClr val="5B9BD5"/>
          </a:solidFill>
          <a:ln w="9525">
            <a:solidFill>
              <a:srgbClr val="4171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08520" y="382193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mines touch each cell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the size of the board, change one line.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TEST BOARD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947160" cy="19634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3672840" cy="168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581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581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1581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1581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1581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1581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0" y="1581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1581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8745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7889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703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20272" y="1581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3075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0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332720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0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589520" y="27889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27889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27889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8961120" y="27889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27889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875520" y="27889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0332720" y="27889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0789920" y="27889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7589520" y="32461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8046720" y="32461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8503920" y="32461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961120" y="32461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9418320" y="32461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9875520" y="32461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10332720" y="32461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10789920" y="32461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758952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804672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850392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896112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941832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987552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1033272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9" name="Text 57"/>
          <p:cNvSpPr txBox="1"/>
          <p:nvPr/>
        </p:nvSpPr>
        <p:spPr>
          <a:xfrm>
            <a:off x="1078992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8836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array, 0 means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1 means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board means we know the right answers, so we can check our work.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TODAY’S FUNCTIONS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9372600" cy="13538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909828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print_debug_board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740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order. Each one can use the ones before it.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COUNTING MINES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4444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77012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815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how many cells in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test board, that’s 8.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TURN: </a:t>
            </a:r>
            <a:r>
              <a:rPr lang="en-US" sz="3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function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504444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477012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913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put this in main, replacing any earlier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3916"/>
            <a:ext cx="467868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021076"/>
            <a:ext cx="440436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5913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2883916"/>
            <a:ext cx="2240280" cy="7569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3021076"/>
            <a:ext cx="196596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./minesweeper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SOLUTION: </a:t>
            </a:r>
            <a:r>
              <a:rPr lang="en-US" sz="3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7482840" cy="2928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7208520" cy="265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6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42960" y="2209800"/>
            <a:ext cx="822960" cy="411480"/>
          </a:xfrm>
          <a:prstGeom prst="leftArrow">
            <a:avLst/>
          </a:prstGeom>
          <a:solidFill>
            <a:srgbClr val="5B9BD5"/>
          </a:solidFill>
          <a:ln w="9525">
            <a:solidFill>
              <a:srgbClr val="4171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03080" y="21412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every cell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42960" y="2813050"/>
            <a:ext cx="822960" cy="411480"/>
          </a:xfrm>
          <a:prstGeom prst="leftArrow">
            <a:avLst/>
          </a:prstGeom>
          <a:solidFill>
            <a:srgbClr val="5B9BD5"/>
          </a:solidFill>
          <a:ln w="9525">
            <a:solidFill>
              <a:srgbClr val="41719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03080" y="274447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</a:t>
            </a: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STAYING IN BOUNDS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4444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77012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901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(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is on the board.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84500"/>
          <a:ext cx="7863840" cy="24688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is_in_bounds(0, 0)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Top-left corner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is_in_bounds(4, 7)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Bottom-right corner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is_in_bounds(-1, 2)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the board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is_in_bounds(5, 0)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the board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is_in_bounds(2, 8)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of the board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57277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doesn’t check indices, so we check them ourselves.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TURN: </a:t>
            </a:r>
            <a:r>
              <a:rPr lang="en-US" sz="3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function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504444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477012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913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put this in main, replacing any earlier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3916"/>
            <a:ext cx="7025640" cy="15697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021076"/>
            <a:ext cx="6751320" cy="129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top-left corner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bottom-right corner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above the board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below the board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-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 of the board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 of the board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5913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2883916"/>
            <a:ext cx="2240280" cy="19634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3021076"/>
            <a:ext cx="1965960" cy="168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./minesweeper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503021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prints </a:t>
            </a: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1 and </a:t>
            </a: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0.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SOLUTION: </a:t>
            </a:r>
            <a:r>
              <a:rPr lang="en-US" sz="3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8823960" cy="9982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854964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641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when all four comparisons are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the same thing as an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returns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COUNTING NEIGHBORS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870204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842772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5547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5547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5547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5547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5547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5547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5547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5547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8473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045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7617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21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6761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10912" y="25547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2804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28473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28473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28473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28473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28473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28473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28473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28473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3045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3304540"/>
            <a:ext cx="457200" cy="45720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3304540"/>
            <a:ext cx="457200" cy="45720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3304540"/>
            <a:ext cx="457200" cy="45720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108960" y="33045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33045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023360" y="33045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33045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37617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3761740"/>
            <a:ext cx="457200" cy="45720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2194560" y="3761740"/>
            <a:ext cx="457200" cy="457200"/>
          </a:xfrm>
          <a:prstGeom prst="rect">
            <a:avLst/>
          </a:prstGeom>
          <a:solidFill>
            <a:srgbClr val="9DC3E6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2651760" y="3761740"/>
            <a:ext cx="457200" cy="45720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3108960" y="37617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3566160" y="37617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4023360" y="37617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4480560" y="37617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280160" y="42189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1737360" y="4218940"/>
            <a:ext cx="457200" cy="45720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2194560" y="4218940"/>
            <a:ext cx="457200" cy="45720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2651760" y="4218940"/>
            <a:ext cx="457200" cy="45720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3108960" y="42189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3566160" y="42189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4023360" y="42189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4480560" y="42189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1280160" y="46761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1737360" y="46761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2194560" y="46761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2651760" y="46761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3108960" y="46761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3566160" y="46761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4023360" y="46761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9" name="Text 57"/>
          <p:cNvSpPr txBox="1"/>
          <p:nvPr/>
        </p:nvSpPr>
        <p:spPr>
          <a:xfrm>
            <a:off x="4480560" y="46761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6035040" y="284734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how many of the 8 cells around (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mines.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test board, the cell at (2, 2) has 3 neighboring mines.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OFFSETS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2103120"/>
            <a:ext cx="1005840" cy="100584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-1, -1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2103120"/>
            <a:ext cx="1005840" cy="100584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-1, 0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103120"/>
            <a:ext cx="1005840" cy="100584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-1, 1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3108960"/>
            <a:ext cx="1005840" cy="100584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-1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3108960"/>
            <a:ext cx="1005840" cy="1005840"/>
          </a:xfrm>
          <a:prstGeom prst="rect">
            <a:avLst/>
          </a:prstGeom>
          <a:solidFill>
            <a:srgbClr val="9DC3E6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108960"/>
            <a:ext cx="1005840" cy="100584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4114800"/>
            <a:ext cx="1005840" cy="100584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-1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4114800"/>
            <a:ext cx="1005840" cy="100584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114800"/>
            <a:ext cx="1005840" cy="1005840"/>
          </a:xfrm>
          <a:prstGeom prst="rect">
            <a:avLst/>
          </a:prstGeom>
          <a:solidFill>
            <a:srgbClr val="DDEBF7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1792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10312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1792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10896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1792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1480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column_offset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" y="31089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2103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neighbor is at: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852160" y="2606040"/>
            <a:ext cx="5897880" cy="7569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9320" y="2743200"/>
            <a:ext cx="562356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column_offset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6830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offset goes from -1 to 1.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offsets are 0, that’s the cell itself.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THINGS TO GET RIGHT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Loop each offset from -1 to 1: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2103120"/>
            <a:ext cx="748284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2240280"/>
            <a:ext cx="720852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-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845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Skip the cell itself, where both offsets are 0.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is_in_bounds(neighbor_row, neighbor_column)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you look at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mines[neighbor_row][neighbor_column]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TURN: </a:t>
            </a:r>
            <a:r>
              <a:rPr lang="en-US" sz="3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function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870204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842772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913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put this in main, replacing any earlier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3916"/>
            <a:ext cx="7879080" cy="13538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021076"/>
            <a:ext cx="760476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middle cell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 edge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corner cell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 edge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mine itself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59240" y="25913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59240" y="2883916"/>
            <a:ext cx="2240280" cy="17221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96400" y="3021076"/>
            <a:ext cx="1965960" cy="144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./minesweeper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SOLUTION: </a:t>
            </a:r>
            <a:r>
              <a:rPr lang="en-US" sz="3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9479280" cy="37287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9204960" cy="345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-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-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is_the_cell_itself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column_offset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is_the_cell_itself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0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skips the cell itself and anything off the board. Only then is it safe to look in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THE NUMBERS ARE WRONG</a:t>
            </a:r>
            <a:endParaRPr lang="en-US" sz="4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15600" cy="272796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“a mine itself” test prints 3, not 2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the cell itself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it when both offsets are 0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numbers on edge cells, or a crash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bounds check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is_in_bounds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before reading 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mines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too low almost everywhere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loops use 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 1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 1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the offsets are -1, 0, and 1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don’t match the mines around them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and column swapped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mines[neighbor_row][neighbor_column]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FILLING IN EVERY NUMBER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9265920" cy="4902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89916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5618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every cell holds its number.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for each cell.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get a number too. It just never gets shown.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TURN: </a:t>
            </a:r>
            <a:r>
              <a:rPr lang="en-US" sz="3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function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9265920" cy="4902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89916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59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put this in main, replacing any earlier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58516"/>
            <a:ext cx="6263640" cy="12395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995676"/>
            <a:ext cx="598932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{};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5659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2858516"/>
            <a:ext cx="2240280" cy="9982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2995676"/>
            <a:ext cx="196596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./minesweeper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SOLUTION: </a:t>
            </a:r>
            <a:r>
              <a:rPr lang="en-US" sz="3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9479280" cy="178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9204960" cy="151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515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loops as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work for each cell is one call to the function we already wrote.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PRINTING THE BOARD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8625840" cy="4902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83515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print_debug_board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5618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mine and the number for every other cell, with a space after each.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row. It shows everything, so we can check our work.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4561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test 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38160" y="2748788"/>
            <a:ext cx="2240280" cy="17221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75320" y="2885948"/>
            <a:ext cx="1965960" cy="144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./minesweeper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2 1 1 0 1 1 1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3 * 2 1 1 * 1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* 3 * 1 1 2 2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2 2 2 2 1 1 *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1 0 1 * 1 1 1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TURN: </a:t>
            </a:r>
            <a:r>
              <a:rPr lang="en-US" sz="3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print_debug_board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function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8625840" cy="4902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83515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print_debug_board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59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put this in main, replacing any earlier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58516"/>
            <a:ext cx="6263640" cy="9982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995676"/>
            <a:ext cx="598932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{};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print_debug_board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5659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2858516"/>
            <a:ext cx="2240280" cy="17221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2995676"/>
            <a:ext cx="1965960" cy="144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./minesweeper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2 1 1 0 1 1 1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3 * 2 1 1 * 1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* 3 * 1 1 2 2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2 2 2 2 1 1 *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1 0 1 * 1 1 1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SOLUTION: </a:t>
            </a:r>
            <a:r>
              <a:rPr lang="en-US" sz="3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print_debug_board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22960" y="1554480"/>
            <a:ext cx="8839200" cy="28651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1691640"/>
            <a:ext cx="8564880" cy="2590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print_debug_board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 "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 </a:t>
            </a:r>
            <a:r>
              <a:rPr lang="en-US" sz="14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831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board prints as 8 rows of 5, with strange numbers at the bottom, the loop bounds are swapped: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goes with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goes with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NUMBERS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#include &lt;cstdlib&gt;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1755648"/>
            <a:ext cx="3215640" cy="9982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892808"/>
            <a:ext cx="294132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470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439668"/>
            <a:ext cx="1630680" cy="1239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3576828"/>
            <a:ext cx="135636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./random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1804289383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846930886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1681692777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755648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a whole number from 0 up to a very large maximum.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gives a different number.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NUMBERS IN A RANGE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8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remainder after dividing by 8, so it’s always 0 to 7.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ROWS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always a valid row, and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COLUMNS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always a valid column.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22960" y="2743200"/>
            <a:ext cx="5532120" cy="14808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2880360"/>
            <a:ext cx="52578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AF0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450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03720" y="2743200"/>
            <a:ext cx="1630680" cy="14808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0" y="2880360"/>
            <a:ext cx="135636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./random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3, 6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2, 3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3, 7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1, 4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SEEDS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first program twice: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130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2423160"/>
            <a:ext cx="1630680" cy="1239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560320"/>
            <a:ext cx="135636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./random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1804289383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846930886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1681692777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910840" y="2130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run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10840" y="2423160"/>
            <a:ext cx="1630680" cy="1239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48000" y="2560320"/>
            <a:ext cx="135636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./random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1804289383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846930886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1681692777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074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numbers! They’re </a:t>
            </a: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pseudo-random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calculated from a starting value called a </a:t>
            </a: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seed, same numbers.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DIFFERENT SEED EVERY TIME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#include &lt;ctime&gt;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1755648"/>
            <a:ext cx="3947160" cy="12395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892808"/>
            <a:ext cx="367284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280" y="1807718"/>
            <a:ext cx="822960" cy="411480"/>
          </a:xfrm>
          <a:prstGeom prst="leftArrow">
            <a:avLst/>
          </a:prstGeom>
          <a:solidFill>
            <a:srgbClr val="5B9BD5"/>
          </a:solidFill>
          <a:ln w="9525">
            <a:solidFill>
              <a:srgbClr val="41719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67400" y="173913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time(0)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current time, in seconds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8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680968"/>
            <a:ext cx="1630680" cy="1239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3818128"/>
            <a:ext cx="135636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./random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10840" y="3388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run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10840" y="3680968"/>
            <a:ext cx="1630680" cy="1239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8000" y="3818128"/>
            <a:ext cx="135636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./random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181600" y="38638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once, at the start of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SEEDS FOR TESTING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22960" y="1554480"/>
            <a:ext cx="3947160" cy="12395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1691640"/>
            <a:ext cx="367284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87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3479800"/>
            <a:ext cx="1630680" cy="1239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3616960"/>
            <a:ext cx="135636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./random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910840" y="3187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run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10840" y="3479800"/>
            <a:ext cx="1630680" cy="1239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48000" y="3616960"/>
            <a:ext cx="135636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./random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15544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seed gives the same “random” numbers every run.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when you’re hunting a bug: the same board every time.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902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may differ from these. They depend on the compiler and system.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PLACING MINES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22960" y="1554480"/>
            <a:ext cx="4069080" cy="5156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1691640"/>
            <a:ext cx="379476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NUMBER_OF_MINES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358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random row and column.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there’s already a mine there, try again.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NUMBER_OF_MINES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mines are placed.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257800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demo program that prints every pick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57800" y="1828800"/>
            <a:ext cx="3718560" cy="24333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1965960"/>
            <a:ext cx="344424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./place_mines_demo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3: mine 1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6: mine 2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 1: mine 3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3: mine 4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 1: already a mine, try again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2: mine 5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4: mine 6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 6: mine 7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5: mine 8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13520" y="2947670"/>
            <a:ext cx="822960" cy="411480"/>
          </a:xfrm>
          <a:prstGeom prst="leftArrow">
            <a:avLst/>
          </a:prstGeom>
          <a:solidFill>
            <a:srgbClr val="5B9BD5"/>
          </a:solidFill>
          <a:ln w="9525">
            <a:solidFill>
              <a:srgbClr val="41719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73640" y="287909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cell twice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RANDOM BOARD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run, printed with print_debug_board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2849880" cy="17221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965960"/>
            <a:ext cx="2575560" cy="144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./place_mines_demo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2 * 2 0 0 0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2 * 3 1 1 0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2 1 2 * 2 1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* 2 2 2 4 * 2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* 2 * 3 * 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8288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same eight mines, with every number computed by the functions from this unit.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srand(time(0))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every game gets a new board.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MISTAKES</a:t>
            </a:r>
            <a:endParaRPr lang="en-US" sz="4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1508760"/>
          <a:ext cx="10515600" cy="29413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srand(time(0))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inside a loop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number over and over: 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3 3 3 3 3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srand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once, at the start of 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srand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at all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board every game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srand(time(0))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at the start of 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rand() % ROWS - 1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 to 3: -1 is off the board, and row 4 is never picked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rand() % ROWS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rand() % ROWS + 1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5: 5 is off the board, and row 0 is never picked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rand() % ROWS</a:t>
                      </a:r>
                      <a:endParaRPr lang="en-US" sz="12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WE ARE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9372600" cy="1353820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909828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is_in_bounds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count_adjacent_mines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print_debug_board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adjacent_counts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</a:t>
            </a:r>
            <a:r>
              <a:rPr lang="en-US" sz="1400" dirty="0">
                <a:solidFill>
                  <a:srgbClr val="001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197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store a board and compute every number on it.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hide the board, let a player reveal cells, and place mines at random.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3935</Words>
  <Application>Microsoft Macintosh PowerPoint</Application>
  <PresentationFormat>Widescreen</PresentationFormat>
  <Paragraphs>556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Minesweeper, part 1</dc:title>
  <dc:subject>PptxGenJS Presentation</dc:subject>
  <dc:creator>PptxGenJS</dc:creator>
  <cp:lastModifiedBy>Ben Allen</cp:lastModifiedBy>
  <cp:revision>2</cp:revision>
  <dcterms:created xsi:type="dcterms:W3CDTF">2026-09-24T17:55:06Z</dcterms:created>
  <dcterms:modified xsi:type="dcterms:W3CDTF">2026-09-24T18:09:30Z</dcterms:modified>
</cp:coreProperties>
</file>